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1" r:id="rId2"/>
  </p:sldMasterIdLst>
  <p:notesMasterIdLst>
    <p:notesMasterId r:id="rId35"/>
  </p:notesMasterIdLst>
  <p:handoutMasterIdLst>
    <p:handoutMasterId r:id="rId36"/>
  </p:handoutMasterIdLst>
  <p:sldIdLst>
    <p:sldId id="11091949" r:id="rId3"/>
    <p:sldId id="11091950" r:id="rId4"/>
    <p:sldId id="11092025" r:id="rId5"/>
    <p:sldId id="11092051" r:id="rId6"/>
    <p:sldId id="11092052" r:id="rId7"/>
    <p:sldId id="11092075" r:id="rId8"/>
    <p:sldId id="11092073" r:id="rId9"/>
    <p:sldId id="11092074" r:id="rId10"/>
    <p:sldId id="11092053" r:id="rId11"/>
    <p:sldId id="11092076" r:id="rId12"/>
    <p:sldId id="11092054" r:id="rId13"/>
    <p:sldId id="11092055" r:id="rId14"/>
    <p:sldId id="11092057" r:id="rId15"/>
    <p:sldId id="11092056" r:id="rId16"/>
    <p:sldId id="11092080" r:id="rId17"/>
    <p:sldId id="11092084" r:id="rId18"/>
    <p:sldId id="11092058" r:id="rId19"/>
    <p:sldId id="11092077" r:id="rId20"/>
    <p:sldId id="11092059" r:id="rId21"/>
    <p:sldId id="11092060" r:id="rId22"/>
    <p:sldId id="11092064" r:id="rId23"/>
    <p:sldId id="11092067" r:id="rId24"/>
    <p:sldId id="11092066" r:id="rId25"/>
    <p:sldId id="11092069" r:id="rId26"/>
    <p:sldId id="11092068" r:id="rId27"/>
    <p:sldId id="11092070" r:id="rId28"/>
    <p:sldId id="11092071" r:id="rId29"/>
    <p:sldId id="11092061" r:id="rId30"/>
    <p:sldId id="11092062" r:id="rId31"/>
    <p:sldId id="11092063" r:id="rId32"/>
    <p:sldId id="11092072" r:id="rId33"/>
    <p:sldId id="1854" r:id="rId34"/>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ai"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0001"/>
    <a:srgbClr val="FCE202"/>
    <a:srgbClr val="F47E0A"/>
    <a:srgbClr val="EBEBEB"/>
    <a:srgbClr val="ECECED"/>
    <a:srgbClr val="DECBCB"/>
    <a:srgbClr val="EFE7E7"/>
    <a:srgbClr val="F0EFF0"/>
    <a:srgbClr val="B9C8DF"/>
    <a:srgbClr val="809C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8" autoAdjust="0"/>
    <p:restoredTop sz="81644" autoAdjust="0"/>
  </p:normalViewPr>
  <p:slideViewPr>
    <p:cSldViewPr snapToGrid="0">
      <p:cViewPr varScale="1">
        <p:scale>
          <a:sx n="102" d="100"/>
          <a:sy n="102" d="100"/>
        </p:scale>
        <p:origin x="1560" y="192"/>
      </p:cViewPr>
      <p:guideLst/>
    </p:cSldViewPr>
  </p:slideViewPr>
  <p:notesTextViewPr>
    <p:cViewPr>
      <p:scale>
        <a:sx n="1" d="1"/>
        <a:sy n="1" d="1"/>
      </p:scale>
      <p:origin x="0" y="0"/>
    </p:cViewPr>
  </p:notesTextViewPr>
  <p:notesViewPr>
    <p:cSldViewPr snapToGrid="0">
      <p:cViewPr varScale="1">
        <p:scale>
          <a:sx n="123" d="100"/>
          <a:sy n="123" d="100"/>
        </p:scale>
        <p:origin x="497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AB998C-7043-4FF0-9476-6AA79C15A0FE}" type="datetimeFigureOut">
              <a:rPr lang="zh-CN" altLang="en-US" smtClean="0"/>
              <a:t>2026/10/22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817522-D50B-4BC9-81A6-2287F6642A1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C5A2EE-0108-4A94-A555-EC27AD707C9B}" type="datetimeFigureOut">
              <a:rPr lang="zh-CN" altLang="en-US" smtClean="0"/>
              <a:t>2026/10/22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E322E3-BDCE-4072-B13C-5E71BDE9DA1D}"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dirty="0"/>
              <a:t>首先介绍调试的基本工具和概念</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调试的核心，是在程序出现问题的时候，带着猜测去观察：在关键位置暂停，检查变量，再逐步执行，找出实际行为和预期的差异，不断修正猜测直到解决问题。也就是说，遇到问题时，先想清楚“预期这里应该是什么”，再用调试验证。</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围绕</a:t>
            </a:r>
            <a:r>
              <a:rPr lang="en-US" altLang="zh-CN" dirty="0">
                <a:sym typeface="+mn-ea"/>
              </a:rPr>
              <a:t> C++ </a:t>
            </a:r>
            <a:r>
              <a:rPr lang="zh-CN" altLang="en-US" dirty="0">
                <a:sym typeface="+mn-ea"/>
              </a:rPr>
              <a:t>代码的运行和编译，有三种工具：</a:t>
            </a:r>
            <a:r>
              <a:rPr lang="en-US" altLang="zh-CN" dirty="0">
                <a:sym typeface="+mn-ea"/>
              </a:rPr>
              <a:t>g++ </a:t>
            </a:r>
            <a:r>
              <a:rPr lang="zh-CN" altLang="en-US" dirty="0">
                <a:sym typeface="+mn-ea"/>
              </a:rPr>
              <a:t>负责编译程序，</a:t>
            </a:r>
            <a:r>
              <a:rPr lang="en-US" altLang="zh-CN" dirty="0">
                <a:sym typeface="+mn-ea"/>
              </a:rPr>
              <a:t>GDB </a:t>
            </a:r>
            <a:r>
              <a:rPr lang="zh-CN" altLang="en-US" dirty="0">
                <a:sym typeface="+mn-ea"/>
              </a:rPr>
              <a:t>负责运行和调试程序，</a:t>
            </a:r>
            <a:r>
              <a:rPr lang="en-US" altLang="zh-CN" dirty="0">
                <a:sym typeface="+mn-ea"/>
              </a:rPr>
              <a:t>VSCode </a:t>
            </a:r>
            <a:r>
              <a:rPr lang="zh-CN" altLang="en-US" dirty="0">
                <a:sym typeface="+mn-ea"/>
              </a:rPr>
              <a:t>提供编辑器和图形化操作界面，通过扩展等可以方便地把编译器、调试器连接起来。</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为了让 </a:t>
            </a:r>
            <a:r>
              <a:rPr lang="en-US" altLang="zh-CN" dirty="0"/>
              <a:t>VSCode </a:t>
            </a:r>
            <a:r>
              <a:rPr lang="zh-CN" altLang="en-US" dirty="0"/>
              <a:t>能够找到编译器和调试器，顺利调试，需要做一些环境配置</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这个部分主要适用于想在自己电脑上安装并使用 </a:t>
            </a:r>
            <a:r>
              <a:rPr lang="en-US" altLang="zh-CN" dirty="0">
                <a:sym typeface="+mn-ea"/>
              </a:rPr>
              <a:t>VSCode </a:t>
            </a:r>
            <a:r>
              <a:rPr lang="zh-CN" altLang="en-US" dirty="0">
                <a:sym typeface="+mn-ea"/>
              </a:rPr>
              <a:t>的同学。如果只用机房里的电脑，或者用</a:t>
            </a:r>
            <a:r>
              <a:rPr lang="en-US" altLang="zh-CN" dirty="0">
                <a:sym typeface="+mn-ea"/>
              </a:rPr>
              <a:t> visual studio </a:t>
            </a:r>
            <a:r>
              <a:rPr lang="zh-CN" altLang="en-US" dirty="0">
                <a:sym typeface="+mn-ea"/>
              </a:rPr>
              <a:t>的同学，环境都是配置好的，这部分可以忽略。</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ym typeface="+mn-ea"/>
              </a:rPr>
              <a:t>VSCode </a:t>
            </a:r>
            <a:r>
              <a:rPr lang="zh-CN" altLang="en-US" dirty="0">
                <a:sym typeface="+mn-ea"/>
              </a:rPr>
              <a:t>仅是编辑器，通过拓展帮助开发。对于</a:t>
            </a:r>
            <a:r>
              <a:rPr lang="en-US" altLang="zh-CN" dirty="0">
                <a:sym typeface="+mn-ea"/>
              </a:rPr>
              <a:t> C++ </a:t>
            </a:r>
            <a:r>
              <a:rPr lang="zh-CN" altLang="en-US" dirty="0">
                <a:sym typeface="+mn-ea"/>
              </a:rPr>
              <a:t>的调试，需要安装</a:t>
            </a:r>
            <a:r>
              <a:rPr lang="en-US" altLang="zh-CN" dirty="0">
                <a:sym typeface="+mn-ea"/>
              </a:rPr>
              <a:t> Microsoft </a:t>
            </a:r>
            <a:r>
              <a:rPr lang="zh-CN" altLang="en-US" dirty="0">
                <a:sym typeface="+mn-ea"/>
              </a:rPr>
              <a:t>的 </a:t>
            </a:r>
            <a:r>
              <a:rPr lang="en-US" altLang="zh-CN" dirty="0">
                <a:sym typeface="+mn-ea"/>
              </a:rPr>
              <a:t>C/C++ Extension Pack </a:t>
            </a:r>
            <a:r>
              <a:rPr lang="zh-CN" altLang="en-US" dirty="0">
                <a:sym typeface="+mn-ea"/>
              </a:rPr>
              <a:t>插件，</a:t>
            </a:r>
            <a:r>
              <a:rPr lang="en-US" altLang="zh-CN" dirty="0">
                <a:sym typeface="+mn-ea"/>
              </a:rPr>
              <a:t>Mac </a:t>
            </a:r>
            <a:r>
              <a:rPr lang="zh-CN" altLang="en-US" dirty="0">
                <a:sym typeface="+mn-ea"/>
              </a:rPr>
              <a:t>还需要额外安装</a:t>
            </a:r>
            <a:r>
              <a:rPr lang="en-US" altLang="zh-CN" dirty="0">
                <a:sym typeface="+mn-ea"/>
              </a:rPr>
              <a:t> CodeLLDB</a:t>
            </a:r>
            <a:r>
              <a:rPr lang="zh-CN" altLang="en-US" dirty="0">
                <a:sym typeface="+mn-ea"/>
              </a:rPr>
              <a:t>，否则调试时无法输入。</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dirty="0">
                <a:sym typeface="+mn-ea"/>
              </a:rPr>
              <a:t>在</a:t>
            </a:r>
            <a:r>
              <a:rPr lang="en-US" altLang="zh-CN" dirty="0">
                <a:sym typeface="+mn-ea"/>
              </a:rPr>
              <a:t> VSCode </a:t>
            </a:r>
            <a:r>
              <a:rPr lang="zh-CN" altLang="en-US" dirty="0">
                <a:sym typeface="+mn-ea"/>
              </a:rPr>
              <a:t>中编译调试</a:t>
            </a:r>
            <a:r>
              <a:rPr lang="en-US" altLang="zh-CN" dirty="0">
                <a:sym typeface="+mn-ea"/>
              </a:rPr>
              <a:t> C++ </a:t>
            </a:r>
            <a:r>
              <a:rPr lang="zh-CN" altLang="en-US" dirty="0">
                <a:sym typeface="+mn-ea"/>
              </a:rPr>
              <a:t>代码，需要</a:t>
            </a:r>
            <a:r>
              <a:rPr lang="en-US" altLang="zh-CN" dirty="0">
                <a:sym typeface="+mn-ea"/>
              </a:rPr>
              <a:t> </a:t>
            </a:r>
            <a:r>
              <a:rPr lang="en-US" altLang="zh-CN" dirty="0">
                <a:latin typeface="Consolas" panose="020B0609020204030204" charset="0"/>
                <a:cs typeface="Consolas" panose="020B0609020204030204" charset="0"/>
                <a:sym typeface="+mn-ea"/>
              </a:rPr>
              <a:t>tasks.json</a:t>
            </a:r>
            <a:r>
              <a:rPr lang="en-US" altLang="zh-CN" dirty="0">
                <a:sym typeface="+mn-ea"/>
              </a:rPr>
              <a:t> </a:t>
            </a:r>
            <a:r>
              <a:rPr lang="zh-CN" altLang="en-US" dirty="0">
                <a:sym typeface="+mn-ea"/>
              </a:rPr>
              <a:t>和 </a:t>
            </a:r>
            <a:r>
              <a:rPr lang="en-US" altLang="zh-CN" dirty="0">
                <a:latin typeface="Consolas" panose="020B0609020204030204" charset="0"/>
                <a:cs typeface="Consolas" panose="020B0609020204030204" charset="0"/>
                <a:sym typeface="+mn-ea"/>
              </a:rPr>
              <a:t>launch.json </a:t>
            </a:r>
            <a:r>
              <a:rPr lang="zh-CN" altLang="en-US" dirty="0">
                <a:latin typeface="Consolas" panose="020B0609020204030204" charset="0"/>
                <a:cs typeface="Consolas" panose="020B0609020204030204" charset="0"/>
                <a:sym typeface="+mn-ea"/>
              </a:rPr>
              <a:t>告诉它相关的配置信息。</a:t>
            </a:r>
          </a:p>
          <a:p>
            <a:r>
              <a:rPr lang="zh-CN" altLang="en-US" dirty="0">
                <a:latin typeface="Consolas" panose="020B0609020204030204" charset="0"/>
                <a:cs typeface="Consolas" panose="020B0609020204030204" charset="0"/>
                <a:sym typeface="+mn-ea"/>
              </a:rPr>
              <a:t>这里的</a:t>
            </a:r>
            <a:r>
              <a:rPr lang="en-US" altLang="zh-CN" dirty="0">
                <a:latin typeface="Consolas" panose="020B0609020204030204" charset="0"/>
                <a:cs typeface="Consolas" panose="020B0609020204030204" charset="0"/>
                <a:sym typeface="+mn-ea"/>
              </a:rPr>
              <a:t> json </a:t>
            </a:r>
            <a:r>
              <a:rPr lang="zh-CN" altLang="en-US" dirty="0">
                <a:latin typeface="Consolas" panose="020B0609020204030204" charset="0"/>
                <a:cs typeface="Consolas" panose="020B0609020204030204" charset="0"/>
                <a:sym typeface="+mn-ea"/>
              </a:rPr>
              <a:t>是一种文件格式，用纯文本保存结构化数据，告诉软件，比如</a:t>
            </a:r>
            <a:r>
              <a:rPr lang="en-US" altLang="zh-CN" dirty="0">
                <a:latin typeface="Consolas" panose="020B0609020204030204" charset="0"/>
                <a:cs typeface="Consolas" panose="020B0609020204030204" charset="0"/>
                <a:sym typeface="+mn-ea"/>
              </a:rPr>
              <a:t> VSCode</a:t>
            </a:r>
            <a:r>
              <a:rPr lang="zh-CN" altLang="en-US" dirty="0">
                <a:latin typeface="Consolas" panose="020B0609020204030204" charset="0"/>
                <a:cs typeface="Consolas" panose="020B0609020204030204" charset="0"/>
                <a:sym typeface="+mn-ea"/>
              </a:rPr>
              <a:t>，按照什么规则去工作，在调试任务上，就包括编译器位置，编译参数等等。</a:t>
            </a:r>
          </a:p>
          <a:p>
            <a:r>
              <a:rPr lang="en-US" altLang="zh-CN" dirty="0">
                <a:latin typeface="Consolas" panose="020B0609020204030204" charset="0"/>
                <a:cs typeface="Consolas" panose="020B0609020204030204" charset="0"/>
                <a:sym typeface="+mn-ea"/>
              </a:rPr>
              <a:t>json </a:t>
            </a:r>
            <a:r>
              <a:rPr lang="zh-CN" altLang="en-US" dirty="0">
                <a:latin typeface="Consolas" panose="020B0609020204030204" charset="0"/>
                <a:cs typeface="Consolas" panose="020B0609020204030204" charset="0"/>
                <a:sym typeface="+mn-ea"/>
              </a:rPr>
              <a:t>文件中会有若干字段，每个字段包括字段名和值</a:t>
            </a:r>
          </a:p>
          <a:p>
            <a:endParaRPr lang="zh-CN" altLang="en-US" dirty="0">
              <a:latin typeface="Consolas" panose="020B0609020204030204" charset="0"/>
              <a:cs typeface="Consolas" panose="020B0609020204030204" charset="0"/>
              <a:sym typeface="+mn-ea"/>
            </a:endParaRPr>
          </a:p>
        </p:txBody>
      </p:sp>
      <p:sp>
        <p:nvSpPr>
          <p:cNvPr id="4" name="灯片编号占位符 3"/>
          <p:cNvSpPr>
            <a:spLocks noGrp="1"/>
          </p:cNvSpPr>
          <p:nvPr>
            <p:ph type="sldNum" sz="quarter" idx="5"/>
          </p:nvPr>
        </p:nvSpPr>
        <p:spPr/>
        <p:txBody>
          <a:bodyPr/>
          <a:lstStyle/>
          <a:p>
            <a:fld id="{EEE322E3-BDCE-4072-B13C-5E71BDE9DA1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ym typeface="+mn-ea"/>
              </a:rPr>
              <a:t>tasks.json </a:t>
            </a:r>
            <a:r>
              <a:rPr lang="zh-CN" altLang="en-US" dirty="0">
                <a:sym typeface="+mn-ea"/>
              </a:rPr>
              <a:t>配置如何构建（编译）程序，</a:t>
            </a:r>
            <a:r>
              <a:rPr lang="en-US" altLang="zh-CN" dirty="0">
                <a:sym typeface="+mn-ea"/>
              </a:rPr>
              <a:t>launch.json </a:t>
            </a:r>
            <a:r>
              <a:rPr lang="zh-CN" altLang="en-US" dirty="0">
                <a:sym typeface="+mn-ea"/>
              </a:rPr>
              <a:t>配置如何运行和调试，</a:t>
            </a:r>
            <a:r>
              <a:rPr lang="en-US" altLang="zh-CN" dirty="0">
                <a:sym typeface="+mn-ea"/>
              </a:rPr>
              <a:t>vscode </a:t>
            </a:r>
            <a:r>
              <a:rPr lang="zh-CN" altLang="en-US" dirty="0">
                <a:sym typeface="+mn-ea"/>
              </a:rPr>
              <a:t>会生成默认配置，也可根据需求手动配置</a:t>
            </a:r>
          </a:p>
          <a:p>
            <a:r>
              <a:rPr lang="zh-CN" altLang="en-US" dirty="0">
                <a:sym typeface="+mn-ea"/>
              </a:rPr>
              <a:t>通过点击左侧的</a:t>
            </a:r>
            <a:r>
              <a:rPr lang="en-US" altLang="zh-CN" dirty="0">
                <a:sym typeface="+mn-ea"/>
              </a:rPr>
              <a:t>“</a:t>
            </a:r>
            <a:r>
              <a:rPr lang="zh-CN" altLang="en-US" dirty="0">
                <a:sym typeface="+mn-ea"/>
              </a:rPr>
              <a:t>运行和调试</a:t>
            </a:r>
            <a:r>
              <a:rPr lang="en-US" altLang="zh-CN" dirty="0">
                <a:sym typeface="+mn-ea"/>
              </a:rPr>
              <a:t>”</a:t>
            </a:r>
            <a:r>
              <a:rPr lang="zh-CN" altLang="en-US" dirty="0">
                <a:sym typeface="+mn-ea"/>
              </a:rPr>
              <a:t>，可以自动生成或手动配置，注意选择</a:t>
            </a:r>
            <a:r>
              <a:rPr lang="en-US" altLang="zh-CN" dirty="0">
                <a:sym typeface="+mn-ea"/>
              </a:rPr>
              <a:t> </a:t>
            </a:r>
            <a:r>
              <a:rPr lang="en-US" altLang="zh-CN" dirty="0">
                <a:latin typeface="Consolas" panose="020B0609020204030204" charset="0"/>
                <a:cs typeface="Consolas" panose="020B0609020204030204" charset="0"/>
                <a:sym typeface="+mn-ea"/>
              </a:rPr>
              <a:t>g++/clang++ </a:t>
            </a:r>
            <a:r>
              <a:rPr lang="zh-CN" altLang="en-US" dirty="0">
                <a:latin typeface="Consolas" panose="020B0609020204030204" charset="0"/>
                <a:cs typeface="Consolas" panose="020B0609020204030204" charset="0"/>
                <a:sym typeface="+mn-ea"/>
              </a:rPr>
              <a:t>工具链，不要误选</a:t>
            </a:r>
            <a:r>
              <a:rPr lang="en-US" altLang="zh-CN" dirty="0">
                <a:latin typeface="Consolas" panose="020B0609020204030204" charset="0"/>
                <a:cs typeface="Consolas" panose="020B0609020204030204" charset="0"/>
                <a:sym typeface="+mn-ea"/>
              </a:rPr>
              <a:t> gcc/clang</a:t>
            </a:r>
            <a:endParaRPr lang="zh-CN" altLang="en-US" dirty="0">
              <a:sym typeface="+mn-ea"/>
            </a:endParaRPr>
          </a:p>
          <a:p>
            <a:r>
              <a:rPr lang="zh-CN" altLang="en-US" dirty="0">
                <a:sym typeface="+mn-ea"/>
              </a:rPr>
              <a:t>注意：需要信任窗口才能运行和调试。</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sym typeface="+mn-ea"/>
              </a:rPr>
              <a:t>VS</a:t>
            </a:r>
            <a:r>
              <a:rPr lang="en-US" altLang="zh-CN" dirty="0" err="1">
                <a:latin typeface="Consolas" panose="020B0609020204030204" charset="0"/>
                <a:cs typeface="Consolas" panose="020B0609020204030204" charset="0"/>
                <a:sym typeface="+mn-ea"/>
              </a:rPr>
              <a:t>Code</a:t>
            </a:r>
            <a:r>
              <a:rPr lang="en-US" altLang="zh-CN" dirty="0">
                <a:latin typeface="Consolas" panose="020B0609020204030204" charset="0"/>
                <a:cs typeface="Consolas" panose="020B0609020204030204" charset="0"/>
                <a:sym typeface="+mn-ea"/>
              </a:rPr>
              <a:t> </a:t>
            </a:r>
            <a:r>
              <a:rPr lang="zh-CN" altLang="en-US" dirty="0">
                <a:latin typeface="Consolas" panose="020B0609020204030204" charset="0"/>
                <a:cs typeface="Consolas" panose="020B0609020204030204" charset="0"/>
                <a:sym typeface="+mn-ea"/>
              </a:rPr>
              <a:t>窗口首次打开某个文件夹时一般默认处于受限模式，此时大家可能看不到</a:t>
            </a:r>
            <a:r>
              <a:rPr lang="en-US" altLang="zh-CN" dirty="0">
                <a:latin typeface="Consolas" panose="020B0609020204030204" charset="0"/>
                <a:cs typeface="Consolas" panose="020B0609020204030204" charset="0"/>
                <a:sym typeface="+mn-ea"/>
              </a:rPr>
              <a:t>“</a:t>
            </a:r>
            <a:r>
              <a:rPr lang="zh-CN" altLang="en-US" dirty="0">
                <a:latin typeface="Consolas" panose="020B0609020204030204" charset="0"/>
                <a:cs typeface="Consolas" panose="020B0609020204030204" charset="0"/>
                <a:sym typeface="+mn-ea"/>
              </a:rPr>
              <a:t>运行和调试</a:t>
            </a:r>
            <a:r>
              <a:rPr lang="en-US" altLang="zh-CN" dirty="0">
                <a:latin typeface="Consolas" panose="020B0609020204030204" charset="0"/>
                <a:cs typeface="Consolas" panose="020B0609020204030204" charset="0"/>
                <a:sym typeface="+mn-ea"/>
              </a:rPr>
              <a:t>”</a:t>
            </a:r>
            <a:r>
              <a:rPr lang="zh-CN" altLang="en-US" dirty="0">
                <a:latin typeface="Consolas" panose="020B0609020204030204" charset="0"/>
                <a:cs typeface="Consolas" panose="020B0609020204030204" charset="0"/>
                <a:sym typeface="+mn-ea"/>
              </a:rPr>
              <a:t>或者无法点击，需要手动信任后才能继续。</a:t>
            </a:r>
            <a:endParaRPr lang="en-US" altLang="zh-CN" dirty="0">
              <a:sym typeface="+mn-ea"/>
            </a:endParaRPr>
          </a:p>
        </p:txBody>
      </p:sp>
      <p:sp>
        <p:nvSpPr>
          <p:cNvPr id="4" name="灯片编号占位符 3"/>
          <p:cNvSpPr>
            <a:spLocks noGrp="1"/>
          </p:cNvSpPr>
          <p:nvPr>
            <p:ph type="sldNum" sz="quarter" idx="5"/>
          </p:nvPr>
        </p:nvSpPr>
        <p:spPr/>
        <p:txBody>
          <a:bodyPr/>
          <a:lstStyle/>
          <a:p>
            <a:fld id="{EEE322E3-BDCE-4072-B13C-5E71BDE9DA1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具体配置项和含义限于时间，不展开介绍，一般单文件的运行与调试使用默认配置即可。</a:t>
            </a:r>
          </a:p>
          <a:p>
            <a:r>
              <a:rPr lang="zh-CN" altLang="en-US" dirty="0">
                <a:sym typeface="+mn-ea"/>
              </a:rPr>
              <a:t>默认生成的配置文件需要修改的几项已圈出。注意</a:t>
            </a:r>
            <a:r>
              <a:rPr lang="en-US" altLang="zh-CN" dirty="0">
                <a:sym typeface="+mn-ea"/>
              </a:rPr>
              <a:t> windows </a:t>
            </a:r>
            <a:r>
              <a:rPr lang="zh-CN" altLang="en-US" dirty="0">
                <a:sym typeface="+mn-ea"/>
              </a:rPr>
              <a:t>和</a:t>
            </a:r>
            <a:r>
              <a:rPr lang="en-US" altLang="zh-CN" dirty="0">
                <a:sym typeface="+mn-ea"/>
              </a:rPr>
              <a:t> mac </a:t>
            </a:r>
            <a:r>
              <a:rPr lang="zh-CN" altLang="en-US" dirty="0">
                <a:sym typeface="+mn-ea"/>
              </a:rPr>
              <a:t>的编译器不同。</a:t>
            </a:r>
          </a:p>
          <a:p>
            <a:r>
              <a:rPr lang="zh-CN" altLang="en-US" dirty="0">
                <a:sym typeface="+mn-ea"/>
              </a:rPr>
              <a:t>请参考</a:t>
            </a:r>
            <a:r>
              <a:rPr lang="en-US" altLang="zh-CN" dirty="0">
                <a:sym typeface="+mn-ea"/>
              </a:rPr>
              <a:t> VSCode </a:t>
            </a:r>
            <a:r>
              <a:rPr lang="zh-CN" altLang="en-US" dirty="0">
                <a:sym typeface="+mn-ea"/>
              </a:rPr>
              <a:t>官方文档。</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dirty="0"/>
              <a:t>介绍基本的调试界面和步骤</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为了便于演示，后面基于这个简单</a:t>
            </a:r>
            <a:r>
              <a:rPr lang="en-US" altLang="zh-CN" dirty="0">
                <a:sym typeface="+mn-ea"/>
              </a:rPr>
              <a:t> demo </a:t>
            </a:r>
            <a:r>
              <a:rPr lang="zh-CN" altLang="en-US" dirty="0">
                <a:sym typeface="+mn-ea"/>
              </a:rPr>
              <a:t>代码进行断点调试。它把 1 到 10 分别乘以 2，再迭代累加，第五轮输出 </a:t>
            </a:r>
            <a:r>
              <a:rPr lang="en-US" altLang="zh-CN" dirty="0">
                <a:sym typeface="+mn-ea"/>
              </a:rPr>
              <a:t>Halfway，</a:t>
            </a:r>
            <a:r>
              <a:rPr lang="zh-CN" altLang="en-US" dirty="0">
                <a:sym typeface="+mn-ea"/>
              </a:rPr>
              <a:t>最后输出总和 110。</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启动调试后，就可以查看变量、单步执行等，下面具体介绍</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每次执行到这一行都会暂停。左侧面板可以统一管理断点，包括激活、禁用，删除等。</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indent="0" algn="l" fontAlgn="auto">
              <a:lnSpc>
                <a:spcPct val="150000"/>
              </a:lnSpc>
              <a:buFont typeface="Arial" panose="020B0604020202020204" pitchFamily="34" charset="0"/>
              <a:buNone/>
            </a:pPr>
            <a:r>
              <a:rPr lang="zh-CN" dirty="0">
                <a:sym typeface="+mn-ea"/>
              </a:rPr>
              <a:t>多次循环时如果想要查看循环结束时的结果，可以在循环体后打断点，然后直接运行，程序就会跳到循环结束后的位置，无需多次点击</a:t>
            </a:r>
            <a:r>
              <a:rPr lang="en-US" altLang="zh-CN" dirty="0">
                <a:sym typeface="+mn-ea"/>
              </a:rPr>
              <a:t>“</a:t>
            </a:r>
            <a:r>
              <a:rPr lang="zh-CN" altLang="en-US" dirty="0">
                <a:sym typeface="+mn-ea"/>
              </a:rPr>
              <a:t>单步调试</a:t>
            </a:r>
            <a:r>
              <a:rPr lang="en-US" altLang="zh-CN" dirty="0">
                <a:sym typeface="+mn-ea"/>
              </a:rPr>
              <a:t>”</a:t>
            </a:r>
            <a:r>
              <a:rPr lang="zh-CN" altLang="en-US" dirty="0">
                <a:sym typeface="+mn-ea"/>
              </a:rPr>
              <a:t>。</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调试工具栏中是常用的六种操作，需要注意区分的是跳过和单步进入，区别是遇到函数调用时会不会进入函数内部。</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有时程序似乎卡住了，单步调试按钮变灰，也看不到变量，实际上往往是程序在等待输入，此时我们可以检查一下，断点之前是否有 </a:t>
            </a:r>
            <a:r>
              <a:rPr lang="en-US" altLang="zh-CN" dirty="0">
                <a:sym typeface="+mn-ea"/>
              </a:rPr>
              <a:t>cin </a:t>
            </a:r>
            <a:r>
              <a:rPr lang="zh-CN" altLang="en-US" dirty="0">
                <a:sym typeface="+mn-ea"/>
              </a:rPr>
              <a:t>等语句，若有，则在</a:t>
            </a:r>
            <a:r>
              <a:rPr lang="en-US" altLang="zh-CN" dirty="0">
                <a:sym typeface="+mn-ea"/>
              </a:rPr>
              <a:t> VSCode </a:t>
            </a:r>
            <a:r>
              <a:rPr lang="zh-CN" altLang="en-US" dirty="0">
                <a:sym typeface="+mn-ea"/>
              </a:rPr>
              <a:t>终端提供输入并回车（</a:t>
            </a:r>
            <a:r>
              <a:rPr lang="en-US" altLang="zh-CN" dirty="0">
                <a:sym typeface="+mn-ea"/>
              </a:rPr>
              <a:t>Mac </a:t>
            </a:r>
            <a:r>
              <a:rPr lang="zh-CN" altLang="en-US" dirty="0">
                <a:sym typeface="+mn-ea"/>
              </a:rPr>
              <a:t>需要</a:t>
            </a:r>
            <a:r>
              <a:rPr lang="en-US" altLang="zh-CN" dirty="0">
                <a:sym typeface="+mn-ea"/>
              </a:rPr>
              <a:t> CodeLLDB </a:t>
            </a:r>
            <a:r>
              <a:rPr lang="zh-CN" altLang="en-US" dirty="0">
                <a:sym typeface="+mn-ea"/>
              </a:rPr>
              <a:t>才能正常输入），使得所有的 </a:t>
            </a:r>
            <a:r>
              <a:rPr lang="en-US" altLang="zh-CN" dirty="0">
                <a:sym typeface="+mn-ea"/>
              </a:rPr>
              <a:t>cin </a:t>
            </a:r>
            <a:r>
              <a:rPr lang="zh-CN" altLang="en-US" dirty="0">
                <a:sym typeface="+mn-ea"/>
              </a:rPr>
              <a:t>语句执行完毕，程序才会运行到断点位置，继续正常调试。</a:t>
            </a:r>
            <a:endParaRPr lang="zh-CN" altLang="en-US" dirty="0">
              <a:solidFill>
                <a:schemeClr val="tx1"/>
              </a:solidFill>
              <a:sym typeface="+mn-ea"/>
            </a:endParaRPr>
          </a:p>
          <a:p>
            <a:endParaRPr lang="zh-CN" altLang="en-US" dirty="0">
              <a:sym typeface="+mn-ea"/>
            </a:endParaRPr>
          </a:p>
        </p:txBody>
      </p:sp>
      <p:sp>
        <p:nvSpPr>
          <p:cNvPr id="4" name="灯片编号占位符 3"/>
          <p:cNvSpPr>
            <a:spLocks noGrp="1"/>
          </p:cNvSpPr>
          <p:nvPr>
            <p:ph type="sldNum" sz="quarter" idx="5"/>
          </p:nvPr>
        </p:nvSpPr>
        <p:spPr/>
        <p:txBody>
          <a:bodyPr/>
          <a:lstStyle/>
          <a:p>
            <a:fld id="{EEE322E3-BDCE-4072-B13C-5E71BDE9DA1D}"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在界面左侧可以看到当前函数内局部变量的值，这里断点在</a:t>
            </a:r>
            <a:r>
              <a:rPr lang="en-US" altLang="zh-CN" dirty="0">
                <a:sym typeface="+mn-ea"/>
              </a:rPr>
              <a:t> main </a:t>
            </a:r>
            <a:r>
              <a:rPr lang="zh-CN" altLang="en-US" dirty="0">
                <a:sym typeface="+mn-ea"/>
              </a:rPr>
              <a:t>函数中，可以观察到</a:t>
            </a:r>
            <a:r>
              <a:rPr lang="en-US" altLang="zh-CN" dirty="0">
                <a:sym typeface="+mn-ea"/>
              </a:rPr>
              <a:t> </a:t>
            </a:r>
            <a:r>
              <a:rPr lang="en-US" altLang="zh-CN" dirty="0">
                <a:latin typeface="Arial" panose="020B0604020202020204" pitchFamily="34" charset="0"/>
                <a:ea typeface="微软雅黑" panose="020B0503020204020204" pitchFamily="34" charset="-122"/>
                <a:cs typeface="+mn-ea"/>
                <a:sym typeface="Arial" panose="020B0604020202020204" pitchFamily="34" charset="0"/>
              </a:rPr>
              <a:t>i、value、total </a:t>
            </a:r>
            <a:r>
              <a:rPr lang="zh-CN" altLang="en-US" dirty="0">
                <a:latin typeface="Arial" panose="020B0604020202020204" pitchFamily="34" charset="0"/>
                <a:ea typeface="微软雅黑" panose="020B0503020204020204" pitchFamily="34" charset="-122"/>
                <a:cs typeface="+mn-ea"/>
                <a:sym typeface="Arial" panose="020B0604020202020204" pitchFamily="34" charset="0"/>
              </a:rPr>
              <a:t>值的变化</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运行到</a:t>
            </a:r>
            <a:r>
              <a:rPr lang="en-US" altLang="zh-CN" dirty="0">
                <a:sym typeface="+mn-ea"/>
              </a:rPr>
              <a:t> multiply </a:t>
            </a:r>
            <a:r>
              <a:rPr lang="zh-CN" altLang="en-US" dirty="0">
                <a:sym typeface="+mn-ea"/>
              </a:rPr>
              <a:t>函数中的断点时，则只能看到</a:t>
            </a:r>
            <a:r>
              <a:rPr lang="en-US" altLang="zh-CN" dirty="0">
                <a:sym typeface="+mn-ea"/>
              </a:rPr>
              <a:t> a、b、product </a:t>
            </a:r>
            <a:r>
              <a:rPr lang="zh-CN" altLang="en-US" dirty="0">
                <a:sym typeface="+mn-ea"/>
              </a:rPr>
              <a:t>三个变量的值，注意未初始化的变量的值无意义。</a:t>
            </a:r>
          </a:p>
          <a:p>
            <a:r>
              <a:rPr lang="zh-CN" altLang="en-US" dirty="0">
                <a:sym typeface="+mn-ea"/>
              </a:rPr>
              <a:t>左边栏里除了最基本的变量，我们还可以看到</a:t>
            </a:r>
            <a:r>
              <a:rPr lang="en-US" altLang="zh-CN" dirty="0">
                <a:sym typeface="+mn-ea"/>
              </a:rPr>
              <a:t>“</a:t>
            </a:r>
            <a:r>
              <a:rPr lang="zh-CN" altLang="en-US" dirty="0">
                <a:sym typeface="+mn-ea"/>
              </a:rPr>
              <a:t>监视</a:t>
            </a:r>
            <a:r>
              <a:rPr lang="en-US" altLang="zh-CN" dirty="0">
                <a:sym typeface="+mn-ea"/>
              </a:rPr>
              <a:t>”</a:t>
            </a:r>
            <a:r>
              <a:rPr lang="zh-CN" altLang="en-US" dirty="0">
                <a:sym typeface="+mn-ea"/>
              </a:rPr>
              <a:t>和</a:t>
            </a:r>
            <a:r>
              <a:rPr lang="en-US" altLang="zh-CN" dirty="0">
                <a:sym typeface="+mn-ea"/>
              </a:rPr>
              <a:t>“</a:t>
            </a:r>
            <a:r>
              <a:rPr lang="zh-CN" altLang="en-US" dirty="0">
                <a:sym typeface="+mn-ea"/>
              </a:rPr>
              <a:t>调用栈</a:t>
            </a:r>
            <a:r>
              <a:rPr lang="en-US" altLang="zh-CN" dirty="0">
                <a:sym typeface="+mn-ea"/>
              </a:rPr>
              <a:t>”</a:t>
            </a:r>
            <a:r>
              <a:rPr lang="zh-CN" altLang="en-US" dirty="0">
                <a:sym typeface="+mn-ea"/>
              </a:rPr>
              <a:t>，这些是更高级的功能，我们暂时先不介绍，后面做具体说明。</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VSCode </a:t>
            </a:r>
            <a:r>
              <a:rPr lang="zh-CN" altLang="en-US" dirty="0"/>
              <a:t>实际上支持多种断点类型和相对高级的功能，以适合不同的调试需求</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条件断点则可以额外设置暂停的条件，细分为三种类型，第一种是设置表达式，可以在只关心某变量满足特定值时的程序状态时使用。右键点击断点，编辑并设置表达式即可，这里设置</a:t>
            </a:r>
            <a:r>
              <a:rPr lang="en-US" altLang="zh-CN" dirty="0">
                <a:sym typeface="+mn-ea"/>
              </a:rPr>
              <a:t> i==5</a:t>
            </a:r>
            <a:r>
              <a:rPr lang="zh-CN" altLang="en-US" dirty="0">
                <a:sym typeface="+mn-ea"/>
              </a:rPr>
              <a:t>，则只会在第</a:t>
            </a:r>
            <a:r>
              <a:rPr lang="en-US" altLang="zh-CN" dirty="0">
                <a:sym typeface="+mn-ea"/>
              </a:rPr>
              <a:t>5</a:t>
            </a:r>
            <a:r>
              <a:rPr lang="zh-CN" altLang="en-US" dirty="0">
                <a:sym typeface="+mn-ea"/>
              </a:rPr>
              <a:t>轮循环时暂停</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还可以根据程序执行到断点的次数决定是否暂停。在循环次数很多，比如</a:t>
            </a:r>
            <a:r>
              <a:rPr lang="en-US" altLang="zh-CN" dirty="0">
                <a:sym typeface="+mn-ea"/>
              </a:rPr>
              <a:t>1000</a:t>
            </a:r>
            <a:r>
              <a:rPr lang="zh-CN" altLang="en-US" dirty="0">
                <a:sym typeface="+mn-ea"/>
              </a:rPr>
              <a:t>次，只关心最后一次的情况，就可以利用这种断点。图中这个例子则是设置命中次数</a:t>
            </a:r>
            <a:r>
              <a:rPr lang="en-US" altLang="zh-CN" dirty="0">
                <a:sym typeface="+mn-ea"/>
              </a:rPr>
              <a:t>=7</a:t>
            </a:r>
            <a:r>
              <a:rPr lang="zh-CN" altLang="en-US" dirty="0">
                <a:sym typeface="+mn-ea"/>
              </a:rPr>
              <a:t>，就只会在循环第</a:t>
            </a:r>
            <a:r>
              <a:rPr lang="en-US" altLang="zh-CN" dirty="0">
                <a:sym typeface="+mn-ea"/>
              </a:rPr>
              <a:t>7</a:t>
            </a:r>
            <a:r>
              <a:rPr lang="zh-CN" altLang="en-US" dirty="0">
                <a:sym typeface="+mn-ea"/>
              </a:rPr>
              <a:t>次到达这一行时暂停。</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触发式断点则关注断点之间的执行顺序，即 </a:t>
            </a:r>
            <a:r>
              <a:rPr lang="en-US" altLang="zh-CN" dirty="0">
                <a:sym typeface="+mn-ea"/>
              </a:rPr>
              <a:t>A </a:t>
            </a:r>
            <a:r>
              <a:rPr lang="zh-CN" altLang="en-US" dirty="0">
                <a:sym typeface="+mn-ea"/>
              </a:rPr>
              <a:t>断点触发后</a:t>
            </a:r>
            <a:r>
              <a:rPr lang="en-US" altLang="zh-CN" dirty="0">
                <a:sym typeface="+mn-ea"/>
              </a:rPr>
              <a:t>，</a:t>
            </a:r>
            <a:r>
              <a:rPr lang="zh-CN" altLang="en-US" dirty="0">
                <a:sym typeface="+mn-ea"/>
              </a:rPr>
              <a:t>再让</a:t>
            </a:r>
            <a:r>
              <a:rPr lang="en-US" altLang="zh-CN" dirty="0">
                <a:sym typeface="+mn-ea"/>
              </a:rPr>
              <a:t> B </a:t>
            </a:r>
            <a:r>
              <a:rPr lang="zh-CN" altLang="en-US" dirty="0">
                <a:sym typeface="+mn-ea"/>
              </a:rPr>
              <a:t>断点生效，关注程序经过某个特定阶段后的状态。比如这里我们关心</a:t>
            </a:r>
            <a:r>
              <a:rPr lang="en-US" altLang="zh-CN" dirty="0">
                <a:sym typeface="+mn-ea"/>
              </a:rPr>
              <a:t> Halfway </a:t>
            </a:r>
            <a:r>
              <a:rPr lang="zh-CN" altLang="en-US" dirty="0">
                <a:sym typeface="+mn-ea"/>
              </a:rPr>
              <a:t>后的</a:t>
            </a:r>
            <a:r>
              <a:rPr lang="en-US" altLang="zh-CN" dirty="0">
                <a:sym typeface="+mn-ea"/>
              </a:rPr>
              <a:t>total</a:t>
            </a:r>
            <a:r>
              <a:rPr lang="zh-CN" altLang="en-US" dirty="0">
                <a:sym typeface="+mn-ea"/>
              </a:rPr>
              <a:t>值变化，就可以把断点 </a:t>
            </a:r>
            <a:r>
              <a:rPr lang="en-US" altLang="zh-CN" dirty="0">
                <a:sym typeface="+mn-ea"/>
              </a:rPr>
              <a:t>A </a:t>
            </a:r>
            <a:r>
              <a:rPr lang="zh-CN" altLang="en-US" dirty="0">
                <a:sym typeface="+mn-ea"/>
              </a:rPr>
              <a:t>放在第五轮执行的 </a:t>
            </a:r>
            <a:r>
              <a:rPr lang="en-US" altLang="zh-CN" dirty="0">
                <a:sym typeface="+mn-ea"/>
              </a:rPr>
              <a:t>Halfway </a:t>
            </a:r>
            <a:r>
              <a:rPr lang="zh-CN" altLang="en-US" dirty="0">
                <a:sym typeface="+mn-ea"/>
              </a:rPr>
              <a:t>行，</a:t>
            </a:r>
            <a:r>
              <a:rPr lang="en-US" altLang="zh-CN" dirty="0">
                <a:sym typeface="+mn-ea"/>
              </a:rPr>
              <a:t>B </a:t>
            </a:r>
            <a:r>
              <a:rPr lang="zh-CN" altLang="en-US" dirty="0">
                <a:sym typeface="+mn-ea"/>
              </a:rPr>
              <a:t>放在累加行。前四轮 </a:t>
            </a:r>
            <a:r>
              <a:rPr lang="en-US" altLang="zh-CN" dirty="0">
                <a:sym typeface="+mn-ea"/>
              </a:rPr>
              <a:t>B </a:t>
            </a:r>
            <a:r>
              <a:rPr lang="zh-CN" altLang="en-US" dirty="0">
                <a:sym typeface="+mn-ea"/>
              </a:rPr>
              <a:t>不暂停，第五轮先命中 </a:t>
            </a:r>
            <a:r>
              <a:rPr lang="en-US" altLang="zh-CN" dirty="0">
                <a:sym typeface="+mn-ea"/>
              </a:rPr>
              <a:t>A，</a:t>
            </a:r>
            <a:r>
              <a:rPr lang="zh-CN" altLang="en-US" dirty="0">
                <a:sym typeface="+mn-ea"/>
              </a:rPr>
              <a:t>继续后才会在 </a:t>
            </a:r>
            <a:r>
              <a:rPr lang="en-US" altLang="zh-CN" dirty="0">
                <a:sym typeface="+mn-ea"/>
              </a:rPr>
              <a:t>B </a:t>
            </a:r>
            <a:r>
              <a:rPr lang="zh-CN" altLang="en-US" dirty="0">
                <a:sym typeface="+mn-ea"/>
              </a:rPr>
              <a:t>暂停。</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有时我们只想连续记录变化，不需要暂停，这时可以使用日志点。添加日志点，填写的消息中花括号里的表达式会被替换成实际值，输出到调试控制台。</a:t>
            </a:r>
          </a:p>
          <a:p>
            <a:r>
              <a:rPr lang="zh-CN" altLang="en-US" dirty="0">
                <a:sym typeface="+mn-ea"/>
              </a:rPr>
              <a:t>这里放在累加行，所以 </a:t>
            </a:r>
            <a:r>
              <a:rPr lang="en-US" altLang="zh-CN" dirty="0">
                <a:sym typeface="+mn-ea"/>
              </a:rPr>
              <a:t>total_before </a:t>
            </a:r>
            <a:r>
              <a:rPr lang="zh-CN" altLang="en-US" dirty="0">
                <a:sym typeface="+mn-ea"/>
              </a:rPr>
              <a:t>记录的是累加前的值。虽然叫</a:t>
            </a:r>
            <a:r>
              <a:rPr lang="en-US" altLang="zh-CN" dirty="0">
                <a:sym typeface="+mn-ea"/>
              </a:rPr>
              <a:t>“</a:t>
            </a:r>
            <a:r>
              <a:rPr lang="zh-CN" altLang="en-US" dirty="0">
                <a:sym typeface="+mn-ea"/>
              </a:rPr>
              <a:t>断点</a:t>
            </a:r>
            <a:r>
              <a:rPr lang="en-US" altLang="zh-CN" dirty="0">
                <a:sym typeface="+mn-ea"/>
              </a:rPr>
              <a:t>”</a:t>
            </a:r>
            <a:r>
              <a:rPr lang="zh-CN" altLang="en-US" dirty="0">
                <a:sym typeface="+mn-ea"/>
              </a:rPr>
              <a:t>，但并不会打断，只是相当于临时加了一条观察日志。</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这些断点设置还可以组合同时使用，比如这里设置条件</a:t>
            </a:r>
            <a:r>
              <a:rPr lang="en-US" altLang="zh-CN" dirty="0">
                <a:sym typeface="+mn-ea"/>
              </a:rPr>
              <a:t> total &lt; 20 </a:t>
            </a:r>
            <a:r>
              <a:rPr lang="zh-CN" altLang="en-US" dirty="0">
                <a:sym typeface="+mn-ea"/>
              </a:rPr>
              <a:t>且</a:t>
            </a:r>
            <a:r>
              <a:rPr lang="en-US" altLang="zh-CN" dirty="0">
                <a:sym typeface="+mn-ea"/>
              </a:rPr>
              <a:t> </a:t>
            </a:r>
            <a:r>
              <a:rPr lang="zh-CN" altLang="en-US" dirty="0">
                <a:sym typeface="+mn-ea"/>
              </a:rPr>
              <a:t>第三次命中。不过</a:t>
            </a:r>
            <a:r>
              <a:rPr lang="en-US" altLang="zh-CN" dirty="0">
                <a:sym typeface="+mn-ea"/>
              </a:rPr>
              <a:t> demo </a:t>
            </a:r>
            <a:r>
              <a:rPr lang="zh-CN" altLang="en-US" dirty="0">
                <a:sym typeface="+mn-ea"/>
              </a:rPr>
              <a:t>代码较为简单，这种断点主要用于满足一些比较复杂的调试需求。</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前面都在某一行设置断点。如果关心的是某个函数，不想寻找它的各个调用位置，可以直接添加函数断点，输入 </a:t>
            </a:r>
            <a:r>
              <a:rPr lang="en-US" altLang="zh-CN" dirty="0">
                <a:sym typeface="+mn-ea"/>
              </a:rPr>
              <a:t>multiply。</a:t>
            </a:r>
            <a:r>
              <a:rPr lang="zh-CN" altLang="en-US" dirty="0">
                <a:sym typeface="+mn-ea"/>
              </a:rPr>
              <a:t>之后每次调用进入这个函数，就会自动暂停。</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前面提到，除了最基本的变量，左侧调试栏中还可以查看更高级的监视和调用栈。</a:t>
            </a:r>
          </a:p>
          <a:p>
            <a:r>
              <a:rPr lang="zh-CN" altLang="en-US" dirty="0">
                <a:sym typeface="+mn-ea"/>
              </a:rPr>
              <a:t>变量很多或关注间接的计算结果时，可以以表达式的格式添加到“监视”，这样每次暂停都能集中查看，比如这里监视</a:t>
            </a:r>
            <a:r>
              <a:rPr lang="en-US" altLang="zh-CN" dirty="0">
                <a:sym typeface="+mn-ea"/>
              </a:rPr>
              <a:t> i </a:t>
            </a:r>
            <a:r>
              <a:rPr lang="zh-CN" altLang="en-US" dirty="0">
                <a:sym typeface="+mn-ea"/>
              </a:rPr>
              <a:t>是否等于 5等，需要注意避免添加会修改程序状态的表达式，如</a:t>
            </a:r>
            <a:r>
              <a:rPr lang="en-US" altLang="zh-CN" dirty="0">
                <a:sym typeface="+mn-ea"/>
              </a:rPr>
              <a:t> i++</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但表达式和变量一样，默认情况下只能在对应的作用域内观察到，这一点可以通过选择调用栈解决。</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调用栈表示函数之间的调用关系，如</a:t>
            </a:r>
            <a:r>
              <a:rPr lang="en-US" altLang="zh-CN" dirty="0">
                <a:sym typeface="+mn-ea"/>
              </a:rPr>
              <a:t>demo</a:t>
            </a:r>
            <a:r>
              <a:rPr lang="zh-CN" altLang="en-US" dirty="0">
                <a:sym typeface="+mn-ea"/>
              </a:rPr>
              <a:t>中就是 </a:t>
            </a:r>
            <a:r>
              <a:rPr lang="en-US" altLang="zh-CN" dirty="0">
                <a:sym typeface="+mn-ea"/>
              </a:rPr>
              <a:t>main </a:t>
            </a:r>
            <a:r>
              <a:rPr lang="zh-CN" altLang="en-US" dirty="0">
                <a:sym typeface="+mn-ea"/>
              </a:rPr>
              <a:t>调用了 </a:t>
            </a:r>
            <a:r>
              <a:rPr lang="en-US" altLang="zh-CN" dirty="0">
                <a:sym typeface="+mn-ea"/>
              </a:rPr>
              <a:t>multiply。</a:t>
            </a:r>
            <a:r>
              <a:rPr lang="zh-CN" altLang="en-US" dirty="0">
                <a:sym typeface="+mn-ea"/>
              </a:rPr>
              <a:t>在</a:t>
            </a:r>
            <a:r>
              <a:rPr lang="en-US" altLang="zh-CN" dirty="0">
                <a:sym typeface="+mn-ea"/>
              </a:rPr>
              <a:t> multiply </a:t>
            </a:r>
            <a:r>
              <a:rPr lang="zh-CN" altLang="en-US" dirty="0">
                <a:sym typeface="+mn-ea"/>
              </a:rPr>
              <a:t>内暂停时，点击左侧切换到 </a:t>
            </a:r>
            <a:r>
              <a:rPr lang="en-US" altLang="zh-CN" dirty="0">
                <a:sym typeface="+mn-ea"/>
              </a:rPr>
              <a:t>main </a:t>
            </a:r>
            <a:r>
              <a:rPr lang="zh-CN" altLang="en-US" dirty="0">
                <a:sym typeface="+mn-ea"/>
              </a:rPr>
              <a:t>的栈帧，就可以查看 </a:t>
            </a:r>
            <a:r>
              <a:rPr lang="en-US" altLang="zh-CN" dirty="0">
                <a:sym typeface="+mn-ea"/>
              </a:rPr>
              <a:t>main </a:t>
            </a:r>
            <a:r>
              <a:rPr lang="zh-CN" altLang="en-US" dirty="0">
                <a:sym typeface="+mn-ea"/>
              </a:rPr>
              <a:t>作用域中的变量。</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今天仅仅介绍一些基本的调试操作和用法，最重要的还是需要通过实践，遇到问题时，实际设置断点和观察，逐渐积累自己的经验。</a:t>
            </a:r>
            <a:endParaRPr lang="en-US" altLang="zh-CN" dirty="0">
              <a:sym typeface="+mn-ea"/>
            </a:endParaRPr>
          </a:p>
          <a:p>
            <a:r>
              <a:rPr lang="zh-CN" altLang="en-US" dirty="0">
                <a:sym typeface="+mn-ea"/>
              </a:rPr>
              <a:t>虽然现在</a:t>
            </a:r>
            <a:r>
              <a:rPr lang="en-US" altLang="zh-CN" dirty="0">
                <a:sym typeface="+mn-ea"/>
              </a:rPr>
              <a:t> Coding Agent </a:t>
            </a:r>
            <a:r>
              <a:rPr lang="zh-CN" altLang="en-US" dirty="0">
                <a:sym typeface="+mn-ea"/>
              </a:rPr>
              <a:t>的能力已经很强了，绝大多数情况下</a:t>
            </a:r>
            <a:r>
              <a:rPr lang="en-US" altLang="zh-CN" dirty="0">
                <a:sym typeface="+mn-ea"/>
              </a:rPr>
              <a:t> AI </a:t>
            </a:r>
            <a:r>
              <a:rPr lang="zh-CN" altLang="en-US" dirty="0">
                <a:sym typeface="+mn-ea"/>
              </a:rPr>
              <a:t>都可以很快生成需要的代码，“古法调试”还是能帮助我们对程序运行过程有更好的理解，也能更好地阅读和检查 </a:t>
            </a:r>
            <a:r>
              <a:rPr lang="en-US" altLang="zh-CN" dirty="0">
                <a:sym typeface="+mn-ea"/>
              </a:rPr>
              <a:t>AI </a:t>
            </a:r>
            <a:r>
              <a:rPr lang="zh-CN" altLang="en-US" dirty="0">
                <a:sym typeface="+mn-ea"/>
              </a:rPr>
              <a:t>给出的代码。</a:t>
            </a:r>
          </a:p>
        </p:txBody>
      </p:sp>
      <p:sp>
        <p:nvSpPr>
          <p:cNvPr id="4" name="灯片编号占位符 3"/>
          <p:cNvSpPr>
            <a:spLocks noGrp="1"/>
          </p:cNvSpPr>
          <p:nvPr>
            <p:ph type="sldNum" sz="quarter" idx="5"/>
          </p:nvPr>
        </p:nvSpPr>
        <p:spPr/>
        <p:txBody>
          <a:bodyPr/>
          <a:lstStyle/>
          <a:p>
            <a:fld id="{EEE322E3-BDCE-4072-B13C-5E71BDE9DA1D}"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模板</a:t>
            </a: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6" name="文本占位符 40"/>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7" name="文本占位符 40"/>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9" name="文本占位符 40"/>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50" name="文本框 49"/>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p>
        </p:txBody>
      </p:sp>
      <p:pic>
        <p:nvPicPr>
          <p:cNvPr id="128" name="图形 127"/>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20204"/>
                <a:ea typeface="微软雅黑"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3" name="内容占位符 2"/>
          <p:cNvSpPr>
            <a:spLocks noGrp="1"/>
          </p:cNvSpPr>
          <p:nvPr>
            <p:ph sz="quarter" idx="10" hasCustomPrompt="1"/>
          </p:nvPr>
        </p:nvSpPr>
        <p:spPr>
          <a:xfrm>
            <a:off x="442913" y="1130300"/>
            <a:ext cx="7948612" cy="3713163"/>
          </a:xfrm>
        </p:spPr>
        <p:txBody>
          <a:bodyPr>
            <a:normAutofit/>
          </a:bodyPr>
          <a:lstStyle>
            <a:lvl1pPr marL="0" indent="0">
              <a:lnSpc>
                <a:spcPct val="150000"/>
              </a:lnSpc>
              <a:spcBef>
                <a:spcPts val="0"/>
              </a:spcBef>
              <a:buFont typeface="Arial" panose="020B0604020202020204" pitchFamily="34" charset="0"/>
              <a:buNone/>
              <a:defRPr sz="1600"/>
            </a:lvl1pPr>
            <a:lvl2pPr marL="539750" indent="-179705">
              <a:defRPr sz="1400"/>
            </a:lvl2pPr>
          </a:lstStyle>
          <a:p>
            <a:pPr lvl="0"/>
            <a:endParaRPr lang="en-US" altLang="zh-CN" dirty="0"/>
          </a:p>
          <a:p>
            <a:pPr lvl="1"/>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t>‹#›</a:t>
            </a:fld>
            <a:r>
              <a:rPr lang="zh-CN" altLang="en-US" dirty="0"/>
              <a:t> </a:t>
            </a:r>
            <a:r>
              <a:rPr lang="en-US" altLang="zh-CN" dirty="0"/>
              <a:t>&gt;</a:t>
            </a:r>
            <a:endParaRPr lang="zh-CN" altLang="en-US" dirty="0"/>
          </a:p>
        </p:txBody>
      </p: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t>‹#›</a:t>
            </a:fld>
            <a:r>
              <a:rPr lang="zh-CN" altLang="en-US" dirty="0"/>
              <a:t> </a:t>
            </a:r>
            <a:r>
              <a:rPr lang="en-US" altLang="zh-CN" dirty="0"/>
              <a:t>&gt;</a:t>
            </a:r>
            <a:endParaRPr lang="zh-CN" altLang="en-US" dirty="0"/>
          </a:p>
        </p:txBody>
      </p: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sp>
        <p:nvSpPr>
          <p:cNvPr id="57"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
        <p:nvSpPr>
          <p:cNvPr id="2"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8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模板</a:t>
            </a: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6" name="文本占位符 40"/>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7" name="文本占位符 40"/>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9" name="文本占位符 40"/>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50" name="文本框 49"/>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p>
        </p:txBody>
      </p:sp>
      <p:pic>
        <p:nvPicPr>
          <p:cNvPr id="128" name="图形 127"/>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20204"/>
                <a:ea typeface="微软雅黑"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dirty="0" smtClean="0"/>
              <a:t>‹#›</a:t>
            </a:fld>
            <a:r>
              <a:rPr lang="zh-CN" altLang="en-US" dirty="0"/>
              <a:t> </a:t>
            </a:r>
            <a:r>
              <a:rPr lang="en-US" altLang="zh-CN" dirty="0"/>
              <a:t>&gt;</a:t>
            </a:r>
            <a:endParaRPr lang="zh-CN" altLang="en-US" dirty="0"/>
          </a:p>
        </p:txBody>
      </p: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dirty="0" smtClean="0"/>
              <a:t>‹#›</a:t>
            </a:fld>
            <a:r>
              <a:rPr lang="zh-CN" altLang="en-US" dirty="0"/>
              <a:t> </a:t>
            </a:r>
            <a:r>
              <a:rPr lang="en-US" altLang="zh-CN" dirty="0"/>
              <a:t>&gt;</a:t>
            </a:r>
            <a:endParaRPr lang="zh-CN" altLang="en-US" dirty="0"/>
          </a:p>
        </p:txBody>
      </p: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57"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p:spPr>
        <p:txBody>
          <a:bodyPr/>
          <a:lstStyle/>
          <a:p>
            <a:fld id="{C9174B57-87AE-4350-8047-94776A577D5E}" type="datetimeFigureOut">
              <a:rPr lang="zh-CN" altLang="en-US" smtClean="0"/>
              <a:t>2026/10/22</a:t>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E4A2EDC1-8E33-4EBE-965D-C920AAA92CF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theme" Target="../theme/theme2.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B4F560-7064-484B-8C66-B6D37AD1B18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2E679C-5052-4ECF-A437-292E4D50D1C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hyperlink" Target="https://code.visualstudio.com/docs/cpp/launch-json-reference" TargetMode="Externa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hyperlink" Target="https://code.visualstudio.com/docs/cpp/cpp-debug" TargetMode="Externa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image" Target="../media/image15.png"/><Relationship Id="rId5" Type="http://schemas.openxmlformats.org/officeDocument/2006/relationships/tags" Target="../tags/tag8.xml"/><Relationship Id="rId10" Type="http://schemas.openxmlformats.org/officeDocument/2006/relationships/image" Target="../media/image14.png"/><Relationship Id="rId4" Type="http://schemas.openxmlformats.org/officeDocument/2006/relationships/tags" Target="../tags/tag7.xml"/><Relationship Id="rId9" Type="http://schemas.openxmlformats.org/officeDocument/2006/relationships/notesSlide" Target="../notesSlides/notesSlide11.xml"/><Relationship Id="rId14" Type="http://schemas.openxmlformats.org/officeDocument/2006/relationships/hyperlink" Target="https://code.visualstudio.com/docs/debugtest/tasks"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1.xml"/><Relationship Id="rId1" Type="http://schemas.openxmlformats.org/officeDocument/2006/relationships/tags" Target="../tags/tag1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31365" y="2188210"/>
            <a:ext cx="8129270" cy="9220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5400" b="1" i="0" u="none" strike="noStrike" kern="1200" cap="none" spc="300" normalizeH="0" baseline="0" noProof="0" dirty="0">
                <a:ln>
                  <a:noFill/>
                </a:ln>
                <a:solidFill>
                  <a:srgbClr val="9A0001"/>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VSCode C++ </a:t>
            </a:r>
            <a:r>
              <a:rPr kumimoji="0" lang="zh-CN" altLang="en-US" sz="5400" b="1" i="0" u="none" strike="noStrike" kern="1200" cap="none" spc="300" normalizeH="0" baseline="0" noProof="0" dirty="0">
                <a:ln>
                  <a:noFill/>
                </a:ln>
                <a:solidFill>
                  <a:srgbClr val="9A0001"/>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断点调试</a:t>
            </a:r>
          </a:p>
        </p:txBody>
      </p:sp>
      <p:sp>
        <p:nvSpPr>
          <p:cNvPr id="72" name="矩形 71"/>
          <p:cNvSpPr/>
          <p:nvPr/>
        </p:nvSpPr>
        <p:spPr>
          <a:xfrm>
            <a:off x="4137654" y="3582943"/>
            <a:ext cx="3276144" cy="958660"/>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2000" b="0" i="0" spc="100" baseline="0" noProof="0" dirty="0">
                <a:ln>
                  <a:noFill/>
                </a:ln>
                <a:solidFill>
                  <a:srgbClr val="FFFFFF">
                    <a:lumMod val="50000"/>
                  </a:srgb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刘景文 王乐成</a:t>
            </a:r>
            <a:endParaRPr kumimoji="0" lang="en-US" altLang="zh-CN" sz="2000" b="0" i="0" spc="100" baseline="0" noProof="0" dirty="0">
              <a:ln>
                <a:noFill/>
              </a:ln>
              <a:solidFill>
                <a:srgbClr val="FFFFFF">
                  <a:lumMod val="50000"/>
                </a:srgb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2000" b="0" i="0" spc="100" baseline="0" noProof="0" dirty="0">
                <a:ln>
                  <a:noFill/>
                </a:ln>
                <a:solidFill>
                  <a:srgbClr val="FFFFFF">
                    <a:lumMod val="50000"/>
                  </a:srgb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2</a:t>
            </a:r>
            <a:r>
              <a:rPr lang="en-US" altLang="zh-CN" sz="2000" spc="100" dirty="0">
                <a:solidFill>
                  <a:srgbClr val="FFFFFF">
                    <a:lumMod val="50000"/>
                  </a:srgbClr>
                </a:solidFill>
                <a:uFillTx/>
                <a:latin typeface="Arial" panose="020B0604020202020204" pitchFamily="34" charset="0"/>
                <a:ea typeface="微软雅黑" panose="020B0503020204020204" pitchFamily="34" charset="-122"/>
                <a:cs typeface="+mn-ea"/>
                <a:sym typeface="Arial" panose="020B0604020202020204" pitchFamily="34" charset="0"/>
              </a:rPr>
              <a:t>026/10/23</a:t>
            </a:r>
            <a:endParaRPr kumimoji="0" lang="en-US" altLang="zh-CN" sz="2000" b="0" i="0" spc="100" baseline="0" noProof="0" dirty="0">
              <a:ln>
                <a:noFill/>
              </a:ln>
              <a:solidFill>
                <a:srgbClr val="FFFFFF">
                  <a:lumMod val="50000"/>
                </a:srgb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2</a:t>
            </a:fld>
            <a:r>
              <a:rPr lang="zh-CN" altLang="en-US" dirty="0"/>
              <a:t> </a:t>
            </a:r>
            <a:r>
              <a:rPr lang="en-US" altLang="zh-CN" dirty="0"/>
              <a:t>&gt;</a:t>
            </a:r>
            <a:endParaRPr lang="zh-CN" altLang="en-US" dirty="0"/>
          </a:p>
        </p:txBody>
      </p:sp>
      <p:sp>
        <p:nvSpPr>
          <p:cNvPr id="8" name="文本框 28"/>
          <p:cNvSpPr txBox="1"/>
          <p:nvPr/>
        </p:nvSpPr>
        <p:spPr>
          <a:xfrm>
            <a:off x="1227455" y="1257935"/>
            <a:ext cx="4953000" cy="30460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fontAlgn="auto">
              <a:lnSpc>
                <a:spcPct val="150000"/>
              </a:lnSpc>
              <a:buFont typeface="Arial" panose="020B0604020202020204" pitchFamily="34" charset="0"/>
              <a:buChar char="•"/>
              <a:defRPr/>
            </a:pPr>
            <a:r>
              <a:rPr lang="zh-CN" altLang="en-US" sz="3200" b="1"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rPr>
              <a:t>基本概念</a:t>
            </a:r>
          </a:p>
          <a:p>
            <a:pPr marL="342900" lvl="0" indent="-342900" fontAlgn="auto">
              <a:lnSpc>
                <a:spcPct val="150000"/>
              </a:lnSpc>
              <a:buFont typeface="Arial" panose="020B0604020202020204" pitchFamily="34" charset="0"/>
              <a:buChar char="•"/>
              <a:defRPr/>
            </a:pPr>
            <a:r>
              <a:rPr lang="zh-CN" altLang="en-US" sz="3200" b="1" dirty="0">
                <a:latin typeface="Arial" panose="020B0604020202020204" pitchFamily="34" charset="0"/>
                <a:ea typeface="微软雅黑" panose="020B0503020204020204" pitchFamily="34" charset="-122"/>
                <a:cs typeface="+mn-ea"/>
                <a:sym typeface="Arial" panose="020B0604020202020204" pitchFamily="34" charset="0"/>
              </a:rPr>
              <a:t>环境配置</a:t>
            </a:r>
            <a:endParaRPr lang="en-US" altLang="zh-CN" sz="3200" b="1" dirty="0">
              <a:latin typeface="Arial" panose="020B0604020202020204" pitchFamily="34" charset="0"/>
              <a:ea typeface="微软雅黑" panose="020B0503020204020204" pitchFamily="34" charset="-122"/>
              <a:cs typeface="+mn-ea"/>
              <a:sym typeface="Arial" panose="020B0604020202020204" pitchFamily="34" charset="0"/>
            </a:endParaRPr>
          </a:p>
          <a:p>
            <a:pPr marL="342900" indent="-342900" fontAlgn="auto">
              <a:lnSpc>
                <a:spcPct val="150000"/>
              </a:lnSpc>
              <a:buFont typeface="Arial" panose="020B0604020202020204" pitchFamily="34" charset="0"/>
              <a:buChar char="•"/>
              <a:defRPr/>
            </a:pPr>
            <a:r>
              <a:rPr lang="zh-CN" altLang="en-US" sz="3200" b="1" dirty="0">
                <a:latin typeface="Arial" panose="020B0604020202020204" pitchFamily="34" charset="0"/>
                <a:ea typeface="微软雅黑" panose="020B0503020204020204" pitchFamily="34" charset="-122"/>
                <a:cs typeface="+mn-ea"/>
                <a:sym typeface="Arial" panose="020B0604020202020204" pitchFamily="34" charset="0"/>
              </a:rPr>
              <a:t>基本方法</a:t>
            </a:r>
            <a:endParaRPr lang="en-US" altLang="zh-CN" sz="3200" b="1" dirty="0">
              <a:latin typeface="Arial" panose="020B0604020202020204" pitchFamily="34" charset="0"/>
              <a:ea typeface="微软雅黑" panose="020B0503020204020204" pitchFamily="34" charset="-122"/>
              <a:cs typeface="+mn-ea"/>
              <a:sym typeface="Arial" panose="020B0604020202020204" pitchFamily="34" charset="0"/>
            </a:endParaRPr>
          </a:p>
          <a:p>
            <a:pPr marL="342900" indent="-342900" fontAlgn="auto">
              <a:lnSpc>
                <a:spcPct val="150000"/>
              </a:lnSpc>
              <a:buFont typeface="Arial" panose="020B0604020202020204" pitchFamily="34" charset="0"/>
              <a:buChar char="•"/>
              <a:defRPr/>
            </a:pPr>
            <a:r>
              <a:rPr lang="zh-CN" altLang="en-US" sz="32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高级功能</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a:solidFill>
                  <a:schemeClr val="accent1"/>
                </a:solidFill>
                <a:ea typeface="微软雅黑" panose="020B0503020204020204" pitchFamily="34" charset="-122"/>
                <a:cs typeface="Arial" panose="020B0604020202020204" pitchFamily="34" charset="0"/>
              </a:rPr>
              <a:t>为什么需要调试</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3</a:t>
            </a:fld>
            <a:r>
              <a:rPr lang="zh-CN" altLang="en-US" dirty="0"/>
              <a:t> </a:t>
            </a:r>
            <a:r>
              <a:rPr lang="en-US" altLang="zh-CN" dirty="0"/>
              <a:t>&gt;</a:t>
            </a:r>
            <a:endParaRPr lang="zh-CN" altLang="en-US" dirty="0"/>
          </a:p>
        </p:txBody>
      </p:sp>
      <p:sp>
        <p:nvSpPr>
          <p:cNvPr id="5" name="文本框 4"/>
          <p:cNvSpPr txBox="1"/>
          <p:nvPr/>
        </p:nvSpPr>
        <p:spPr>
          <a:xfrm>
            <a:off x="553085" y="1381760"/>
            <a:ext cx="10564495" cy="384746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调试（</a:t>
            </a:r>
            <a:r>
              <a:rPr lang="en-US" altLang="zh-CN" sz="2000" dirty="0">
                <a:solidFill>
                  <a:schemeClr val="tx1"/>
                </a:solidFill>
                <a:sym typeface="+mn-ea"/>
              </a:rPr>
              <a:t>debugging）</a:t>
            </a:r>
            <a:r>
              <a:rPr lang="zh-CN" altLang="en-US" sz="2000" dirty="0">
                <a:solidFill>
                  <a:schemeClr val="tx1"/>
                </a:solidFill>
                <a:sym typeface="+mn-ea"/>
              </a:rPr>
              <a:t>是</a:t>
            </a:r>
            <a:r>
              <a:rPr lang="zh-CN" altLang="en-US" sz="2000" b="1" dirty="0">
                <a:solidFill>
                  <a:schemeClr val="tx1"/>
                </a:solidFill>
                <a:sym typeface="+mn-ea"/>
              </a:rPr>
              <a:t>逐步骤地观察</a:t>
            </a:r>
            <a:r>
              <a:rPr lang="zh-CN" altLang="en-US" sz="2000" dirty="0">
                <a:solidFill>
                  <a:schemeClr val="tx1"/>
                </a:solidFill>
                <a:sym typeface="+mn-ea"/>
              </a:rPr>
              <a:t>程序执行过程，找出</a:t>
            </a:r>
            <a:r>
              <a:rPr lang="zh-CN" altLang="en-US" sz="2000" b="1" dirty="0">
                <a:solidFill>
                  <a:schemeClr val="tx1"/>
                </a:solidFill>
                <a:sym typeface="+mn-ea"/>
              </a:rPr>
              <a:t>实际行为与预期不一致</a:t>
            </a:r>
            <a:r>
              <a:rPr lang="zh-CN" altLang="en-US" sz="2000" dirty="0">
                <a:solidFill>
                  <a:schemeClr val="tx1"/>
                </a:solidFill>
                <a:sym typeface="+mn-ea"/>
              </a:rPr>
              <a:t>的原因。</a:t>
            </a:r>
            <a:endParaRPr lang="en-US" altLang="zh-CN" sz="2000" dirty="0">
              <a:solidFill>
                <a:schemeClr val="tx1"/>
              </a:solidFill>
              <a:sym typeface="+mn-ea"/>
            </a:endParaRPr>
          </a:p>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调试时通常会反复做以下几件事：</a:t>
            </a:r>
            <a:endParaRPr lang="en-US" altLang="zh-CN" sz="2000" dirty="0">
              <a:solidFill>
                <a:schemeClr val="tx1"/>
              </a:solidFill>
              <a:sym typeface="+mn-ea"/>
            </a:endParaRPr>
          </a:p>
          <a:p>
            <a:pPr marL="914400" lvl="1" indent="-457200" algn="l" fontAlgn="auto">
              <a:lnSpc>
                <a:spcPct val="150000"/>
              </a:lnSpc>
              <a:buFont typeface="+mj-lt"/>
              <a:buAutoNum type="arabicPeriod"/>
            </a:pPr>
            <a:r>
              <a:rPr lang="zh-CN" altLang="en-US" sz="2000" dirty="0">
                <a:solidFill>
                  <a:schemeClr val="tx1"/>
                </a:solidFill>
                <a:sym typeface="+mn-ea"/>
              </a:rPr>
              <a:t>提出一个</a:t>
            </a:r>
            <a:r>
              <a:rPr lang="zh-CN" altLang="en-US" sz="2000" b="1" dirty="0">
                <a:solidFill>
                  <a:schemeClr val="tx1"/>
                </a:solidFill>
                <a:sym typeface="+mn-ea"/>
              </a:rPr>
              <a:t>猜测</a:t>
            </a:r>
            <a:r>
              <a:rPr lang="zh-CN" altLang="en-US" sz="2000" dirty="0">
                <a:solidFill>
                  <a:schemeClr val="tx1"/>
                </a:solidFill>
                <a:sym typeface="+mn-ea"/>
              </a:rPr>
              <a:t>：比如“循环多执行了一次”或“这个变量在这里已经变成 0”</a:t>
            </a:r>
          </a:p>
          <a:p>
            <a:pPr marL="914400" lvl="1" indent="-457200" algn="l" fontAlgn="auto">
              <a:lnSpc>
                <a:spcPct val="150000"/>
              </a:lnSpc>
              <a:buFont typeface="+mj-lt"/>
              <a:buAutoNum type="arabicPeriod"/>
            </a:pPr>
            <a:r>
              <a:rPr lang="zh-CN" altLang="en-US" sz="2000" dirty="0">
                <a:solidFill>
                  <a:schemeClr val="tx1"/>
                </a:solidFill>
                <a:sym typeface="+mn-ea"/>
              </a:rPr>
              <a:t>在</a:t>
            </a:r>
            <a:r>
              <a:rPr lang="zh-CN" altLang="en-US" sz="2000" b="1" dirty="0">
                <a:solidFill>
                  <a:schemeClr val="tx1"/>
                </a:solidFill>
                <a:sym typeface="+mn-ea"/>
              </a:rPr>
              <a:t>关键位置暂停</a:t>
            </a:r>
            <a:r>
              <a:rPr lang="zh-CN" altLang="en-US" sz="2000" dirty="0">
                <a:solidFill>
                  <a:schemeClr val="tx1"/>
                </a:solidFill>
                <a:sym typeface="+mn-ea"/>
              </a:rPr>
              <a:t>程序</a:t>
            </a:r>
          </a:p>
          <a:p>
            <a:pPr marL="914400" lvl="1" indent="-457200" algn="l" fontAlgn="auto">
              <a:lnSpc>
                <a:spcPct val="150000"/>
              </a:lnSpc>
              <a:buFont typeface="+mj-lt"/>
              <a:buAutoNum type="arabicPeriod"/>
            </a:pPr>
            <a:r>
              <a:rPr lang="zh-CN" altLang="en-US" sz="2000" dirty="0">
                <a:solidFill>
                  <a:schemeClr val="tx1"/>
                </a:solidFill>
                <a:sym typeface="+mn-ea"/>
              </a:rPr>
              <a:t>查看变量的当前值和调用位置</a:t>
            </a:r>
          </a:p>
          <a:p>
            <a:pPr marL="914400" lvl="1" indent="-457200" algn="l" fontAlgn="auto">
              <a:lnSpc>
                <a:spcPct val="150000"/>
              </a:lnSpc>
              <a:buFont typeface="+mj-lt"/>
              <a:buAutoNum type="arabicPeriod"/>
            </a:pPr>
            <a:r>
              <a:rPr lang="zh-CN" altLang="en-US" sz="2000" dirty="0">
                <a:solidFill>
                  <a:schemeClr val="tx1"/>
                </a:solidFill>
                <a:sym typeface="+mn-ea"/>
              </a:rPr>
              <a:t>逐步执行，</a:t>
            </a:r>
            <a:r>
              <a:rPr lang="zh-CN" altLang="en-US" sz="2000" b="1" dirty="0">
                <a:solidFill>
                  <a:schemeClr val="tx1"/>
                </a:solidFill>
                <a:sym typeface="+mn-ea"/>
              </a:rPr>
              <a:t>观察值如何变化</a:t>
            </a:r>
            <a:endParaRPr lang="zh-CN" altLang="en-US" sz="2000" dirty="0">
              <a:solidFill>
                <a:schemeClr val="tx1"/>
              </a:solidFill>
              <a:sym typeface="+mn-ea"/>
            </a:endParaRPr>
          </a:p>
          <a:p>
            <a:pPr marL="914400" lvl="1" indent="-457200" algn="l" fontAlgn="auto">
              <a:lnSpc>
                <a:spcPct val="150000"/>
              </a:lnSpc>
              <a:buFont typeface="+mj-lt"/>
              <a:buAutoNum type="arabicPeriod"/>
            </a:pPr>
            <a:r>
              <a:rPr lang="zh-CN" altLang="en-US" sz="2000" dirty="0">
                <a:solidFill>
                  <a:schemeClr val="tx1"/>
                </a:solidFill>
                <a:sym typeface="+mn-ea"/>
              </a:rPr>
              <a:t>根据观察</a:t>
            </a:r>
            <a:r>
              <a:rPr lang="zh-CN" altLang="en-US" sz="2000" b="1" dirty="0">
                <a:solidFill>
                  <a:schemeClr val="tx1"/>
                </a:solidFill>
                <a:sym typeface="+mn-ea"/>
              </a:rPr>
              <a:t>修正猜测</a:t>
            </a:r>
            <a:r>
              <a:rPr lang="zh-CN" altLang="en-US" sz="2000" dirty="0">
                <a:solidFill>
                  <a:schemeClr val="tx1"/>
                </a:solidFill>
                <a:sym typeface="+mn-ea"/>
              </a:rPr>
              <a:t>，再检查问题是否消失</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a:solidFill>
                  <a:schemeClr val="accent1"/>
                </a:solidFill>
                <a:ea typeface="微软雅黑" panose="020B0503020204020204" pitchFamily="34" charset="-122"/>
                <a:cs typeface="Arial" panose="020B0604020202020204" pitchFamily="34" charset="0"/>
              </a:rPr>
              <a:t>相关工具与概念</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4</a:t>
            </a:fld>
            <a:r>
              <a:rPr lang="zh-CN" altLang="en-US" dirty="0"/>
              <a:t> </a:t>
            </a:r>
            <a:r>
              <a:rPr lang="en-US" altLang="zh-CN" dirty="0"/>
              <a:t>&gt;</a:t>
            </a:r>
            <a:endParaRPr lang="zh-CN" altLang="en-US" dirty="0"/>
          </a:p>
        </p:txBody>
      </p:sp>
      <p:sp>
        <p:nvSpPr>
          <p:cNvPr id="5" name="文本框 4"/>
          <p:cNvSpPr txBox="1"/>
          <p:nvPr/>
        </p:nvSpPr>
        <p:spPr>
          <a:xfrm>
            <a:off x="814070" y="1284605"/>
            <a:ext cx="10564495" cy="4502420"/>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三种工具：</a:t>
            </a:r>
          </a:p>
          <a:p>
            <a:pPr marL="342900" lvl="0" indent="-342900" algn="l" fontAlgn="auto">
              <a:lnSpc>
                <a:spcPct val="150000"/>
              </a:lnSpc>
              <a:buFont typeface="Arial" panose="020B0604020202020204" pitchFamily="34" charset="0"/>
              <a:buChar char="•"/>
            </a:pPr>
            <a:endParaRPr lang="zh-CN" altLang="en-US" sz="2000" b="1" dirty="0">
              <a:solidFill>
                <a:schemeClr val="tx1"/>
              </a:solidFill>
              <a:sym typeface="+mn-ea"/>
            </a:endParaRPr>
          </a:p>
          <a:p>
            <a:pPr marL="342900" lvl="0" indent="-342900" algn="l" fontAlgn="auto">
              <a:lnSpc>
                <a:spcPct val="150000"/>
              </a:lnSpc>
              <a:buFont typeface="Arial" panose="020B0604020202020204" pitchFamily="34" charset="0"/>
              <a:buChar char="•"/>
            </a:pPr>
            <a:endParaRPr lang="zh-CN" altLang="en-US" sz="2000" b="1" dirty="0">
              <a:solidFill>
                <a:schemeClr val="tx1"/>
              </a:solidFill>
              <a:sym typeface="+mn-ea"/>
            </a:endParaRPr>
          </a:p>
          <a:p>
            <a:pPr marL="342900" lvl="0" indent="-342900" algn="l" fontAlgn="auto">
              <a:lnSpc>
                <a:spcPct val="150000"/>
              </a:lnSpc>
              <a:buFont typeface="Arial" panose="020B0604020202020204" pitchFamily="34" charset="0"/>
              <a:buChar char="•"/>
            </a:pPr>
            <a:endParaRPr lang="zh-CN" altLang="en-US" sz="2000" b="1" dirty="0">
              <a:solidFill>
                <a:schemeClr val="tx1"/>
              </a:solidFill>
              <a:sym typeface="+mn-ea"/>
            </a:endParaRPr>
          </a:p>
          <a:p>
            <a:pPr marL="342900" lvl="0" indent="-342900" algn="l" fontAlgn="auto">
              <a:lnSpc>
                <a:spcPct val="150000"/>
              </a:lnSpc>
              <a:buFont typeface="Arial" panose="020B0604020202020204" pitchFamily="34" charset="0"/>
              <a:buChar char="•"/>
            </a:pPr>
            <a:endParaRPr lang="zh-CN" altLang="en-US" sz="2000" b="1" dirty="0">
              <a:solidFill>
                <a:schemeClr val="tx1"/>
              </a:solidFill>
              <a:sym typeface="+mn-ea"/>
            </a:endParaRPr>
          </a:p>
          <a:p>
            <a:pPr marL="342900" lvl="0" indent="-342900" algn="l" fontAlgn="auto">
              <a:lnSpc>
                <a:spcPct val="150000"/>
              </a:lnSpc>
              <a:buFont typeface="Arial" panose="020B0604020202020204" pitchFamily="34" charset="0"/>
              <a:buChar char="•"/>
            </a:pPr>
            <a:endParaRPr lang="en-US" altLang="zh-CN" sz="2000" b="1" dirty="0">
              <a:solidFill>
                <a:schemeClr val="tx1"/>
              </a:solidFill>
              <a:sym typeface="+mn-ea"/>
            </a:endParaRPr>
          </a:p>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断点：</a:t>
            </a:r>
            <a:r>
              <a:rPr lang="zh-CN" altLang="en-US" sz="2000" dirty="0">
                <a:solidFill>
                  <a:schemeClr val="tx1"/>
                </a:solidFill>
                <a:sym typeface="+mn-ea"/>
              </a:rPr>
              <a:t>指定程序</a:t>
            </a:r>
            <a:r>
              <a:rPr lang="zh-CN" altLang="en-US" sz="2000" b="1" dirty="0">
                <a:solidFill>
                  <a:schemeClr val="tx1"/>
                </a:solidFill>
                <a:sym typeface="+mn-ea"/>
              </a:rPr>
              <a:t>在哪里暂停</a:t>
            </a:r>
            <a:r>
              <a:rPr lang="zh-CN" altLang="en-US" sz="2000" dirty="0">
                <a:solidFill>
                  <a:schemeClr val="tx1"/>
                </a:solidFill>
                <a:sym typeface="+mn-ea"/>
              </a:rPr>
              <a:t>，通常设置在可执行语句上。</a:t>
            </a:r>
          </a:p>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单步执行：</a:t>
            </a:r>
            <a:r>
              <a:rPr lang="zh-CN" altLang="en-US" sz="2000" dirty="0">
                <a:solidFill>
                  <a:schemeClr val="tx1"/>
                </a:solidFill>
                <a:sym typeface="+mn-ea"/>
              </a:rPr>
              <a:t>暂停后，每次</a:t>
            </a:r>
            <a:r>
              <a:rPr lang="zh-CN" altLang="en-US" sz="2000" b="1" dirty="0">
                <a:solidFill>
                  <a:schemeClr val="tx1"/>
                </a:solidFill>
                <a:sym typeface="+mn-ea"/>
              </a:rPr>
              <a:t>执行一行或进入一个函数</a:t>
            </a:r>
            <a:r>
              <a:rPr lang="zh-CN" altLang="en-US" sz="2000" dirty="0">
                <a:solidFill>
                  <a:schemeClr val="tx1"/>
                </a:solidFill>
                <a:sym typeface="+mn-ea"/>
              </a:rPr>
              <a:t>，观察程序的变化。</a:t>
            </a:r>
          </a:p>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变量：</a:t>
            </a:r>
            <a:r>
              <a:rPr lang="zh-CN" altLang="en-US" sz="2000" dirty="0">
                <a:solidFill>
                  <a:schemeClr val="tx1"/>
                </a:solidFill>
                <a:sym typeface="+mn-ea"/>
              </a:rPr>
              <a:t>程序当前</a:t>
            </a:r>
            <a:r>
              <a:rPr lang="zh-CN" altLang="en-US" sz="2000" b="1" dirty="0">
                <a:solidFill>
                  <a:schemeClr val="tx1"/>
                </a:solidFill>
                <a:sym typeface="+mn-ea"/>
              </a:rPr>
              <a:t>保存的数据</a:t>
            </a:r>
            <a:r>
              <a:rPr lang="zh-CN" altLang="en-US" sz="2000" dirty="0">
                <a:solidFill>
                  <a:schemeClr val="tx1"/>
                </a:solidFill>
                <a:sym typeface="+mn-ea"/>
              </a:rPr>
              <a:t>，例如循环变量 </a:t>
            </a:r>
            <a:r>
              <a:rPr lang="en-US" altLang="zh-CN" sz="2000" dirty="0">
                <a:solidFill>
                  <a:schemeClr val="tx1"/>
                </a:solidFill>
                <a:sym typeface="+mn-ea"/>
              </a:rPr>
              <a:t>i、</a:t>
            </a:r>
            <a:r>
              <a:rPr lang="zh-CN" altLang="en-US" sz="2000" dirty="0">
                <a:solidFill>
                  <a:schemeClr val="tx1"/>
                </a:solidFill>
                <a:sym typeface="+mn-ea"/>
              </a:rPr>
              <a:t>累计值 </a:t>
            </a:r>
            <a:r>
              <a:rPr lang="en-US" altLang="zh-CN" sz="2000" dirty="0">
                <a:solidFill>
                  <a:schemeClr val="tx1"/>
                </a:solidFill>
                <a:sym typeface="+mn-ea"/>
              </a:rPr>
              <a:t>total。</a:t>
            </a:r>
          </a:p>
        </p:txBody>
      </p:sp>
      <p:graphicFrame>
        <p:nvGraphicFramePr>
          <p:cNvPr id="4" name="表格 3"/>
          <p:cNvGraphicFramePr/>
          <p:nvPr/>
        </p:nvGraphicFramePr>
        <p:xfrm>
          <a:off x="1949450" y="1914525"/>
          <a:ext cx="8103870" cy="1678936"/>
        </p:xfrm>
        <a:graphic>
          <a:graphicData uri="http://schemas.openxmlformats.org/drawingml/2006/table">
            <a:tbl>
              <a:tblPr firstRow="1" bandRow="1">
                <a:tableStyleId>{5C22544A-7EE6-4342-B048-85BDC9FD1C3A}</a:tableStyleId>
              </a:tblPr>
              <a:tblGrid>
                <a:gridCol w="1497330">
                  <a:extLst>
                    <a:ext uri="{9D8B030D-6E8A-4147-A177-3AD203B41FA5}">
                      <a16:colId xmlns:a16="http://schemas.microsoft.com/office/drawing/2014/main" val="20000"/>
                    </a:ext>
                  </a:extLst>
                </a:gridCol>
                <a:gridCol w="4529455">
                  <a:extLst>
                    <a:ext uri="{9D8B030D-6E8A-4147-A177-3AD203B41FA5}">
                      <a16:colId xmlns:a16="http://schemas.microsoft.com/office/drawing/2014/main" val="20001"/>
                    </a:ext>
                  </a:extLst>
                </a:gridCol>
                <a:gridCol w="2077085">
                  <a:extLst>
                    <a:ext uri="{9D8B030D-6E8A-4147-A177-3AD203B41FA5}">
                      <a16:colId xmlns:a16="http://schemas.microsoft.com/office/drawing/2014/main" val="20002"/>
                    </a:ext>
                  </a:extLst>
                </a:gridCol>
              </a:tblGrid>
              <a:tr h="381000">
                <a:tc>
                  <a:txBody>
                    <a:bodyPr/>
                    <a:lstStyle/>
                    <a:p>
                      <a:pPr marL="0" indent="0" latinLnBrk="0"/>
                      <a:r>
                        <a:rPr lang="zh-CN" altLang="en-US" sz="2000" b="1" i="0">
                          <a:solidFill>
                            <a:schemeClr val="bg1"/>
                          </a:solidFill>
                          <a:latin typeface="微软雅黑" panose="020B0503020204020204" pitchFamily="34" charset="-122"/>
                          <a:ea typeface="微软雅黑" panose="020B0503020204020204" pitchFamily="34" charset="-122"/>
                        </a:rPr>
                        <a:t>工具</a:t>
                      </a:r>
                    </a:p>
                  </a:txBody>
                  <a:tcPr marL="124142" marR="124142" marT="57467" marB="57467" anchor="ctr"/>
                </a:tc>
                <a:tc>
                  <a:txBody>
                    <a:bodyPr/>
                    <a:lstStyle/>
                    <a:p>
                      <a:pPr marL="0" indent="0" latinLnBrk="0"/>
                      <a:r>
                        <a:rPr lang="zh-CN" altLang="en-US" sz="2000" b="1" i="0">
                          <a:solidFill>
                            <a:schemeClr val="bg1"/>
                          </a:solidFill>
                          <a:latin typeface="微软雅黑" panose="020B0503020204020204" pitchFamily="34" charset="-122"/>
                          <a:ea typeface="微软雅黑" panose="020B0503020204020204" pitchFamily="34" charset="-122"/>
                        </a:rPr>
                        <a:t>作用</a:t>
                      </a:r>
                    </a:p>
                  </a:txBody>
                  <a:tcPr marL="124142" marR="124142" marT="57467" marB="57467" anchor="ctr"/>
                </a:tc>
                <a:tc>
                  <a:txBody>
                    <a:bodyPr/>
                    <a:lstStyle/>
                    <a:p>
                      <a:pPr marL="0" indent="0" latinLnBrk="0"/>
                      <a:r>
                        <a:rPr lang="zh-CN" altLang="en-US" sz="2000" b="1" i="0">
                          <a:solidFill>
                            <a:schemeClr val="bg1"/>
                          </a:solidFill>
                          <a:latin typeface="微软雅黑" panose="020B0503020204020204" pitchFamily="34" charset="-122"/>
                          <a:ea typeface="微软雅黑" panose="020B0503020204020204" pitchFamily="34" charset="-122"/>
                        </a:rPr>
                        <a:t>当前使用</a:t>
                      </a:r>
                    </a:p>
                  </a:txBody>
                  <a:tcPr marL="124142" marR="124142" marT="57467" marB="57467" anchor="ctr"/>
                </a:tc>
                <a:extLst>
                  <a:ext uri="{0D108BD9-81ED-4DB2-BD59-A6C34878D82A}">
                    <a16:rowId xmlns:a16="http://schemas.microsoft.com/office/drawing/2014/main" val="10000"/>
                  </a:ext>
                </a:extLst>
              </a:tr>
              <a:tr h="381000">
                <a:tc>
                  <a:txBody>
                    <a:bodyPr/>
                    <a:lstStyle/>
                    <a:p>
                      <a:pPr marL="0" indent="0" latinLnBrk="0"/>
                      <a:r>
                        <a:rPr lang="zh-CN" altLang="en-US" sz="2000" b="0" i="0">
                          <a:solidFill>
                            <a:srgbClr val="333333"/>
                          </a:solidFill>
                          <a:latin typeface="微软雅黑" panose="020B0503020204020204" pitchFamily="34" charset="-122"/>
                          <a:ea typeface="微软雅黑" panose="020B0503020204020204" pitchFamily="34" charset="-122"/>
                        </a:rPr>
                        <a:t>编辑器</a:t>
                      </a:r>
                    </a:p>
                  </a:txBody>
                  <a:tcPr marL="124142" marR="124142" marT="57467" marB="57467" anchor="ctr"/>
                </a:tc>
                <a:tc>
                  <a:txBody>
                    <a:bodyPr/>
                    <a:lstStyle/>
                    <a:p>
                      <a:pPr marL="0" indent="0" latinLnBrk="0"/>
                      <a:r>
                        <a:rPr lang="zh-CN" altLang="en-US" sz="2000" b="0" i="0">
                          <a:solidFill>
                            <a:srgbClr val="333333"/>
                          </a:solidFill>
                          <a:latin typeface="微软雅黑" panose="020B0503020204020204" pitchFamily="34" charset="-122"/>
                          <a:ea typeface="微软雅黑" panose="020B0503020204020204" pitchFamily="34" charset="-122"/>
                        </a:rPr>
                        <a:t>编写代码、显示可视化调试界面等</a:t>
                      </a:r>
                    </a:p>
                  </a:txBody>
                  <a:tcPr marL="124142" marR="124142" marT="57467" marB="57467" anchor="ctr"/>
                </a:tc>
                <a:tc>
                  <a:txBody>
                    <a:bodyPr/>
                    <a:lstStyle/>
                    <a:p>
                      <a:pPr marL="0" indent="0" latinLnBrk="0"/>
                      <a:r>
                        <a:rPr lang="en-US" altLang="zh-CN" sz="2000" b="0" i="0">
                          <a:solidFill>
                            <a:srgbClr val="333333"/>
                          </a:solidFill>
                          <a:latin typeface="微软雅黑" panose="020B0503020204020204" pitchFamily="34" charset="-122"/>
                          <a:ea typeface="微软雅黑" panose="020B0503020204020204" pitchFamily="34" charset="-122"/>
                        </a:rPr>
                        <a:t>VSCode</a:t>
                      </a:r>
                    </a:p>
                  </a:txBody>
                  <a:tcPr marL="124142" marR="124142" marT="57467" marB="57467" anchor="ctr"/>
                </a:tc>
                <a:extLst>
                  <a:ext uri="{0D108BD9-81ED-4DB2-BD59-A6C34878D82A}">
                    <a16:rowId xmlns:a16="http://schemas.microsoft.com/office/drawing/2014/main" val="10001"/>
                  </a:ext>
                </a:extLst>
              </a:tr>
              <a:tr h="381000">
                <a:tc>
                  <a:txBody>
                    <a:bodyPr/>
                    <a:lstStyle/>
                    <a:p>
                      <a:pPr marL="0" indent="0" latinLnBrk="0"/>
                      <a:r>
                        <a:rPr lang="zh-CN" altLang="en-US" sz="2000" b="0" i="0">
                          <a:solidFill>
                            <a:srgbClr val="333333"/>
                          </a:solidFill>
                          <a:latin typeface="微软雅黑" panose="020B0503020204020204" pitchFamily="34" charset="-122"/>
                          <a:ea typeface="微软雅黑" panose="020B0503020204020204" pitchFamily="34" charset="-122"/>
                        </a:rPr>
                        <a:t>编译器</a:t>
                      </a:r>
                    </a:p>
                  </a:txBody>
                  <a:tcPr marL="124142" marR="124142" marT="57467" marB="57467" anchor="ctr"/>
                </a:tc>
                <a:tc>
                  <a:txBody>
                    <a:bodyPr/>
                    <a:lstStyle/>
                    <a:p>
                      <a:pPr marL="0" indent="0" latinLnBrk="0"/>
                      <a:r>
                        <a:rPr lang="zh-CN" altLang="en-US" sz="2000" b="0" i="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把源代码编译成可执行程序</a:t>
                      </a:r>
                    </a:p>
                  </a:txBody>
                  <a:tcPr marL="124142" marR="124142" marT="57467" marB="57467" anchor="ctr"/>
                </a:tc>
                <a:tc>
                  <a:txBody>
                    <a:bodyPr/>
                    <a:lstStyle/>
                    <a:p>
                      <a:pPr marL="0" indent="0" latinLnBrk="0"/>
                      <a:r>
                        <a:rPr lang="en-US" altLang="zh-CN" sz="2000" b="0" i="0">
                          <a:solidFill>
                            <a:srgbClr val="333333"/>
                          </a:solidFill>
                          <a:latin typeface="微软雅黑" panose="020B0503020204020204" pitchFamily="34" charset="-122"/>
                          <a:ea typeface="微软雅黑" panose="020B0503020204020204" pitchFamily="34" charset="-122"/>
                        </a:rPr>
                        <a:t>g++/clang++</a:t>
                      </a:r>
                    </a:p>
                  </a:txBody>
                  <a:tcPr marL="124142" marR="124142" marT="57467" marB="57467" anchor="ctr"/>
                </a:tc>
                <a:extLst>
                  <a:ext uri="{0D108BD9-81ED-4DB2-BD59-A6C34878D82A}">
                    <a16:rowId xmlns:a16="http://schemas.microsoft.com/office/drawing/2014/main" val="10002"/>
                  </a:ext>
                </a:extLst>
              </a:tr>
              <a:tr h="381000">
                <a:tc>
                  <a:txBody>
                    <a:bodyPr/>
                    <a:lstStyle/>
                    <a:p>
                      <a:pPr marL="0" indent="0" latinLnBrk="0"/>
                      <a:r>
                        <a:rPr lang="zh-CN" altLang="en-US" sz="2000" b="0" i="0">
                          <a:solidFill>
                            <a:srgbClr val="333333"/>
                          </a:solidFill>
                          <a:latin typeface="微软雅黑" panose="020B0503020204020204" pitchFamily="34" charset="-122"/>
                          <a:ea typeface="微软雅黑" panose="020B0503020204020204" pitchFamily="34" charset="-122"/>
                        </a:rPr>
                        <a:t>调试器</a:t>
                      </a:r>
                    </a:p>
                  </a:txBody>
                  <a:tcPr marL="124142" marR="124142" marT="57467" marB="57467" anchor="ctr"/>
                </a:tc>
                <a:tc>
                  <a:txBody>
                    <a:bodyPr/>
                    <a:lstStyle/>
                    <a:p>
                      <a:pPr marL="0" indent="0" latinLnBrk="0"/>
                      <a:r>
                        <a:rPr lang="zh-CN" altLang="en-US" sz="2000" b="0" i="0">
                          <a:solidFill>
                            <a:srgbClr val="333333"/>
                          </a:solidFill>
                          <a:latin typeface="微软雅黑" panose="020B0503020204020204" pitchFamily="34" charset="-122"/>
                          <a:ea typeface="微软雅黑" panose="020B0503020204020204" pitchFamily="34" charset="-122"/>
                        </a:rPr>
                        <a:t>暂停程序、单步执行、检查变量</a:t>
                      </a:r>
                    </a:p>
                  </a:txBody>
                  <a:tcPr marL="124142" marR="124142" marT="57467" marB="57467" anchor="ctr"/>
                </a:tc>
                <a:tc>
                  <a:txBody>
                    <a:bodyPr/>
                    <a:lstStyle/>
                    <a:p>
                      <a:pPr marL="0" indent="0" latinLnBrk="0"/>
                      <a:r>
                        <a:rPr lang="en-US" altLang="zh-CN" sz="2000" b="0" i="0" dirty="0">
                          <a:solidFill>
                            <a:srgbClr val="333333"/>
                          </a:solidFill>
                          <a:latin typeface="微软雅黑" panose="020B0503020204020204" pitchFamily="34" charset="-122"/>
                          <a:ea typeface="微软雅黑" panose="020B0503020204020204" pitchFamily="34" charset="-122"/>
                        </a:rPr>
                        <a:t>GDB</a:t>
                      </a:r>
                    </a:p>
                  </a:txBody>
                  <a:tcPr marL="124142" marR="124142" marT="57467" marB="57467"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5</a:t>
            </a:fld>
            <a:r>
              <a:rPr lang="zh-CN" altLang="en-US" dirty="0"/>
              <a:t> </a:t>
            </a:r>
            <a:r>
              <a:rPr lang="en-US" altLang="zh-CN" dirty="0"/>
              <a:t>&gt;</a:t>
            </a:r>
            <a:endParaRPr lang="zh-CN" altLang="en-US" dirty="0"/>
          </a:p>
        </p:txBody>
      </p:sp>
      <p:sp>
        <p:nvSpPr>
          <p:cNvPr id="8" name="文本框 28"/>
          <p:cNvSpPr txBox="1"/>
          <p:nvPr/>
        </p:nvSpPr>
        <p:spPr>
          <a:xfrm>
            <a:off x="1227455" y="1257935"/>
            <a:ext cx="4867910" cy="30460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fontAlgn="auto">
              <a:lnSpc>
                <a:spcPct val="150000"/>
              </a:lnSpc>
              <a:buFont typeface="Arial" panose="020B0604020202020204" pitchFamily="34" charset="0"/>
              <a:buChar char="•"/>
              <a:defRPr/>
            </a:pPr>
            <a:r>
              <a:rPr lang="zh-CN" altLang="en-US" sz="3200" b="1" dirty="0">
                <a:latin typeface="Arial" panose="020B0604020202020204" pitchFamily="34" charset="0"/>
                <a:ea typeface="微软雅黑" panose="020B0503020204020204" pitchFamily="34" charset="-122"/>
                <a:cs typeface="+mn-ea"/>
                <a:sym typeface="Arial" panose="020B0604020202020204" pitchFamily="34" charset="0"/>
              </a:rPr>
              <a:t>基本概念</a:t>
            </a:r>
            <a:endParaRPr lang="zh-CN" altLang="en-US" sz="3200" b="1"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endParaRPr>
          </a:p>
          <a:p>
            <a:pPr marL="342900" lvl="0" indent="-342900" fontAlgn="auto">
              <a:lnSpc>
                <a:spcPct val="150000"/>
              </a:lnSpc>
              <a:buFont typeface="Arial" panose="020B0604020202020204" pitchFamily="34" charset="0"/>
              <a:buChar char="•"/>
              <a:defRPr/>
            </a:pPr>
            <a:r>
              <a:rPr lang="zh-CN" altLang="en-US" sz="3200" b="1"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rPr>
              <a:t>环境配置</a:t>
            </a:r>
            <a:endParaRPr lang="en-US" altLang="zh-CN" sz="3200" b="1"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endParaRPr>
          </a:p>
          <a:p>
            <a:pPr marL="342900" indent="-342900" fontAlgn="auto">
              <a:lnSpc>
                <a:spcPct val="150000"/>
              </a:lnSpc>
              <a:buFont typeface="Arial" panose="020B0604020202020204" pitchFamily="34" charset="0"/>
              <a:buChar char="•"/>
              <a:defRPr/>
            </a:pPr>
            <a:r>
              <a:rPr lang="zh-CN" altLang="en-US" sz="3200" b="1" dirty="0">
                <a:latin typeface="Arial" panose="020B0604020202020204" pitchFamily="34" charset="0"/>
                <a:ea typeface="微软雅黑" panose="020B0503020204020204" pitchFamily="34" charset="-122"/>
                <a:cs typeface="+mn-ea"/>
                <a:sym typeface="Arial" panose="020B0604020202020204" pitchFamily="34" charset="0"/>
              </a:rPr>
              <a:t>基本方法</a:t>
            </a:r>
            <a:endParaRPr lang="en-US" altLang="zh-CN" sz="3200" b="1" dirty="0">
              <a:latin typeface="Arial" panose="020B0604020202020204" pitchFamily="34" charset="0"/>
              <a:ea typeface="微软雅黑" panose="020B0503020204020204" pitchFamily="34" charset="-122"/>
              <a:cs typeface="+mn-ea"/>
              <a:sym typeface="Arial" panose="020B0604020202020204" pitchFamily="34" charset="0"/>
            </a:endParaRPr>
          </a:p>
          <a:p>
            <a:pPr marL="342900" indent="-342900" fontAlgn="auto">
              <a:lnSpc>
                <a:spcPct val="150000"/>
              </a:lnSpc>
              <a:buFont typeface="Arial" panose="020B0604020202020204" pitchFamily="34" charset="0"/>
              <a:buChar char="•"/>
              <a:defRPr/>
            </a:pPr>
            <a:r>
              <a:rPr lang="zh-CN" altLang="en-US" sz="3200" b="1" dirty="0">
                <a:latin typeface="Arial" panose="020B0604020202020204" pitchFamily="34" charset="0"/>
                <a:ea typeface="微软雅黑" panose="020B0503020204020204" pitchFamily="34" charset="-122"/>
                <a:cs typeface="+mn-ea"/>
                <a:sym typeface="Arial" panose="020B0604020202020204" pitchFamily="34" charset="0"/>
              </a:rPr>
              <a:t>高级功能</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a:solidFill>
                  <a:schemeClr val="accent1"/>
                </a:solidFill>
                <a:ea typeface="微软雅黑" panose="020B0503020204020204" pitchFamily="34" charset="-122"/>
                <a:cs typeface="Arial" panose="020B0604020202020204" pitchFamily="34" charset="0"/>
              </a:rPr>
              <a:t>说明</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6</a:t>
            </a:fld>
            <a:r>
              <a:rPr lang="zh-CN" altLang="en-US" dirty="0"/>
              <a:t> </a:t>
            </a:r>
            <a:r>
              <a:rPr lang="en-US" altLang="zh-CN" dirty="0"/>
              <a:t>&gt;</a:t>
            </a:r>
            <a:endParaRPr lang="zh-CN" altLang="en-US" dirty="0"/>
          </a:p>
        </p:txBody>
      </p:sp>
      <p:sp>
        <p:nvSpPr>
          <p:cNvPr id="5" name="文本框 4"/>
          <p:cNvSpPr txBox="1"/>
          <p:nvPr/>
        </p:nvSpPr>
        <p:spPr>
          <a:xfrm>
            <a:off x="553085" y="1381760"/>
            <a:ext cx="10243185" cy="384746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本章节的环境配置说明，适用于想在</a:t>
            </a:r>
            <a:r>
              <a:rPr lang="zh-CN" altLang="en-US" sz="2000" b="1" dirty="0">
                <a:solidFill>
                  <a:schemeClr val="tx1"/>
                </a:solidFill>
                <a:sym typeface="+mn-ea"/>
              </a:rPr>
              <a:t>自己电脑上安装并使用 </a:t>
            </a:r>
            <a:r>
              <a:rPr lang="en-US" altLang="zh-CN" sz="2000" b="1" dirty="0">
                <a:solidFill>
                  <a:schemeClr val="tx1"/>
                </a:solidFill>
                <a:sym typeface="+mn-ea"/>
              </a:rPr>
              <a:t>VSCode</a:t>
            </a:r>
            <a:r>
              <a:rPr lang="en-US" altLang="zh-CN" sz="2000" dirty="0">
                <a:solidFill>
                  <a:schemeClr val="tx1"/>
                </a:solidFill>
                <a:sym typeface="+mn-ea"/>
              </a:rPr>
              <a:t> </a:t>
            </a:r>
            <a:r>
              <a:rPr lang="zh-CN" altLang="en-US" sz="2000" dirty="0">
                <a:solidFill>
                  <a:schemeClr val="tx1"/>
                </a:solidFill>
                <a:sym typeface="+mn-ea"/>
              </a:rPr>
              <a:t>的同学。</a:t>
            </a:r>
            <a:endParaRPr lang="en-US" altLang="zh-CN" sz="2000" dirty="0">
              <a:solidFill>
                <a:schemeClr val="tx1"/>
              </a:solidFill>
              <a:sym typeface="+mn-ea"/>
            </a:endParaRPr>
          </a:p>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机房</a:t>
            </a:r>
            <a:r>
              <a:rPr lang="zh-CN" altLang="en-US" sz="2000" dirty="0">
                <a:sym typeface="+mn-ea"/>
              </a:rPr>
              <a:t>电脑</a:t>
            </a:r>
            <a:r>
              <a:rPr lang="zh-CN" altLang="en-US" sz="2000" dirty="0">
                <a:solidFill>
                  <a:schemeClr val="tx1"/>
                </a:solidFill>
                <a:sym typeface="+mn-ea"/>
              </a:rPr>
              <a:t>中的 </a:t>
            </a:r>
            <a:r>
              <a:rPr lang="en-US" altLang="zh-CN" sz="2000" dirty="0">
                <a:solidFill>
                  <a:schemeClr val="tx1"/>
                </a:solidFill>
                <a:sym typeface="+mn-ea"/>
              </a:rPr>
              <a:t>VSCode </a:t>
            </a:r>
            <a:r>
              <a:rPr lang="zh-CN" altLang="en-US" sz="2000" dirty="0">
                <a:solidFill>
                  <a:schemeClr val="tx1"/>
                </a:solidFill>
                <a:sym typeface="+mn-ea"/>
              </a:rPr>
              <a:t>环境已经配置好，</a:t>
            </a:r>
            <a:r>
              <a:rPr lang="zh-CN" sz="2000" dirty="0">
                <a:solidFill>
                  <a:schemeClr val="tx1"/>
                </a:solidFill>
                <a:sym typeface="+mn-ea"/>
              </a:rPr>
              <a:t>直接使用即可</a:t>
            </a:r>
            <a:r>
              <a:rPr lang="zh-CN" altLang="en-US" sz="2000" dirty="0">
                <a:solidFill>
                  <a:schemeClr val="tx1"/>
                </a:solidFill>
                <a:sym typeface="+mn-ea"/>
              </a:rPr>
              <a:t>。</a:t>
            </a:r>
          </a:p>
          <a:p>
            <a:pPr marL="342900" lvl="0" indent="-342900" algn="l" fontAlgn="auto">
              <a:lnSpc>
                <a:spcPct val="150000"/>
              </a:lnSpc>
              <a:buFont typeface="Arial" panose="020B0604020202020204" pitchFamily="34" charset="0"/>
              <a:buChar char="•"/>
            </a:pPr>
            <a:r>
              <a:rPr lang="en-US" altLang="zh-CN" sz="2000" b="1" dirty="0">
                <a:solidFill>
                  <a:schemeClr val="tx1"/>
                </a:solidFill>
                <a:sym typeface="+mn-ea"/>
              </a:rPr>
              <a:t>Visual Studio (VS) </a:t>
            </a:r>
            <a:r>
              <a:rPr lang="zh-CN" altLang="en-US" sz="2000" dirty="0">
                <a:solidFill>
                  <a:schemeClr val="tx1"/>
                </a:solidFill>
                <a:sym typeface="+mn-ea"/>
              </a:rPr>
              <a:t>安装后即可直接创建、编译和调试 </a:t>
            </a:r>
            <a:r>
              <a:rPr lang="en-US" altLang="zh-CN" sz="2000" dirty="0">
                <a:solidFill>
                  <a:schemeClr val="tx1"/>
                </a:solidFill>
                <a:sym typeface="+mn-ea"/>
              </a:rPr>
              <a:t>C++ </a:t>
            </a:r>
            <a:r>
              <a:rPr lang="zh-CN" altLang="en-US" sz="2000" dirty="0">
                <a:solidFill>
                  <a:schemeClr val="tx1"/>
                </a:solidFill>
                <a:sym typeface="+mn-ea"/>
              </a:rPr>
              <a:t>项目，无论在个人电脑还是机房都</a:t>
            </a:r>
            <a:r>
              <a:rPr lang="zh-CN" sz="2000" b="1" dirty="0">
                <a:solidFill>
                  <a:schemeClr val="tx1"/>
                </a:solidFill>
                <a:sym typeface="+mn-ea"/>
              </a:rPr>
              <a:t>无需额外配置</a:t>
            </a:r>
            <a:r>
              <a:rPr lang="zh-CN" altLang="en-US" sz="2000" dirty="0">
                <a:solidFill>
                  <a:schemeClr val="tx1"/>
                </a:solidFill>
                <a:sym typeface="+mn-ea"/>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a:solidFill>
                  <a:schemeClr val="accent1"/>
                </a:solidFill>
                <a:ea typeface="微软雅黑" panose="020B0503020204020204" pitchFamily="34" charset="-122"/>
                <a:cs typeface="Arial" panose="020B0604020202020204" pitchFamily="34" charset="0"/>
              </a:rPr>
              <a:t>插件</a:t>
            </a:r>
            <a:r>
              <a:rPr lang="en-US" altLang="zh-CN">
                <a:solidFill>
                  <a:schemeClr val="accent1"/>
                </a:solidFill>
                <a:ea typeface="微软雅黑" panose="020B0503020204020204" pitchFamily="34" charset="-122"/>
                <a:cs typeface="Arial" panose="020B0604020202020204" pitchFamily="34" charset="0"/>
              </a:rPr>
              <a:t>/</a:t>
            </a:r>
            <a:r>
              <a:rPr>
                <a:solidFill>
                  <a:schemeClr val="accent1"/>
                </a:solidFill>
                <a:ea typeface="微软雅黑" panose="020B0503020204020204" pitchFamily="34" charset="-122"/>
                <a:cs typeface="Arial" panose="020B0604020202020204" pitchFamily="34" charset="0"/>
              </a:rPr>
              <a:t>拓展安装</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7</a:t>
            </a:fld>
            <a:r>
              <a:rPr lang="zh-CN" altLang="en-US" dirty="0"/>
              <a:t> </a:t>
            </a:r>
            <a:r>
              <a:rPr lang="en-US" altLang="zh-CN" dirty="0"/>
              <a:t>&gt;</a:t>
            </a:r>
            <a:endParaRPr lang="zh-CN" altLang="en-US" dirty="0"/>
          </a:p>
        </p:txBody>
      </p:sp>
      <p:sp>
        <p:nvSpPr>
          <p:cNvPr id="5" name="文本框 4"/>
          <p:cNvSpPr txBox="1"/>
          <p:nvPr/>
        </p:nvSpPr>
        <p:spPr>
          <a:xfrm>
            <a:off x="813435" y="1005840"/>
            <a:ext cx="10564495" cy="2423160"/>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点击左侧的“扩展”图标，或按 </a:t>
            </a:r>
            <a:r>
              <a:rPr lang="en-US" altLang="zh-CN" sz="2000" dirty="0">
                <a:solidFill>
                  <a:schemeClr val="tx1"/>
                </a:solidFill>
                <a:sym typeface="+mn-ea"/>
              </a:rPr>
              <a:t>Ctrl+Shift+X，</a:t>
            </a:r>
            <a:r>
              <a:rPr lang="zh-CN" altLang="en-US" sz="2000" dirty="0">
                <a:solidFill>
                  <a:schemeClr val="tx1"/>
                </a:solidFill>
                <a:sym typeface="+mn-ea"/>
              </a:rPr>
              <a:t>搜索 </a:t>
            </a:r>
            <a:r>
              <a:rPr lang="en-US" altLang="zh-CN" sz="2000" dirty="0">
                <a:solidFill>
                  <a:schemeClr val="tx1"/>
                </a:solidFill>
                <a:sym typeface="+mn-ea"/>
              </a:rPr>
              <a:t>C/C++。</a:t>
            </a:r>
          </a:p>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安装发布者为 </a:t>
            </a:r>
            <a:r>
              <a:rPr lang="en-US" altLang="zh-CN" sz="2000" dirty="0">
                <a:solidFill>
                  <a:schemeClr val="tx1"/>
                </a:solidFill>
                <a:sym typeface="+mn-ea"/>
              </a:rPr>
              <a:t>Microsoft </a:t>
            </a:r>
            <a:r>
              <a:rPr lang="zh-CN" altLang="en-US" sz="2000" dirty="0">
                <a:solidFill>
                  <a:schemeClr val="tx1"/>
                </a:solidFill>
                <a:sym typeface="+mn-ea"/>
              </a:rPr>
              <a:t>的 </a:t>
            </a:r>
            <a:r>
              <a:rPr lang="en-US" altLang="zh-CN" sz="2000" b="1" dirty="0">
                <a:solidFill>
                  <a:schemeClr val="tx1"/>
                </a:solidFill>
                <a:sym typeface="+mn-ea"/>
              </a:rPr>
              <a:t>C/C++ Extension Pack</a:t>
            </a:r>
            <a:r>
              <a:rPr lang="en-US" altLang="zh-CN" sz="2000" dirty="0">
                <a:solidFill>
                  <a:schemeClr val="tx1"/>
                </a:solidFill>
                <a:sym typeface="+mn-ea"/>
              </a:rPr>
              <a:t>。</a:t>
            </a:r>
            <a:r>
              <a:rPr lang="zh-CN" altLang="en-US" sz="2000" dirty="0">
                <a:solidFill>
                  <a:schemeClr val="tx1"/>
                </a:solidFill>
                <a:sym typeface="+mn-ea"/>
              </a:rPr>
              <a:t>它提供 </a:t>
            </a:r>
            <a:r>
              <a:rPr lang="en-US" altLang="zh-CN" sz="2000" dirty="0">
                <a:solidFill>
                  <a:schemeClr val="tx1"/>
                </a:solidFill>
                <a:sym typeface="+mn-ea"/>
              </a:rPr>
              <a:t>C++ </a:t>
            </a:r>
            <a:r>
              <a:rPr lang="zh-CN" altLang="en-US" sz="2000" dirty="0">
                <a:solidFill>
                  <a:schemeClr val="tx1"/>
                </a:solidFill>
                <a:sym typeface="+mn-ea"/>
              </a:rPr>
              <a:t>代码补全、错误提示、运行和调试支持等功能。</a:t>
            </a:r>
          </a:p>
          <a:p>
            <a:pPr marL="342900" lvl="0" indent="-342900" algn="l" fontAlgn="auto">
              <a:lnSpc>
                <a:spcPct val="150000"/>
              </a:lnSpc>
              <a:buFont typeface="Arial" panose="020B0604020202020204" pitchFamily="34" charset="0"/>
              <a:buChar char="•"/>
            </a:pPr>
            <a:r>
              <a:rPr lang="en-US" altLang="zh-CN" sz="2000" dirty="0">
                <a:solidFill>
                  <a:schemeClr val="tx1"/>
                </a:solidFill>
                <a:sym typeface="+mn-ea"/>
              </a:rPr>
              <a:t>Mac </a:t>
            </a:r>
            <a:r>
              <a:rPr lang="zh-CN" altLang="en-US" sz="2000" dirty="0">
                <a:solidFill>
                  <a:schemeClr val="tx1"/>
                </a:solidFill>
                <a:sym typeface="+mn-ea"/>
              </a:rPr>
              <a:t>需要安装</a:t>
            </a:r>
            <a:r>
              <a:rPr lang="en-US" altLang="zh-CN" sz="2000" dirty="0">
                <a:solidFill>
                  <a:schemeClr val="tx1"/>
                </a:solidFill>
                <a:sym typeface="+mn-ea"/>
              </a:rPr>
              <a:t> </a:t>
            </a:r>
            <a:r>
              <a:rPr lang="en-US" altLang="zh-CN" sz="2000" b="1" dirty="0">
                <a:solidFill>
                  <a:schemeClr val="tx1"/>
                </a:solidFill>
                <a:sym typeface="+mn-ea"/>
              </a:rPr>
              <a:t>CodeLLDB</a:t>
            </a:r>
            <a:r>
              <a:rPr lang="zh-CN" altLang="en-US" sz="2000" dirty="0">
                <a:solidFill>
                  <a:schemeClr val="tx1"/>
                </a:solidFill>
                <a:sym typeface="+mn-ea"/>
              </a:rPr>
              <a:t>（</a:t>
            </a:r>
            <a:r>
              <a:rPr lang="en-US" altLang="zh-CN" sz="2000" dirty="0">
                <a:solidFill>
                  <a:schemeClr val="tx1"/>
                </a:solidFill>
                <a:sym typeface="+mn-ea"/>
              </a:rPr>
              <a:t>Mac </a:t>
            </a:r>
            <a:r>
              <a:rPr lang="zh-CN" altLang="en-US" sz="2000" dirty="0">
                <a:solidFill>
                  <a:schemeClr val="tx1"/>
                </a:solidFill>
                <a:sym typeface="+mn-ea"/>
              </a:rPr>
              <a:t>上 </a:t>
            </a:r>
            <a:r>
              <a:rPr lang="en-US" altLang="zh-CN" sz="2000" dirty="0">
                <a:solidFill>
                  <a:schemeClr val="tx1"/>
                </a:solidFill>
                <a:sym typeface="+mn-ea"/>
              </a:rPr>
              <a:t>Microsoft C/C++ </a:t>
            </a:r>
            <a:r>
              <a:rPr lang="zh-CN" altLang="en-US" sz="2000" dirty="0">
                <a:solidFill>
                  <a:schemeClr val="tx1"/>
                </a:solidFill>
                <a:sym typeface="+mn-ea"/>
              </a:rPr>
              <a:t>扩展</a:t>
            </a:r>
            <a:r>
              <a:rPr lang="zh-CN" altLang="en-US" sz="2000" b="1" dirty="0">
                <a:solidFill>
                  <a:schemeClr val="tx1"/>
                </a:solidFill>
                <a:sym typeface="+mn-ea"/>
              </a:rPr>
              <a:t>不支持需要 </a:t>
            </a:r>
            <a:r>
              <a:rPr lang="en-US" altLang="zh-CN" sz="2000" b="1" dirty="0">
                <a:solidFill>
                  <a:schemeClr val="tx1"/>
                </a:solidFill>
                <a:sym typeface="+mn-ea"/>
              </a:rPr>
              <a:t>stdin </a:t>
            </a:r>
            <a:r>
              <a:rPr lang="zh-CN" altLang="en-US" sz="2000" b="1" dirty="0">
                <a:solidFill>
                  <a:schemeClr val="tx1"/>
                </a:solidFill>
                <a:sym typeface="+mn-ea"/>
              </a:rPr>
              <a:t>输入的程序调试</a:t>
            </a:r>
            <a:r>
              <a:rPr lang="zh-CN" altLang="en-US" sz="2000" dirty="0">
                <a:solidFill>
                  <a:schemeClr val="tx1"/>
                </a:solidFill>
                <a:sym typeface="+mn-ea"/>
              </a:rPr>
              <a:t>，需要借助 </a:t>
            </a:r>
            <a:r>
              <a:rPr lang="en-US" altLang="zh-CN" sz="2000" dirty="0">
                <a:solidFill>
                  <a:schemeClr val="tx1"/>
                </a:solidFill>
                <a:sym typeface="+mn-ea"/>
              </a:rPr>
              <a:t>CodeLLDB</a:t>
            </a:r>
            <a:r>
              <a:rPr lang="zh-CN" altLang="en-US" sz="2000" dirty="0">
                <a:solidFill>
                  <a:schemeClr val="tx1"/>
                </a:solidFill>
                <a:sym typeface="+mn-ea"/>
              </a:rPr>
              <a:t>）</a:t>
            </a:r>
          </a:p>
        </p:txBody>
      </p:sp>
      <p:grpSp>
        <p:nvGrpSpPr>
          <p:cNvPr id="8" name="组合 7"/>
          <p:cNvGrpSpPr/>
          <p:nvPr/>
        </p:nvGrpSpPr>
        <p:grpSpPr>
          <a:xfrm>
            <a:off x="1402080" y="3411220"/>
            <a:ext cx="5370830" cy="3275330"/>
            <a:chOff x="3436" y="4655"/>
            <a:chExt cx="8458" cy="5158"/>
          </a:xfrm>
        </p:grpSpPr>
        <p:pic>
          <p:nvPicPr>
            <p:cNvPr id="4" name="图片 3"/>
            <p:cNvPicPr>
              <a:picLocks noChangeAspect="1"/>
            </p:cNvPicPr>
            <p:nvPr/>
          </p:nvPicPr>
          <p:blipFill>
            <a:blip r:embed="rId3"/>
            <a:stretch>
              <a:fillRect/>
            </a:stretch>
          </p:blipFill>
          <p:spPr>
            <a:xfrm>
              <a:off x="3436" y="4815"/>
              <a:ext cx="705" cy="3945"/>
            </a:xfrm>
            <a:prstGeom prst="rect">
              <a:avLst/>
            </a:prstGeom>
          </p:spPr>
        </p:pic>
        <p:pic>
          <p:nvPicPr>
            <p:cNvPr id="6" name="图片 5"/>
            <p:cNvPicPr>
              <a:picLocks noChangeAspect="1"/>
            </p:cNvPicPr>
            <p:nvPr/>
          </p:nvPicPr>
          <p:blipFill>
            <a:blip r:embed="rId4"/>
            <a:stretch>
              <a:fillRect/>
            </a:stretch>
          </p:blipFill>
          <p:spPr>
            <a:xfrm>
              <a:off x="6609" y="4655"/>
              <a:ext cx="5285" cy="5158"/>
            </a:xfrm>
            <a:prstGeom prst="rect">
              <a:avLst/>
            </a:prstGeom>
          </p:spPr>
        </p:pic>
        <p:sp>
          <p:nvSpPr>
            <p:cNvPr id="10" name="圆角矩形 9"/>
            <p:cNvSpPr/>
            <p:nvPr/>
          </p:nvSpPr>
          <p:spPr>
            <a:xfrm>
              <a:off x="3436" y="7399"/>
              <a:ext cx="705" cy="688"/>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6713" y="8760"/>
              <a:ext cx="5077" cy="844"/>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p:cNvCxnSpPr>
              <a:stCxn id="10" idx="3"/>
              <a:endCxn id="7" idx="1"/>
            </p:cNvCxnSpPr>
            <p:nvPr/>
          </p:nvCxnSpPr>
          <p:spPr>
            <a:xfrm>
              <a:off x="4141" y="7743"/>
              <a:ext cx="2572" cy="143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pic>
        <p:nvPicPr>
          <p:cNvPr id="12" name="图片 11"/>
          <p:cNvPicPr>
            <a:picLocks noChangeAspect="1"/>
          </p:cNvPicPr>
          <p:nvPr/>
        </p:nvPicPr>
        <p:blipFill>
          <a:blip r:embed="rId5"/>
          <a:srcRect t="81408"/>
          <a:stretch>
            <a:fillRect/>
          </a:stretch>
        </p:blipFill>
        <p:spPr>
          <a:xfrm>
            <a:off x="7219315" y="4344670"/>
            <a:ext cx="3541395" cy="7721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lang="en-US" altLang="zh-CN">
                <a:solidFill>
                  <a:schemeClr val="accent1"/>
                </a:solidFill>
                <a:ea typeface="微软雅黑" panose="020B0503020204020204" pitchFamily="34" charset="-122"/>
                <a:cs typeface="Arial" panose="020B0604020202020204" pitchFamily="34" charset="0"/>
              </a:rPr>
              <a:t>JSON </a:t>
            </a:r>
            <a:r>
              <a:rPr>
                <a:solidFill>
                  <a:schemeClr val="accent1"/>
                </a:solidFill>
                <a:ea typeface="微软雅黑" panose="020B0503020204020204" pitchFamily="34" charset="-122"/>
                <a:cs typeface="Arial" panose="020B0604020202020204" pitchFamily="34" charset="0"/>
              </a:rPr>
              <a:t>配置文件</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8</a:t>
            </a:fld>
            <a:r>
              <a:rPr lang="zh-CN" altLang="en-US" dirty="0"/>
              <a:t> </a:t>
            </a:r>
            <a:r>
              <a:rPr lang="en-US" altLang="zh-CN" dirty="0"/>
              <a:t>&gt;</a:t>
            </a:r>
            <a:endParaRPr lang="zh-CN" altLang="en-US" dirty="0"/>
          </a:p>
        </p:txBody>
      </p:sp>
      <p:sp>
        <p:nvSpPr>
          <p:cNvPr id="5" name="文本框 4"/>
          <p:cNvSpPr txBox="1"/>
          <p:nvPr/>
        </p:nvSpPr>
        <p:spPr>
          <a:xfrm>
            <a:off x="813435" y="1257935"/>
            <a:ext cx="10564495" cy="419290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sz="2000" dirty="0">
                <a:sym typeface="+mn-ea"/>
              </a:rPr>
              <a:t>在</a:t>
            </a:r>
            <a:r>
              <a:rPr lang="en-US" altLang="zh-CN" sz="2000" dirty="0">
                <a:sym typeface="+mn-ea"/>
              </a:rPr>
              <a:t> VSCode </a:t>
            </a:r>
            <a:r>
              <a:rPr lang="zh-CN" altLang="en-US" sz="2000" dirty="0">
                <a:sym typeface="+mn-ea"/>
              </a:rPr>
              <a:t>中编译调试</a:t>
            </a:r>
            <a:r>
              <a:rPr lang="en-US" altLang="zh-CN" sz="2000" dirty="0">
                <a:sym typeface="+mn-ea"/>
              </a:rPr>
              <a:t> C++ </a:t>
            </a:r>
            <a:r>
              <a:rPr lang="zh-CN" altLang="en-US" sz="2000" dirty="0">
                <a:sym typeface="+mn-ea"/>
              </a:rPr>
              <a:t>代码，需要</a:t>
            </a:r>
            <a:r>
              <a:rPr lang="en-US" altLang="zh-CN" sz="2000" dirty="0">
                <a:sym typeface="+mn-ea"/>
              </a:rPr>
              <a:t> </a:t>
            </a:r>
            <a:r>
              <a:rPr lang="en-US" altLang="zh-CN" sz="2000" b="1" i="1" dirty="0">
                <a:latin typeface="Consolas" panose="020B0609020204030204" charset="0"/>
                <a:cs typeface="Consolas" panose="020B0609020204030204" charset="0"/>
                <a:sym typeface="+mn-ea"/>
              </a:rPr>
              <a:t>tasks.json</a:t>
            </a:r>
            <a:r>
              <a:rPr lang="en-US" altLang="zh-CN" sz="2000" b="1" dirty="0">
                <a:sym typeface="+mn-ea"/>
              </a:rPr>
              <a:t> </a:t>
            </a:r>
            <a:r>
              <a:rPr lang="zh-CN" altLang="en-US" sz="2000" b="1" dirty="0">
                <a:sym typeface="+mn-ea"/>
              </a:rPr>
              <a:t>和 </a:t>
            </a:r>
            <a:r>
              <a:rPr lang="en-US" altLang="zh-CN" sz="2000" b="1" i="1" dirty="0">
                <a:latin typeface="Consolas" panose="020B0609020204030204" charset="0"/>
                <a:cs typeface="Consolas" panose="020B0609020204030204" charset="0"/>
                <a:sym typeface="+mn-ea"/>
              </a:rPr>
              <a:t>launch.json</a:t>
            </a:r>
            <a:r>
              <a:rPr lang="en-US" altLang="zh-CN" sz="2000" i="1" dirty="0">
                <a:latin typeface="Consolas" panose="020B0609020204030204" charset="0"/>
                <a:cs typeface="Consolas" panose="020B0609020204030204" charset="0"/>
                <a:sym typeface="+mn-ea"/>
              </a:rPr>
              <a:t> </a:t>
            </a:r>
            <a:r>
              <a:rPr lang="zh-CN" altLang="en-US" sz="2000" dirty="0">
                <a:latin typeface="Consolas" panose="020B0609020204030204" charset="0"/>
                <a:cs typeface="Consolas" panose="020B0609020204030204" charset="0"/>
                <a:sym typeface="+mn-ea"/>
              </a:rPr>
              <a:t>配置，默认位于项目根目录的 </a:t>
            </a:r>
            <a:r>
              <a:rPr lang="zh-CN" altLang="en-US" sz="2000" i="1" dirty="0">
                <a:latin typeface="Consolas" panose="020B0609020204030204" charset="0"/>
                <a:cs typeface="Consolas" panose="020B0609020204030204" charset="0"/>
                <a:sym typeface="+mn-ea"/>
              </a:rPr>
              <a:t>.</a:t>
            </a:r>
            <a:r>
              <a:rPr lang="en-US" altLang="zh-CN" sz="2000" i="1" dirty="0">
                <a:latin typeface="Consolas" panose="020B0609020204030204" charset="0"/>
                <a:cs typeface="Consolas" panose="020B0609020204030204" charset="0"/>
                <a:sym typeface="+mn-ea"/>
              </a:rPr>
              <a:t>vscode</a:t>
            </a:r>
            <a:r>
              <a:rPr lang="en-US" altLang="zh-CN" sz="2000" dirty="0">
                <a:latin typeface="Consolas" panose="020B0609020204030204" charset="0"/>
                <a:cs typeface="Consolas" panose="020B0609020204030204" charset="0"/>
                <a:sym typeface="+mn-ea"/>
              </a:rPr>
              <a:t> </a:t>
            </a:r>
            <a:r>
              <a:rPr lang="zh-CN" altLang="en-US" sz="2000" dirty="0">
                <a:latin typeface="Consolas" panose="020B0609020204030204" charset="0"/>
                <a:cs typeface="Consolas" panose="020B0609020204030204" charset="0"/>
                <a:sym typeface="+mn-ea"/>
              </a:rPr>
              <a:t>文件夹内；</a:t>
            </a:r>
          </a:p>
          <a:p>
            <a:pPr marL="342900" lvl="0" indent="-342900" algn="l" fontAlgn="auto">
              <a:lnSpc>
                <a:spcPct val="150000"/>
              </a:lnSpc>
              <a:buFont typeface="Arial" panose="020B0604020202020204" pitchFamily="34" charset="0"/>
              <a:buChar char="•"/>
            </a:pPr>
            <a:r>
              <a:rPr lang="en-US" altLang="zh-CN" sz="2000" dirty="0">
                <a:latin typeface="Consolas" panose="020B0609020204030204" charset="0"/>
                <a:cs typeface="Consolas" panose="020B0609020204030204" charset="0"/>
                <a:sym typeface="+mn-ea"/>
              </a:rPr>
              <a:t>JSON </a:t>
            </a:r>
            <a:r>
              <a:rPr lang="zh-CN" altLang="en-US" sz="2000" dirty="0">
                <a:latin typeface="Consolas" panose="020B0609020204030204" charset="0"/>
                <a:cs typeface="Consolas" panose="020B0609020204030204" charset="0"/>
                <a:sym typeface="+mn-ea"/>
              </a:rPr>
              <a:t>是一种用</a:t>
            </a:r>
            <a:r>
              <a:rPr lang="zh-CN" altLang="en-US" sz="2000" b="1" dirty="0">
                <a:latin typeface="Consolas" panose="020B0609020204030204" charset="0"/>
                <a:cs typeface="Consolas" panose="020B0609020204030204" charset="0"/>
                <a:sym typeface="+mn-ea"/>
              </a:rPr>
              <a:t>纯文本保存结构化数据</a:t>
            </a:r>
            <a:r>
              <a:rPr lang="zh-CN" altLang="en-US" sz="2000" dirty="0">
                <a:latin typeface="Consolas" panose="020B0609020204030204" charset="0"/>
                <a:cs typeface="Consolas" panose="020B0609020204030204" charset="0"/>
                <a:sym typeface="+mn-ea"/>
              </a:rPr>
              <a:t>的格式，</a:t>
            </a:r>
            <a:r>
              <a:rPr lang="en-US" altLang="zh-CN" sz="2000" dirty="0">
                <a:latin typeface="Consolas" panose="020B0609020204030204" charset="0"/>
                <a:cs typeface="Consolas" panose="020B0609020204030204" charset="0"/>
                <a:sym typeface="+mn-ea"/>
              </a:rPr>
              <a:t>*.json </a:t>
            </a:r>
            <a:r>
              <a:rPr lang="zh-CN" altLang="en-US" sz="2000" dirty="0">
                <a:latin typeface="Consolas" panose="020B0609020204030204" charset="0"/>
                <a:cs typeface="Consolas" panose="020B0609020204030204" charset="0"/>
                <a:sym typeface="+mn-ea"/>
              </a:rPr>
              <a:t>配置文件告诉软件（比如</a:t>
            </a:r>
            <a:r>
              <a:rPr lang="en-US" altLang="zh-CN" sz="2000" dirty="0">
                <a:latin typeface="Consolas" panose="020B0609020204030204" charset="0"/>
                <a:cs typeface="Consolas" panose="020B0609020204030204" charset="0"/>
                <a:sym typeface="+mn-ea"/>
              </a:rPr>
              <a:t>VSCode）</a:t>
            </a:r>
            <a:r>
              <a:rPr lang="zh-CN" altLang="en-US" sz="2000" dirty="0">
                <a:latin typeface="Consolas" panose="020B0609020204030204" charset="0"/>
                <a:cs typeface="Consolas" panose="020B0609020204030204" charset="0"/>
                <a:sym typeface="+mn-ea"/>
              </a:rPr>
              <a:t>应该按照什么规则来工作。类似：</a:t>
            </a:r>
          </a:p>
          <a:p>
            <a:pPr marL="342900" lvl="0" indent="-342900" algn="l" fontAlgn="auto">
              <a:lnSpc>
                <a:spcPct val="150000"/>
              </a:lnSpc>
              <a:buFont typeface="Arial" panose="020B0604020202020204" pitchFamily="34" charset="0"/>
              <a:buChar char="•"/>
            </a:pPr>
            <a:endParaRPr lang="en-US" altLang="zh-CN" sz="2000" dirty="0">
              <a:latin typeface="Consolas" panose="020B0609020204030204" charset="0"/>
              <a:cs typeface="Consolas" panose="020B0609020204030204" charset="0"/>
              <a:sym typeface="+mn-ea"/>
            </a:endParaRPr>
          </a:p>
          <a:p>
            <a:pPr marL="342900" lvl="0" indent="-342900" algn="l" fontAlgn="auto">
              <a:lnSpc>
                <a:spcPct val="150000"/>
              </a:lnSpc>
              <a:buFont typeface="Arial" panose="020B0604020202020204" pitchFamily="34" charset="0"/>
              <a:buChar char="•"/>
            </a:pPr>
            <a:endParaRPr lang="zh-CN" altLang="en-US" sz="2000" dirty="0">
              <a:latin typeface="Consolas" panose="020B0609020204030204" charset="0"/>
              <a:cs typeface="Consolas" panose="020B0609020204030204" charset="0"/>
              <a:sym typeface="+mn-ea"/>
            </a:endParaRPr>
          </a:p>
          <a:p>
            <a:pPr marL="342900" lvl="0" indent="-342900" algn="l" fontAlgn="auto">
              <a:lnSpc>
                <a:spcPct val="150000"/>
              </a:lnSpc>
              <a:buFont typeface="Arial" panose="020B0604020202020204" pitchFamily="34" charset="0"/>
              <a:buChar char="•"/>
            </a:pPr>
            <a:endParaRPr lang="zh-CN" altLang="en-US" sz="2000" dirty="0">
              <a:latin typeface="Consolas" panose="020B0609020204030204" charset="0"/>
              <a:cs typeface="Consolas" panose="020B0609020204030204" charset="0"/>
              <a:sym typeface="+mn-ea"/>
            </a:endParaRPr>
          </a:p>
          <a:p>
            <a:pPr marL="342900" lvl="0" indent="-342900" algn="l" fontAlgn="auto">
              <a:lnSpc>
                <a:spcPct val="150000"/>
              </a:lnSpc>
              <a:buFont typeface="Arial" panose="020B0604020202020204" pitchFamily="34" charset="0"/>
              <a:buChar char="•"/>
            </a:pPr>
            <a:r>
              <a:rPr lang="zh-CN" altLang="en-US" sz="2000" i="1" dirty="0">
                <a:highlight>
                  <a:srgbClr val="FFFF00"/>
                </a:highlight>
                <a:latin typeface="Consolas" panose="020B0609020204030204" charset="0"/>
                <a:cs typeface="Consolas" panose="020B0609020204030204" charset="0"/>
                <a:sym typeface="+mn-ea"/>
              </a:rPr>
              <a:t>"</a:t>
            </a:r>
            <a:r>
              <a:rPr lang="en-US" altLang="zh-CN" sz="2000" i="1" dirty="0">
                <a:highlight>
                  <a:srgbClr val="FFFF00"/>
                </a:highlight>
                <a:latin typeface="Consolas" panose="020B0609020204030204" charset="0"/>
                <a:cs typeface="Consolas" panose="020B0609020204030204" charset="0"/>
                <a:sym typeface="+mn-ea"/>
              </a:rPr>
              <a:t>name": "test</a:t>
            </a:r>
            <a:r>
              <a:rPr lang="zh-CN" altLang="en-US" sz="2000" i="1" dirty="0">
                <a:highlight>
                  <a:srgbClr val="FFFF00"/>
                </a:highlight>
                <a:latin typeface="Consolas" panose="020B0609020204030204" charset="0"/>
                <a:cs typeface="Consolas" panose="020B0609020204030204" charset="0"/>
                <a:sym typeface="+mn-ea"/>
              </a:rPr>
              <a:t>"</a:t>
            </a:r>
            <a:r>
              <a:rPr lang="zh-CN" altLang="en-US" sz="2000" dirty="0">
                <a:latin typeface="Consolas" panose="020B0609020204030204" charset="0"/>
                <a:cs typeface="Consolas" panose="020B0609020204030204" charset="0"/>
                <a:sym typeface="+mn-ea"/>
              </a:rPr>
              <a:t> 是一个</a:t>
            </a:r>
            <a:r>
              <a:rPr lang="zh-CN" altLang="en-US" sz="2000" b="1" dirty="0">
                <a:latin typeface="Consolas" panose="020B0609020204030204" charset="0"/>
                <a:cs typeface="Consolas" panose="020B0609020204030204" charset="0"/>
                <a:sym typeface="+mn-ea"/>
              </a:rPr>
              <a:t>字段</a:t>
            </a:r>
            <a:r>
              <a:rPr lang="zh-CN" altLang="en-US" sz="2000" dirty="0">
                <a:latin typeface="Consolas" panose="020B0609020204030204" charset="0"/>
                <a:cs typeface="Consolas" panose="020B0609020204030204" charset="0"/>
                <a:sym typeface="+mn-ea"/>
              </a:rPr>
              <a:t>，冒号前是</a:t>
            </a:r>
            <a:r>
              <a:rPr lang="zh-CN" altLang="en-US" sz="2000" b="1" dirty="0">
                <a:latin typeface="Consolas" panose="020B0609020204030204" charset="0"/>
                <a:cs typeface="Consolas" panose="020B0609020204030204" charset="0"/>
                <a:sym typeface="+mn-ea"/>
              </a:rPr>
              <a:t>字段名</a:t>
            </a:r>
            <a:r>
              <a:rPr lang="zh-CN" altLang="en-US" sz="2000" dirty="0">
                <a:latin typeface="Consolas" panose="020B0609020204030204" charset="0"/>
                <a:cs typeface="Consolas" panose="020B0609020204030204" charset="0"/>
                <a:sym typeface="+mn-ea"/>
              </a:rPr>
              <a:t>，冒号后是</a:t>
            </a:r>
            <a:r>
              <a:rPr lang="zh-CN" altLang="en-US" sz="2000" b="1" dirty="0">
                <a:latin typeface="Consolas" panose="020B0609020204030204" charset="0"/>
                <a:cs typeface="Consolas" panose="020B0609020204030204" charset="0"/>
                <a:sym typeface="+mn-ea"/>
              </a:rPr>
              <a:t>字段值</a:t>
            </a:r>
            <a:r>
              <a:rPr lang="zh-CN" altLang="en-US" sz="2000" dirty="0">
                <a:latin typeface="Consolas" panose="020B0609020204030204" charset="0"/>
                <a:cs typeface="Consolas" panose="020B0609020204030204" charset="0"/>
                <a:sym typeface="+mn-ea"/>
              </a:rPr>
              <a:t>。</a:t>
            </a:r>
          </a:p>
          <a:p>
            <a:pPr marL="342900" lvl="0" indent="-342900" algn="l" fontAlgn="auto">
              <a:lnSpc>
                <a:spcPct val="150000"/>
              </a:lnSpc>
              <a:buFont typeface="Arial" panose="020B0604020202020204" pitchFamily="34" charset="0"/>
              <a:buChar char="•"/>
            </a:pPr>
            <a:r>
              <a:rPr lang="zh-CN" altLang="en-US" sz="2000" dirty="0">
                <a:latin typeface="Consolas" panose="020B0609020204030204" charset="0"/>
                <a:cs typeface="Consolas" panose="020B0609020204030204" charset="0"/>
                <a:sym typeface="+mn-ea"/>
              </a:rPr>
              <a:t>字段值可以是文本、数字、数组等。字段之间用逗号分隔。</a:t>
            </a:r>
          </a:p>
        </p:txBody>
      </p:sp>
      <p:pic>
        <p:nvPicPr>
          <p:cNvPr id="12" name="图片 11"/>
          <p:cNvPicPr>
            <a:picLocks noChangeAspect="1"/>
          </p:cNvPicPr>
          <p:nvPr/>
        </p:nvPicPr>
        <p:blipFill>
          <a:blip r:embed="rId3"/>
          <a:stretch>
            <a:fillRect/>
          </a:stretch>
        </p:blipFill>
        <p:spPr>
          <a:xfrm>
            <a:off x="4754880" y="3171825"/>
            <a:ext cx="2872105" cy="13804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lang="en-US" altLang="zh-CN">
                <a:solidFill>
                  <a:schemeClr val="accent1"/>
                </a:solidFill>
                <a:ea typeface="微软雅黑" panose="020B0503020204020204" pitchFamily="34" charset="-122"/>
                <a:cs typeface="Arial" panose="020B0604020202020204" pitchFamily="34" charset="0"/>
              </a:rPr>
              <a:t>VSCode </a:t>
            </a:r>
            <a:r>
              <a:rPr>
                <a:solidFill>
                  <a:schemeClr val="accent1"/>
                </a:solidFill>
                <a:ea typeface="微软雅黑" panose="020B0503020204020204" pitchFamily="34" charset="-122"/>
                <a:cs typeface="Arial" panose="020B0604020202020204" pitchFamily="34" charset="0"/>
              </a:rPr>
              <a:t>调试配置</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9</a:t>
            </a:fld>
            <a:r>
              <a:rPr lang="zh-CN" altLang="en-US" dirty="0"/>
              <a:t> </a:t>
            </a:r>
            <a:r>
              <a:rPr lang="en-US" altLang="zh-CN" dirty="0"/>
              <a:t>&gt;</a:t>
            </a:r>
            <a:endParaRPr lang="zh-CN" altLang="en-US" dirty="0"/>
          </a:p>
        </p:txBody>
      </p:sp>
      <p:sp>
        <p:nvSpPr>
          <p:cNvPr id="5" name="文本框 4"/>
          <p:cNvSpPr txBox="1"/>
          <p:nvPr/>
        </p:nvSpPr>
        <p:spPr>
          <a:xfrm>
            <a:off x="715010" y="1077595"/>
            <a:ext cx="10516235" cy="240474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en-US" altLang="zh-CN" sz="2000" i="1" dirty="0">
                <a:solidFill>
                  <a:schemeClr val="tx1"/>
                </a:solidFill>
                <a:latin typeface="Consolas" panose="020B0609020204030204" charset="0"/>
                <a:cs typeface="Consolas" panose="020B0609020204030204" charset="0"/>
                <a:sym typeface="+mn-ea"/>
              </a:rPr>
              <a:t>tasks.json</a:t>
            </a:r>
            <a:r>
              <a:rPr lang="en-US" altLang="zh-CN" sz="2000" dirty="0">
                <a:solidFill>
                  <a:schemeClr val="tx1"/>
                </a:solidFill>
                <a:latin typeface="Consolas" panose="020B0609020204030204" charset="0"/>
                <a:cs typeface="Consolas" panose="020B0609020204030204" charset="0"/>
                <a:sym typeface="+mn-ea"/>
              </a:rPr>
              <a:t>：</a:t>
            </a:r>
            <a:r>
              <a:rPr lang="zh-CN" altLang="en-US" sz="2000" dirty="0">
                <a:solidFill>
                  <a:schemeClr val="tx1"/>
                </a:solidFill>
                <a:latin typeface="Consolas" panose="020B0609020204030204" charset="0"/>
                <a:cs typeface="Consolas" panose="020B0609020204030204" charset="0"/>
                <a:sym typeface="+mn-ea"/>
              </a:rPr>
              <a:t>说明</a:t>
            </a:r>
            <a:r>
              <a:rPr lang="zh-CN" altLang="en-US" sz="2000" b="1" dirty="0">
                <a:solidFill>
                  <a:schemeClr val="tx1"/>
                </a:solidFill>
                <a:latin typeface="Consolas" panose="020B0609020204030204" charset="0"/>
                <a:cs typeface="Consolas" panose="020B0609020204030204" charset="0"/>
                <a:sym typeface="+mn-ea"/>
              </a:rPr>
              <a:t>如何构建（编译）程序</a:t>
            </a:r>
            <a:r>
              <a:rPr lang="zh-CN" altLang="en-US" sz="2000" dirty="0">
                <a:solidFill>
                  <a:schemeClr val="tx1"/>
                </a:solidFill>
                <a:latin typeface="Consolas" panose="020B0609020204030204" charset="0"/>
                <a:cs typeface="Consolas" panose="020B0609020204030204" charset="0"/>
                <a:sym typeface="+mn-ea"/>
              </a:rPr>
              <a:t>，如使用哪个编译器、编译参数等</a:t>
            </a:r>
          </a:p>
          <a:p>
            <a:pPr marL="342900" lvl="0" indent="-342900" algn="l" fontAlgn="auto">
              <a:lnSpc>
                <a:spcPct val="150000"/>
              </a:lnSpc>
              <a:buFont typeface="Arial" panose="020B0604020202020204" pitchFamily="34" charset="0"/>
              <a:buChar char="•"/>
            </a:pPr>
            <a:r>
              <a:rPr lang="en-US" altLang="zh-CN" sz="2000" i="1" dirty="0">
                <a:solidFill>
                  <a:schemeClr val="tx1"/>
                </a:solidFill>
                <a:latin typeface="Consolas" panose="020B0609020204030204" charset="0"/>
                <a:cs typeface="Consolas" panose="020B0609020204030204" charset="0"/>
                <a:sym typeface="+mn-ea"/>
              </a:rPr>
              <a:t>launch.json</a:t>
            </a:r>
            <a:r>
              <a:rPr lang="en-US" altLang="zh-CN" sz="2000" dirty="0">
                <a:solidFill>
                  <a:schemeClr val="tx1"/>
                </a:solidFill>
                <a:latin typeface="Consolas" panose="020B0609020204030204" charset="0"/>
                <a:cs typeface="Consolas" panose="020B0609020204030204" charset="0"/>
                <a:sym typeface="+mn-ea"/>
              </a:rPr>
              <a:t>：</a:t>
            </a:r>
            <a:r>
              <a:rPr lang="zh-CN" altLang="en-US" sz="2000" dirty="0">
                <a:solidFill>
                  <a:schemeClr val="tx1"/>
                </a:solidFill>
                <a:latin typeface="Consolas" panose="020B0609020204030204" charset="0"/>
                <a:cs typeface="Consolas" panose="020B0609020204030204" charset="0"/>
                <a:sym typeface="+mn-ea"/>
              </a:rPr>
              <a:t>说明</a:t>
            </a:r>
            <a:r>
              <a:rPr lang="zh-CN" altLang="en-US" sz="2000" b="1" dirty="0">
                <a:solidFill>
                  <a:schemeClr val="tx1"/>
                </a:solidFill>
                <a:latin typeface="Consolas" panose="020B0609020204030204" charset="0"/>
                <a:cs typeface="Consolas" panose="020B0609020204030204" charset="0"/>
                <a:sym typeface="+mn-ea"/>
              </a:rPr>
              <a:t>如何启动调试</a:t>
            </a:r>
            <a:r>
              <a:rPr lang="zh-CN" altLang="en-US" sz="2000" dirty="0">
                <a:solidFill>
                  <a:schemeClr val="tx1"/>
                </a:solidFill>
                <a:latin typeface="Consolas" panose="020B0609020204030204" charset="0"/>
                <a:cs typeface="Consolas" panose="020B0609020204030204" charset="0"/>
                <a:sym typeface="+mn-ea"/>
              </a:rPr>
              <a:t>，如运行哪个程序、使用哪个调试器，是否先构建等</a:t>
            </a:r>
          </a:p>
          <a:p>
            <a:pPr marL="342900" lvl="0" indent="-342900" algn="l" fontAlgn="auto">
              <a:lnSpc>
                <a:spcPct val="150000"/>
              </a:lnSpc>
              <a:buFont typeface="Arial" panose="020B0604020202020204" pitchFamily="34" charset="0"/>
              <a:buChar char="•"/>
            </a:pPr>
            <a:r>
              <a:rPr lang="zh-CN" altLang="en-US" sz="2000" dirty="0">
                <a:solidFill>
                  <a:schemeClr val="tx1"/>
                </a:solidFill>
                <a:latin typeface="Consolas" panose="020B0609020204030204" charset="0"/>
                <a:cs typeface="Consolas" panose="020B0609020204030204" charset="0"/>
                <a:sym typeface="+mn-ea"/>
              </a:rPr>
              <a:t>一般情况下，点击 `</a:t>
            </a:r>
            <a:r>
              <a:rPr lang="zh-CN" altLang="en-US" sz="2000" b="1" dirty="0">
                <a:solidFill>
                  <a:schemeClr val="tx1"/>
                </a:solidFill>
                <a:latin typeface="Consolas" panose="020B0609020204030204" charset="0"/>
                <a:cs typeface="Consolas" panose="020B0609020204030204" charset="0"/>
                <a:sym typeface="+mn-ea"/>
              </a:rPr>
              <a:t>运行和调试</a:t>
            </a:r>
            <a:r>
              <a:rPr lang="zh-CN" altLang="en-US" sz="2000" dirty="0">
                <a:solidFill>
                  <a:schemeClr val="tx1"/>
                </a:solidFill>
                <a:latin typeface="Consolas" panose="020B0609020204030204" charset="0"/>
                <a:cs typeface="Consolas" panose="020B0609020204030204" charset="0"/>
                <a:sym typeface="+mn-ea"/>
              </a:rPr>
              <a:t>`，</a:t>
            </a:r>
            <a:r>
              <a:rPr lang="en-US" altLang="zh-CN" sz="2000" dirty="0">
                <a:solidFill>
                  <a:schemeClr val="tx1"/>
                </a:solidFill>
                <a:latin typeface="Consolas" panose="020B0609020204030204" charset="0"/>
                <a:cs typeface="Consolas" panose="020B0609020204030204" charset="0"/>
                <a:sym typeface="+mn-ea"/>
              </a:rPr>
              <a:t>VSCode </a:t>
            </a:r>
            <a:r>
              <a:rPr lang="zh-CN" altLang="en-US" sz="2000" dirty="0">
                <a:solidFill>
                  <a:schemeClr val="tx1"/>
                </a:solidFill>
                <a:latin typeface="Consolas" panose="020B0609020204030204" charset="0"/>
                <a:cs typeface="Consolas" panose="020B0609020204030204" charset="0"/>
                <a:sym typeface="+mn-ea"/>
              </a:rPr>
              <a:t>会</a:t>
            </a:r>
            <a:r>
              <a:rPr lang="zh-CN" altLang="en-US" sz="2000" b="1" dirty="0">
                <a:solidFill>
                  <a:schemeClr val="tx1"/>
                </a:solidFill>
                <a:latin typeface="Consolas" panose="020B0609020204030204" charset="0"/>
                <a:cs typeface="Consolas" panose="020B0609020204030204" charset="0"/>
                <a:sym typeface="+mn-ea"/>
              </a:rPr>
              <a:t>自动生成配置文件</a:t>
            </a:r>
            <a:r>
              <a:rPr lang="zh-CN" altLang="en-US" sz="2000" dirty="0">
                <a:solidFill>
                  <a:schemeClr val="tx1"/>
                </a:solidFill>
                <a:latin typeface="Consolas" panose="020B0609020204030204" charset="0"/>
                <a:cs typeface="Consolas" panose="020B0609020204030204" charset="0"/>
                <a:sym typeface="+mn-ea"/>
              </a:rPr>
              <a:t>；也可以</a:t>
            </a:r>
            <a:r>
              <a:rPr lang="zh-CN" altLang="en-US" sz="2000" b="1" dirty="0">
                <a:solidFill>
                  <a:schemeClr val="tx1"/>
                </a:solidFill>
                <a:latin typeface="Consolas" panose="020B0609020204030204" charset="0"/>
                <a:cs typeface="Consolas" panose="020B0609020204030204" charset="0"/>
                <a:sym typeface="+mn-ea"/>
              </a:rPr>
              <a:t>手动根据需求配置</a:t>
            </a:r>
            <a:r>
              <a:rPr lang="zh-CN" altLang="en-US" sz="2000" dirty="0">
                <a:solidFill>
                  <a:schemeClr val="tx1"/>
                </a:solidFill>
                <a:latin typeface="Consolas" panose="020B0609020204030204" charset="0"/>
                <a:cs typeface="Consolas" panose="020B0609020204030204" charset="0"/>
                <a:sym typeface="+mn-ea"/>
              </a:rPr>
              <a:t>。如果自行创建配置，选择“创建一个 </a:t>
            </a:r>
            <a:r>
              <a:rPr lang="en-US" altLang="zh-CN" sz="2000" dirty="0">
                <a:solidFill>
                  <a:schemeClr val="tx1"/>
                </a:solidFill>
                <a:latin typeface="Consolas" panose="020B0609020204030204" charset="0"/>
                <a:cs typeface="Consolas" panose="020B0609020204030204" charset="0"/>
                <a:sym typeface="+mn-ea"/>
              </a:rPr>
              <a:t>launch.json </a:t>
            </a:r>
            <a:r>
              <a:rPr lang="zh-CN" altLang="en-US" sz="2000" dirty="0">
                <a:solidFill>
                  <a:schemeClr val="tx1"/>
                </a:solidFill>
                <a:latin typeface="Consolas" panose="020B0609020204030204" charset="0"/>
                <a:cs typeface="Consolas" panose="020B0609020204030204" charset="0"/>
                <a:sym typeface="+mn-ea"/>
              </a:rPr>
              <a:t>文件”，可根据提示选择 </a:t>
            </a:r>
            <a:r>
              <a:rPr lang="en-US" altLang="zh-CN" sz="2000" dirty="0">
                <a:solidFill>
                  <a:schemeClr val="tx1"/>
                </a:solidFill>
                <a:latin typeface="Consolas" panose="020B0609020204030204" charset="0"/>
                <a:cs typeface="Consolas" panose="020B0609020204030204" charset="0"/>
                <a:sym typeface="+mn-ea"/>
              </a:rPr>
              <a:t>C++（GDB/LLDB）</a:t>
            </a:r>
            <a:r>
              <a:rPr lang="zh-CN" altLang="en-US" sz="2000" dirty="0">
                <a:solidFill>
                  <a:schemeClr val="tx1"/>
                </a:solidFill>
                <a:latin typeface="Consolas" panose="020B0609020204030204" charset="0"/>
                <a:cs typeface="Consolas" panose="020B0609020204030204" charset="0"/>
                <a:sym typeface="+mn-ea"/>
              </a:rPr>
              <a:t>及对应的 </a:t>
            </a:r>
            <a:r>
              <a:rPr lang="en-US" altLang="zh-CN" sz="2000" b="1" dirty="0">
                <a:solidFill>
                  <a:schemeClr val="tx1"/>
                </a:solidFill>
                <a:latin typeface="Consolas" panose="020B0609020204030204" charset="0"/>
                <a:cs typeface="Consolas" panose="020B0609020204030204" charset="0"/>
                <a:sym typeface="+mn-ea"/>
              </a:rPr>
              <a:t>g++/clang++</a:t>
            </a:r>
            <a:r>
              <a:rPr lang="en-US" altLang="zh-CN" sz="2000" dirty="0">
                <a:solidFill>
                  <a:schemeClr val="tx1"/>
                </a:solidFill>
                <a:latin typeface="Consolas" panose="020B0609020204030204" charset="0"/>
                <a:cs typeface="Consolas" panose="020B0609020204030204" charset="0"/>
                <a:sym typeface="+mn-ea"/>
              </a:rPr>
              <a:t> </a:t>
            </a:r>
            <a:r>
              <a:rPr lang="zh-CN" altLang="en-US" sz="2000" dirty="0">
                <a:solidFill>
                  <a:schemeClr val="tx1"/>
                </a:solidFill>
                <a:latin typeface="Consolas" panose="020B0609020204030204" charset="0"/>
                <a:cs typeface="Consolas" panose="020B0609020204030204" charset="0"/>
                <a:sym typeface="+mn-ea"/>
              </a:rPr>
              <a:t>工具链（注意</a:t>
            </a:r>
            <a:r>
              <a:rPr lang="zh-CN" altLang="en-US" sz="2000" b="1" dirty="0">
                <a:solidFill>
                  <a:schemeClr val="tx1"/>
                </a:solidFill>
                <a:latin typeface="Consolas" panose="020B0609020204030204" charset="0"/>
                <a:cs typeface="Consolas" panose="020B0609020204030204" charset="0"/>
                <a:sym typeface="+mn-ea"/>
              </a:rPr>
              <a:t>不要误选</a:t>
            </a:r>
            <a:r>
              <a:rPr lang="en-US" altLang="zh-CN" sz="2000" b="1" dirty="0">
                <a:solidFill>
                  <a:schemeClr val="tx1"/>
                </a:solidFill>
                <a:latin typeface="Consolas" panose="020B0609020204030204" charset="0"/>
                <a:cs typeface="Consolas" panose="020B0609020204030204" charset="0"/>
                <a:sym typeface="+mn-ea"/>
              </a:rPr>
              <a:t> gcc/clang</a:t>
            </a:r>
            <a:r>
              <a:rPr lang="zh-CN" altLang="en-US" sz="2000" dirty="0">
                <a:solidFill>
                  <a:schemeClr val="tx1"/>
                </a:solidFill>
                <a:latin typeface="Consolas" panose="020B0609020204030204" charset="0"/>
                <a:cs typeface="Consolas" panose="020B0609020204030204" charset="0"/>
                <a:sym typeface="+mn-ea"/>
              </a:rPr>
              <a:t>）。</a:t>
            </a:r>
          </a:p>
        </p:txBody>
      </p:sp>
      <p:grpSp>
        <p:nvGrpSpPr>
          <p:cNvPr id="19" name="组合 18"/>
          <p:cNvGrpSpPr/>
          <p:nvPr/>
        </p:nvGrpSpPr>
        <p:grpSpPr>
          <a:xfrm>
            <a:off x="282575" y="3555365"/>
            <a:ext cx="11655425" cy="2398395"/>
            <a:chOff x="445" y="6684"/>
            <a:chExt cx="18355" cy="3777"/>
          </a:xfrm>
        </p:grpSpPr>
        <p:grpSp>
          <p:nvGrpSpPr>
            <p:cNvPr id="14" name="组合 13"/>
            <p:cNvGrpSpPr/>
            <p:nvPr/>
          </p:nvGrpSpPr>
          <p:grpSpPr>
            <a:xfrm>
              <a:off x="445" y="6995"/>
              <a:ext cx="13736" cy="3467"/>
              <a:chOff x="2564" y="6832"/>
              <a:chExt cx="15001" cy="3698"/>
            </a:xfrm>
          </p:grpSpPr>
          <p:pic>
            <p:nvPicPr>
              <p:cNvPr id="4" name="图片 3" descr="1792054912056"/>
              <p:cNvPicPr>
                <a:picLocks noChangeAspect="1"/>
              </p:cNvPicPr>
              <p:nvPr/>
            </p:nvPicPr>
            <p:blipFill>
              <a:blip r:embed="rId3"/>
              <a:stretch>
                <a:fillRect/>
              </a:stretch>
            </p:blipFill>
            <p:spPr>
              <a:xfrm>
                <a:off x="2564" y="6882"/>
                <a:ext cx="5079" cy="3648"/>
              </a:xfrm>
              <a:prstGeom prst="rect">
                <a:avLst/>
              </a:prstGeom>
            </p:spPr>
          </p:pic>
          <p:pic>
            <p:nvPicPr>
              <p:cNvPr id="6" name="图片 5"/>
              <p:cNvPicPr>
                <a:picLocks noChangeAspect="1"/>
              </p:cNvPicPr>
              <p:nvPr/>
            </p:nvPicPr>
            <p:blipFill>
              <a:blip r:embed="rId4"/>
              <a:stretch>
                <a:fillRect/>
              </a:stretch>
            </p:blipFill>
            <p:spPr>
              <a:xfrm>
                <a:off x="9317" y="6832"/>
                <a:ext cx="8221" cy="1222"/>
              </a:xfrm>
              <a:prstGeom prst="rect">
                <a:avLst/>
              </a:prstGeom>
            </p:spPr>
          </p:pic>
          <p:pic>
            <p:nvPicPr>
              <p:cNvPr id="7" name="图片 6"/>
              <p:cNvPicPr>
                <a:picLocks noChangeAspect="1"/>
              </p:cNvPicPr>
              <p:nvPr/>
            </p:nvPicPr>
            <p:blipFill>
              <a:blip r:embed="rId5"/>
              <a:stretch>
                <a:fillRect/>
              </a:stretch>
            </p:blipFill>
            <p:spPr>
              <a:xfrm>
                <a:off x="9317" y="8331"/>
                <a:ext cx="8248" cy="2198"/>
              </a:xfrm>
              <a:prstGeom prst="rect">
                <a:avLst/>
              </a:prstGeom>
            </p:spPr>
          </p:pic>
          <p:sp>
            <p:nvSpPr>
              <p:cNvPr id="8" name="圆角矩形 7"/>
              <p:cNvSpPr/>
              <p:nvPr/>
            </p:nvSpPr>
            <p:spPr>
              <a:xfrm>
                <a:off x="9420" y="7396"/>
                <a:ext cx="1586" cy="327"/>
              </a:xfrm>
              <a:prstGeom prst="roundRect">
                <a:avLst/>
              </a:prstGeom>
              <a:noFill/>
              <a:ln>
                <a:solidFill>
                  <a:srgbClr val="F47E0A"/>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9420" y="9494"/>
                <a:ext cx="6685" cy="60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4647" y="7465"/>
                <a:ext cx="1446" cy="391"/>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a:stCxn id="10" idx="3"/>
                <a:endCxn id="8" idx="1"/>
              </p:cNvCxnSpPr>
              <p:nvPr/>
            </p:nvCxnSpPr>
            <p:spPr>
              <a:xfrm flipV="1">
                <a:off x="6093" y="7561"/>
                <a:ext cx="3328" cy="1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8" idx="2"/>
                <a:endCxn id="9" idx="0"/>
              </p:cNvCxnSpPr>
              <p:nvPr/>
            </p:nvCxnSpPr>
            <p:spPr>
              <a:xfrm>
                <a:off x="10213" y="7723"/>
                <a:ext cx="2550" cy="177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pic>
          <p:nvPicPr>
            <p:cNvPr id="13" name="图片 12"/>
            <p:cNvPicPr>
              <a:picLocks noChangeAspect="1"/>
            </p:cNvPicPr>
            <p:nvPr/>
          </p:nvPicPr>
          <p:blipFill>
            <a:blip r:embed="rId6"/>
            <a:stretch>
              <a:fillRect/>
            </a:stretch>
          </p:blipFill>
          <p:spPr>
            <a:xfrm>
              <a:off x="14620" y="6684"/>
              <a:ext cx="4180" cy="1684"/>
            </a:xfrm>
            <a:prstGeom prst="rect">
              <a:avLst/>
            </a:prstGeom>
          </p:spPr>
        </p:pic>
        <p:sp>
          <p:nvSpPr>
            <p:cNvPr id="15" name="圆角矩形 14"/>
            <p:cNvSpPr/>
            <p:nvPr/>
          </p:nvSpPr>
          <p:spPr>
            <a:xfrm>
              <a:off x="1197" y="8024"/>
              <a:ext cx="2867" cy="687"/>
            </a:xfrm>
            <a:prstGeom prst="roundRect">
              <a:avLst/>
            </a:prstGeom>
            <a:noFill/>
            <a:ln>
              <a:solidFill>
                <a:srgbClr val="FCE202"/>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14620" y="7248"/>
              <a:ext cx="2334" cy="306"/>
            </a:xfrm>
            <a:prstGeom prst="roundRect">
              <a:avLst/>
            </a:prstGeom>
            <a:noFill/>
            <a:ln>
              <a:solidFill>
                <a:srgbClr val="FCE202"/>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a:stCxn id="15" idx="3"/>
              <a:endCxn id="8" idx="1"/>
            </p:cNvCxnSpPr>
            <p:nvPr/>
          </p:nvCxnSpPr>
          <p:spPr>
            <a:xfrm flipV="1">
              <a:off x="4064" y="7677"/>
              <a:ext cx="2659" cy="691"/>
            </a:xfrm>
            <a:prstGeom prst="straightConnector1">
              <a:avLst/>
            </a:prstGeom>
            <a:ln w="19050">
              <a:solidFill>
                <a:srgbClr val="FCE202"/>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8" idx="3"/>
              <a:endCxn id="16" idx="1"/>
            </p:cNvCxnSpPr>
            <p:nvPr/>
          </p:nvCxnSpPr>
          <p:spPr>
            <a:xfrm flipV="1">
              <a:off x="8175" y="7401"/>
              <a:ext cx="6445" cy="277"/>
            </a:xfrm>
            <a:prstGeom prst="straightConnector1">
              <a:avLst/>
            </a:prstGeom>
            <a:ln w="19050">
              <a:solidFill>
                <a:srgbClr val="FCE202"/>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a:solidFill>
                  <a:schemeClr val="accent1"/>
                </a:solidFill>
                <a:ea typeface="微软雅黑" panose="020B0503020204020204" pitchFamily="34" charset="-122"/>
                <a:cs typeface="Arial" panose="020B0604020202020204" pitchFamily="34" charset="0"/>
              </a:rPr>
              <a:t>工作区信任</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10</a:t>
            </a:fld>
            <a:r>
              <a:rPr lang="zh-CN" altLang="en-US" dirty="0"/>
              <a:t> </a:t>
            </a:r>
            <a:r>
              <a:rPr lang="en-US" altLang="zh-CN" dirty="0"/>
              <a:t>&gt;</a:t>
            </a:r>
            <a:endParaRPr lang="zh-CN" altLang="en-US" dirty="0"/>
          </a:p>
        </p:txBody>
      </p:sp>
      <p:sp>
        <p:nvSpPr>
          <p:cNvPr id="5" name="文本框 4"/>
          <p:cNvSpPr txBox="1"/>
          <p:nvPr/>
        </p:nvSpPr>
        <p:spPr>
          <a:xfrm>
            <a:off x="715010" y="1020445"/>
            <a:ext cx="10516235" cy="1093470"/>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en-US" altLang="zh-CN" sz="2000" dirty="0">
                <a:solidFill>
                  <a:schemeClr val="tx1"/>
                </a:solidFill>
                <a:latin typeface="Consolas" panose="020B0609020204030204" charset="0"/>
                <a:cs typeface="Consolas" panose="020B0609020204030204" charset="0"/>
                <a:sym typeface="+mn-ea"/>
              </a:rPr>
              <a:t>VSCode </a:t>
            </a:r>
            <a:r>
              <a:rPr lang="zh-CN" altLang="en-US" sz="2000" dirty="0">
                <a:solidFill>
                  <a:schemeClr val="tx1"/>
                </a:solidFill>
                <a:latin typeface="Consolas" panose="020B0609020204030204" charset="0"/>
                <a:cs typeface="Consolas" panose="020B0609020204030204" charset="0"/>
                <a:sym typeface="+mn-ea"/>
              </a:rPr>
              <a:t>窗口首次打开某个文件夹时一般</a:t>
            </a:r>
            <a:r>
              <a:rPr lang="zh-CN" altLang="en-US" sz="2000" b="1" dirty="0">
                <a:solidFill>
                  <a:schemeClr val="tx1"/>
                </a:solidFill>
                <a:latin typeface="Consolas" panose="020B0609020204030204" charset="0"/>
                <a:cs typeface="Consolas" panose="020B0609020204030204" charset="0"/>
                <a:sym typeface="+mn-ea"/>
              </a:rPr>
              <a:t>默认处于受限模式</a:t>
            </a:r>
            <a:r>
              <a:rPr lang="zh-CN" altLang="en-US" sz="2000" dirty="0">
                <a:solidFill>
                  <a:schemeClr val="tx1"/>
                </a:solidFill>
                <a:latin typeface="Consolas" panose="020B0609020204030204" charset="0"/>
                <a:cs typeface="Consolas" panose="020B0609020204030204" charset="0"/>
                <a:sym typeface="+mn-ea"/>
              </a:rPr>
              <a:t>，此时仅能浏览文件，不允许运行或调试，手动信任后才能点击</a:t>
            </a:r>
            <a:r>
              <a:rPr lang="en-US" altLang="zh-CN" sz="2000" dirty="0">
                <a:solidFill>
                  <a:schemeClr val="tx1"/>
                </a:solidFill>
                <a:latin typeface="Consolas" panose="020B0609020204030204" charset="0"/>
                <a:cs typeface="Consolas" panose="020B0609020204030204" charset="0"/>
                <a:sym typeface="+mn-ea"/>
              </a:rPr>
              <a:t> “</a:t>
            </a:r>
            <a:r>
              <a:rPr lang="zh-CN" altLang="en-US" sz="2000" dirty="0">
                <a:solidFill>
                  <a:schemeClr val="tx1"/>
                </a:solidFill>
                <a:latin typeface="Consolas" panose="020B0609020204030204" charset="0"/>
                <a:cs typeface="Consolas" panose="020B0609020204030204" charset="0"/>
                <a:sym typeface="+mn-ea"/>
              </a:rPr>
              <a:t>运行和调试</a:t>
            </a:r>
            <a:r>
              <a:rPr lang="en-US" altLang="zh-CN" sz="2000" dirty="0">
                <a:solidFill>
                  <a:schemeClr val="tx1"/>
                </a:solidFill>
                <a:latin typeface="Consolas" panose="020B0609020204030204" charset="0"/>
                <a:cs typeface="Consolas" panose="020B0609020204030204" charset="0"/>
                <a:sym typeface="+mn-ea"/>
              </a:rPr>
              <a:t>”</a:t>
            </a:r>
            <a:r>
              <a:rPr lang="zh-CN" altLang="en-US" sz="2000" dirty="0">
                <a:solidFill>
                  <a:schemeClr val="tx1"/>
                </a:solidFill>
                <a:latin typeface="Consolas" panose="020B0609020204030204" charset="0"/>
                <a:cs typeface="Consolas" panose="020B0609020204030204" charset="0"/>
                <a:sym typeface="+mn-ea"/>
              </a:rPr>
              <a:t>。</a:t>
            </a:r>
            <a:endParaRPr lang="en-US" altLang="zh-CN" sz="2000" dirty="0">
              <a:solidFill>
                <a:schemeClr val="tx1"/>
              </a:solidFill>
              <a:latin typeface="Consolas" panose="020B0609020204030204" charset="0"/>
              <a:cs typeface="Consolas" panose="020B0609020204030204" charset="0"/>
              <a:sym typeface="+mn-ea"/>
            </a:endParaRPr>
          </a:p>
        </p:txBody>
      </p:sp>
      <p:pic>
        <p:nvPicPr>
          <p:cNvPr id="20" name="图片 19"/>
          <p:cNvPicPr>
            <a:picLocks noChangeAspect="1"/>
          </p:cNvPicPr>
          <p:nvPr/>
        </p:nvPicPr>
        <p:blipFill>
          <a:blip r:embed="rId3"/>
          <a:srcRect b="37087"/>
          <a:stretch>
            <a:fillRect/>
          </a:stretch>
        </p:blipFill>
        <p:spPr>
          <a:xfrm>
            <a:off x="3472815" y="2171700"/>
            <a:ext cx="5000625" cy="617220"/>
          </a:xfrm>
          <a:prstGeom prst="rect">
            <a:avLst/>
          </a:prstGeom>
        </p:spPr>
      </p:pic>
      <p:pic>
        <p:nvPicPr>
          <p:cNvPr id="21" name="图片 20"/>
          <p:cNvPicPr>
            <a:picLocks noChangeAspect="1"/>
          </p:cNvPicPr>
          <p:nvPr/>
        </p:nvPicPr>
        <p:blipFill>
          <a:blip r:embed="rId4"/>
          <a:stretch>
            <a:fillRect/>
          </a:stretch>
        </p:blipFill>
        <p:spPr>
          <a:xfrm>
            <a:off x="2550160" y="2955290"/>
            <a:ext cx="7343140" cy="3557270"/>
          </a:xfrm>
          <a:prstGeom prst="rect">
            <a:avLst/>
          </a:prstGeom>
        </p:spPr>
      </p:pic>
      <p:sp>
        <p:nvSpPr>
          <p:cNvPr id="22" name="圆角矩形 21"/>
          <p:cNvSpPr/>
          <p:nvPr/>
        </p:nvSpPr>
        <p:spPr>
          <a:xfrm>
            <a:off x="7251700" y="2532380"/>
            <a:ext cx="421640" cy="21907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圆角矩形 22"/>
          <p:cNvSpPr/>
          <p:nvPr/>
        </p:nvSpPr>
        <p:spPr>
          <a:xfrm>
            <a:off x="3833495" y="5701030"/>
            <a:ext cx="1021080" cy="50609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箭头连接符 23"/>
          <p:cNvCxnSpPr>
            <a:stCxn id="22" idx="2"/>
            <a:endCxn id="23" idx="0"/>
          </p:cNvCxnSpPr>
          <p:nvPr/>
        </p:nvCxnSpPr>
        <p:spPr>
          <a:xfrm flipH="1">
            <a:off x="4344035" y="2751455"/>
            <a:ext cx="3118485" cy="2949575"/>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a:solidFill>
                  <a:schemeClr val="accent1"/>
                </a:solidFill>
                <a:ea typeface="微软雅黑" panose="020B0503020204020204" pitchFamily="34" charset="-122"/>
                <a:cs typeface="Arial" panose="020B0604020202020204" pitchFamily="34" charset="0"/>
              </a:rPr>
              <a:t>常规默认配置</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11</a:t>
            </a:fld>
            <a:r>
              <a:rPr lang="zh-CN" altLang="en-US" dirty="0"/>
              <a:t> </a:t>
            </a:r>
            <a:r>
              <a:rPr lang="en-US" altLang="zh-CN" dirty="0"/>
              <a:t>&gt;</a:t>
            </a:r>
            <a:endParaRPr lang="zh-CN" altLang="en-US" dirty="0"/>
          </a:p>
        </p:txBody>
      </p:sp>
      <p:grpSp>
        <p:nvGrpSpPr>
          <p:cNvPr id="13" name="组合 12"/>
          <p:cNvGrpSpPr/>
          <p:nvPr>
            <p:custDataLst>
              <p:tags r:id="rId1"/>
            </p:custDataLst>
          </p:nvPr>
        </p:nvGrpSpPr>
        <p:grpSpPr>
          <a:xfrm>
            <a:off x="586740" y="455295"/>
            <a:ext cx="11032490" cy="5292090"/>
            <a:chOff x="923" y="1223"/>
            <a:chExt cx="17374" cy="8334"/>
          </a:xfrm>
        </p:grpSpPr>
        <p:pic>
          <p:nvPicPr>
            <p:cNvPr id="6" name="图片 5"/>
            <p:cNvPicPr>
              <a:picLocks noChangeAspect="1"/>
            </p:cNvPicPr>
            <p:nvPr/>
          </p:nvPicPr>
          <p:blipFill>
            <a:blip r:embed="rId10"/>
            <a:stretch>
              <a:fillRect/>
            </a:stretch>
          </p:blipFill>
          <p:spPr>
            <a:xfrm>
              <a:off x="923" y="2732"/>
              <a:ext cx="8003" cy="6471"/>
            </a:xfrm>
            <a:prstGeom prst="rect">
              <a:avLst/>
            </a:prstGeom>
          </p:spPr>
        </p:pic>
        <p:sp>
          <p:nvSpPr>
            <p:cNvPr id="7" name="文本框 6"/>
            <p:cNvSpPr txBox="1"/>
            <p:nvPr>
              <p:custDataLst>
                <p:tags r:id="rId4"/>
              </p:custDataLst>
            </p:nvPr>
          </p:nvSpPr>
          <p:spPr>
            <a:xfrm>
              <a:off x="2997" y="2103"/>
              <a:ext cx="3855" cy="628"/>
            </a:xfrm>
            <a:prstGeom prst="rect">
              <a:avLst/>
            </a:prstGeom>
            <a:noFill/>
          </p:spPr>
          <p:txBody>
            <a:bodyPr wrap="square" rtlCol="0">
              <a:spAutoFit/>
            </a:bodyPr>
            <a:lstStyle/>
            <a:p>
              <a:pPr algn="ctr"/>
              <a:r>
                <a:rPr lang="en-US" altLang="zh-CN" sz="2000" i="1" dirty="0">
                  <a:latin typeface="Consolas" panose="020B0609020204030204" charset="0"/>
                  <a:cs typeface="Consolas" panose="020B0609020204030204" charset="0"/>
                  <a:sym typeface="+mn-ea"/>
                </a:rPr>
                <a:t>tasks.json</a:t>
              </a:r>
              <a:endParaRPr lang="zh-CN" altLang="en-US" sz="20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8" name="图片 7"/>
            <p:cNvPicPr>
              <a:picLocks noChangeAspect="1"/>
            </p:cNvPicPr>
            <p:nvPr/>
          </p:nvPicPr>
          <p:blipFill>
            <a:blip r:embed="rId11"/>
            <a:stretch>
              <a:fillRect/>
            </a:stretch>
          </p:blipFill>
          <p:spPr>
            <a:xfrm>
              <a:off x="9739" y="1869"/>
              <a:ext cx="8559" cy="7688"/>
            </a:xfrm>
            <a:prstGeom prst="rect">
              <a:avLst/>
            </a:prstGeom>
          </p:spPr>
        </p:pic>
        <p:sp>
          <p:nvSpPr>
            <p:cNvPr id="9" name="文本框 8"/>
            <p:cNvSpPr txBox="1"/>
            <p:nvPr>
              <p:custDataLst>
                <p:tags r:id="rId5"/>
              </p:custDataLst>
            </p:nvPr>
          </p:nvSpPr>
          <p:spPr>
            <a:xfrm>
              <a:off x="12091" y="1223"/>
              <a:ext cx="3855" cy="628"/>
            </a:xfrm>
            <a:prstGeom prst="rect">
              <a:avLst/>
            </a:prstGeom>
            <a:noFill/>
          </p:spPr>
          <p:txBody>
            <a:bodyPr wrap="square" rtlCol="0">
              <a:spAutoFit/>
            </a:bodyPr>
            <a:lstStyle/>
            <a:p>
              <a:pPr algn="ctr"/>
              <a:r>
                <a:rPr lang="en-US" altLang="zh-CN" sz="2000" i="1" dirty="0">
                  <a:latin typeface="Consolas" panose="020B0609020204030204" charset="0"/>
                  <a:cs typeface="Consolas" panose="020B0609020204030204" charset="0"/>
                  <a:sym typeface="+mn-ea"/>
                </a:rPr>
                <a:t>launch.json</a:t>
              </a:r>
              <a:endParaRPr lang="zh-CN" altLang="en-US" sz="20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圆角矩形 3"/>
            <p:cNvSpPr/>
            <p:nvPr>
              <p:custDataLst>
                <p:tags r:id="rId6"/>
              </p:custDataLst>
            </p:nvPr>
          </p:nvSpPr>
          <p:spPr>
            <a:xfrm>
              <a:off x="11126" y="3950"/>
              <a:ext cx="7079" cy="327"/>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11126" y="5985"/>
              <a:ext cx="5960" cy="327"/>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11126" y="8378"/>
              <a:ext cx="6350" cy="327"/>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custDataLst>
                <p:tags r:id="rId7"/>
              </p:custDataLst>
            </p:nvPr>
          </p:nvSpPr>
          <p:spPr>
            <a:xfrm>
              <a:off x="2419" y="4337"/>
              <a:ext cx="5696" cy="327"/>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a:stCxn id="11" idx="3"/>
              <a:endCxn id="10" idx="1"/>
            </p:cNvCxnSpPr>
            <p:nvPr/>
          </p:nvCxnSpPr>
          <p:spPr>
            <a:xfrm>
              <a:off x="8115" y="4501"/>
              <a:ext cx="3011" cy="4041"/>
            </a:xfrm>
            <a:prstGeom prst="straightConnector1">
              <a:avLst/>
            </a:prstGeom>
            <a:ln w="127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14" name="文本框 13"/>
          <p:cNvSpPr txBox="1"/>
          <p:nvPr/>
        </p:nvSpPr>
        <p:spPr>
          <a:xfrm>
            <a:off x="1369060" y="5652135"/>
            <a:ext cx="3677920" cy="296545"/>
          </a:xfrm>
          <a:prstGeom prst="rect">
            <a:avLst/>
          </a:prstGeom>
        </p:spPr>
        <p:txBody>
          <a:bodyPr wrap="square">
            <a:spAutoFit/>
          </a:bodyPr>
          <a:lstStyle/>
          <a:p>
            <a:pPr>
              <a:lnSpc>
                <a:spcPts val="1600"/>
              </a:lnSpc>
            </a:pPr>
            <a:r>
              <a:rPr lang="en-US" altLang="zh-CN">
                <a:solidFill>
                  <a:schemeClr val="tx1"/>
                </a:solidFill>
                <a:latin typeface="Arial" panose="020B0604020202020204" pitchFamily="34" charset="0"/>
                <a:ea typeface="Consolas" panose="020B0609020204030204"/>
                <a:cs typeface="Arial" panose="020B0604020202020204" pitchFamily="34" charset="0"/>
                <a:hlinkClick r:id="rId12" action="ppaction://hlinkfile"/>
              </a:rPr>
              <a:t>Debug C++ in Visual Studio Code</a:t>
            </a:r>
          </a:p>
        </p:txBody>
      </p:sp>
      <p:sp>
        <p:nvSpPr>
          <p:cNvPr id="15" name="文本框 14"/>
          <p:cNvSpPr txBox="1"/>
          <p:nvPr/>
        </p:nvSpPr>
        <p:spPr>
          <a:xfrm>
            <a:off x="7065645" y="5955030"/>
            <a:ext cx="3678555" cy="368300"/>
          </a:xfrm>
          <a:prstGeom prst="rect">
            <a:avLst/>
          </a:prstGeom>
          <a:noFill/>
        </p:spPr>
        <p:txBody>
          <a:bodyPr wrap="square" rtlCol="0">
            <a:spAutoFit/>
          </a:bodyPr>
          <a:lstStyle/>
          <a:p>
            <a:pPr algn="ctr"/>
            <a:r>
              <a:rPr lang="en-US" altLang="zh-CN" dirty="0">
                <a:latin typeface="Arial" panose="020B0604020202020204" pitchFamily="34" charset="0"/>
                <a:ea typeface="微软雅黑" panose="020B0503020204020204" pitchFamily="34" charset="-122"/>
                <a:cs typeface="+mn-ea"/>
                <a:sym typeface="Arial" panose="020B0604020202020204" pitchFamily="34" charset="0"/>
                <a:hlinkClick r:id="rId13" action="ppaction://hlinkfile"/>
              </a:rPr>
              <a:t>Configure C/C++ debugging</a:t>
            </a:r>
            <a:endParaRPr lang="en-US" altLang="zh-CN"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文本框 15"/>
          <p:cNvSpPr txBox="1"/>
          <p:nvPr/>
        </p:nvSpPr>
        <p:spPr>
          <a:xfrm>
            <a:off x="1176020" y="5986780"/>
            <a:ext cx="4064000" cy="368300"/>
          </a:xfrm>
          <a:prstGeom prst="rect">
            <a:avLst/>
          </a:prstGeom>
          <a:noFill/>
        </p:spPr>
        <p:txBody>
          <a:bodyPr wrap="square" rtlCol="0">
            <a:spAutoFit/>
          </a:bodyPr>
          <a:lstStyle/>
          <a:p>
            <a:pPr algn="ctr"/>
            <a:r>
              <a:rPr lang="en-US" altLang="zh-CN" dirty="0">
                <a:latin typeface="Arial" panose="020B0604020202020204" pitchFamily="34" charset="0"/>
                <a:ea typeface="微软雅黑" panose="020B0503020204020204" pitchFamily="34" charset="-122"/>
                <a:cs typeface="+mn-ea"/>
                <a:sym typeface="Arial" panose="020B0604020202020204" pitchFamily="34" charset="0"/>
                <a:hlinkClick r:id="rId14" action="ppaction://hlinkfile"/>
              </a:rPr>
              <a:t>Integrate with External Tools via Tasks</a:t>
            </a:r>
            <a:endParaRPr lang="en-US" altLang="zh-CN"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圆角矩形 16"/>
          <p:cNvSpPr/>
          <p:nvPr>
            <p:custDataLst>
              <p:tags r:id="rId2"/>
            </p:custDataLst>
          </p:nvPr>
        </p:nvSpPr>
        <p:spPr>
          <a:xfrm>
            <a:off x="7065645" y="1790065"/>
            <a:ext cx="1370330" cy="20891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custDataLst>
              <p:tags r:id="rId3"/>
            </p:custDataLst>
          </p:nvPr>
        </p:nvSpPr>
        <p:spPr>
          <a:xfrm>
            <a:off x="7146925" y="3297555"/>
            <a:ext cx="1190625" cy="19177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337550" y="966826"/>
            <a:ext cx="3604069" cy="584775"/>
          </a:xfrm>
          <a:prstGeom prst="rect">
            <a:avLst/>
          </a:prstGeom>
          <a:noFill/>
        </p:spPr>
        <p:txBody>
          <a:bodyPr wrap="square" rtlCol="0">
            <a:spAutoFit/>
          </a:bodyPr>
          <a:lstStyle/>
          <a:p>
            <a:pPr algn="l"/>
            <a:r>
              <a:rPr lang="zh-CN" altLang="en-US"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此处展示</a:t>
            </a:r>
            <a:r>
              <a:rPr lang="en-US" altLang="zh-CN"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 windows </a:t>
            </a:r>
            <a:r>
              <a:rPr lang="zh-CN" altLang="en-US"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版本，</a:t>
            </a:r>
            <a:r>
              <a:rPr lang="en-US" altLang="zh-CN"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mac </a:t>
            </a:r>
            <a:r>
              <a:rPr lang="zh-CN" altLang="en-US"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须改 </a:t>
            </a:r>
            <a:r>
              <a:rPr lang="en-US" altLang="zh-CN"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type</a:t>
            </a:r>
            <a:r>
              <a:rPr lang="zh-CN" altLang="en-US"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 为</a:t>
            </a:r>
            <a:r>
              <a:rPr lang="en-US" altLang="zh-CN"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 lldb</a:t>
            </a:r>
            <a:r>
              <a:rPr lang="zh-CN" altLang="en-US"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，否则调试时无法输入</a:t>
            </a:r>
          </a:p>
        </p:txBody>
      </p:sp>
      <p:cxnSp>
        <p:nvCxnSpPr>
          <p:cNvPr id="20" name="直接箭头连接符 19"/>
          <p:cNvCxnSpPr>
            <a:cxnSpLocks/>
            <a:stCxn id="17" idx="3"/>
            <a:endCxn id="19" idx="2"/>
          </p:cNvCxnSpPr>
          <p:nvPr/>
        </p:nvCxnSpPr>
        <p:spPr>
          <a:xfrm flipV="1">
            <a:off x="8435975" y="1551601"/>
            <a:ext cx="1703610" cy="342922"/>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8" idx="3"/>
          </p:cNvCxnSpPr>
          <p:nvPr/>
        </p:nvCxnSpPr>
        <p:spPr>
          <a:xfrm flipV="1">
            <a:off x="8337550" y="1506220"/>
            <a:ext cx="2033270" cy="1887220"/>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12</a:t>
            </a:fld>
            <a:r>
              <a:rPr lang="zh-CN" altLang="en-US" dirty="0"/>
              <a:t> </a:t>
            </a:r>
            <a:r>
              <a:rPr lang="en-US" altLang="zh-CN" dirty="0"/>
              <a:t>&gt;</a:t>
            </a:r>
            <a:endParaRPr lang="zh-CN" altLang="en-US" dirty="0"/>
          </a:p>
        </p:txBody>
      </p:sp>
      <p:sp>
        <p:nvSpPr>
          <p:cNvPr id="8" name="文本框 28"/>
          <p:cNvSpPr txBox="1"/>
          <p:nvPr/>
        </p:nvSpPr>
        <p:spPr>
          <a:xfrm>
            <a:off x="1227455" y="1257935"/>
            <a:ext cx="5049520" cy="30460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fontAlgn="auto">
              <a:lnSpc>
                <a:spcPct val="150000"/>
              </a:lnSpc>
              <a:buFont typeface="Arial" panose="020B0604020202020204" pitchFamily="34" charset="0"/>
              <a:buChar char="•"/>
              <a:defRPr/>
            </a:pPr>
            <a:r>
              <a:rPr lang="zh-CN" altLang="en-US" sz="3200" b="1" dirty="0">
                <a:latin typeface="Arial" panose="020B0604020202020204" pitchFamily="34" charset="0"/>
                <a:ea typeface="微软雅黑" panose="020B0503020204020204" pitchFamily="34" charset="-122"/>
                <a:cs typeface="+mn-ea"/>
                <a:sym typeface="Arial" panose="020B0604020202020204" pitchFamily="34" charset="0"/>
              </a:rPr>
              <a:t>基本概念</a:t>
            </a:r>
            <a:endParaRPr lang="zh-CN" altLang="en-US" sz="3200" b="1"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endParaRPr>
          </a:p>
          <a:p>
            <a:pPr marL="342900" lvl="0" indent="-342900" fontAlgn="auto">
              <a:lnSpc>
                <a:spcPct val="150000"/>
              </a:lnSpc>
              <a:buFont typeface="Arial" panose="020B0604020202020204" pitchFamily="34" charset="0"/>
              <a:buChar char="•"/>
              <a:defRPr/>
            </a:pPr>
            <a:r>
              <a:rPr lang="zh-CN" altLang="en-US" sz="3200" b="1" dirty="0">
                <a:latin typeface="Arial" panose="020B0604020202020204" pitchFamily="34" charset="0"/>
                <a:ea typeface="微软雅黑" panose="020B0503020204020204" pitchFamily="34" charset="-122"/>
                <a:cs typeface="+mn-ea"/>
                <a:sym typeface="Arial" panose="020B0604020202020204" pitchFamily="34" charset="0"/>
              </a:rPr>
              <a:t>环境配置</a:t>
            </a:r>
            <a:endParaRPr lang="en-US" altLang="zh-CN" sz="3200" b="1" dirty="0">
              <a:latin typeface="Arial" panose="020B0604020202020204" pitchFamily="34" charset="0"/>
              <a:ea typeface="微软雅黑" panose="020B0503020204020204" pitchFamily="34" charset="-122"/>
              <a:cs typeface="+mn-ea"/>
              <a:sym typeface="Arial" panose="020B0604020202020204" pitchFamily="34" charset="0"/>
            </a:endParaRPr>
          </a:p>
          <a:p>
            <a:pPr marL="342900" indent="-342900" fontAlgn="auto">
              <a:lnSpc>
                <a:spcPct val="150000"/>
              </a:lnSpc>
              <a:buFont typeface="Arial" panose="020B0604020202020204" pitchFamily="34" charset="0"/>
              <a:buChar char="•"/>
              <a:defRPr/>
            </a:pPr>
            <a:r>
              <a:rPr lang="zh-CN" altLang="en-US" sz="3200" b="1"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rPr>
              <a:t>基本方法</a:t>
            </a:r>
            <a:endParaRPr lang="en-US" altLang="zh-CN" sz="3200" b="1"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endParaRPr>
          </a:p>
          <a:p>
            <a:pPr marL="342900" indent="-342900" fontAlgn="auto">
              <a:lnSpc>
                <a:spcPct val="150000"/>
              </a:lnSpc>
              <a:buFont typeface="Arial" panose="020B0604020202020204" pitchFamily="34" charset="0"/>
              <a:buChar char="•"/>
              <a:defRPr/>
            </a:pPr>
            <a:r>
              <a:rPr lang="zh-CN" altLang="en-US" sz="3200" b="1" dirty="0">
                <a:latin typeface="Arial" panose="020B0604020202020204" pitchFamily="34" charset="0"/>
                <a:ea typeface="微软雅黑" panose="020B0503020204020204" pitchFamily="34" charset="-122"/>
                <a:cs typeface="+mn-ea"/>
                <a:sym typeface="Arial" panose="020B0604020202020204" pitchFamily="34" charset="0"/>
              </a:rPr>
              <a:t>高级功能</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lang="en-US" altLang="zh-CN">
                <a:solidFill>
                  <a:schemeClr val="accent1"/>
                </a:solidFill>
                <a:ea typeface="微软雅黑" panose="020B0503020204020204" pitchFamily="34" charset="-122"/>
                <a:cs typeface="Arial" panose="020B0604020202020204" pitchFamily="34" charset="0"/>
              </a:rPr>
              <a:t>Demo.cpp</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13</a:t>
            </a:fld>
            <a:r>
              <a:rPr lang="zh-CN" altLang="en-US" dirty="0"/>
              <a:t> </a:t>
            </a:r>
            <a:r>
              <a:rPr lang="en-US" altLang="zh-CN" dirty="0"/>
              <a:t>&gt;</a:t>
            </a:r>
            <a:endParaRPr lang="zh-CN" altLang="en-US" dirty="0"/>
          </a:p>
        </p:txBody>
      </p:sp>
      <p:pic>
        <p:nvPicPr>
          <p:cNvPr id="4" name="图片 3"/>
          <p:cNvPicPr>
            <a:picLocks noChangeAspect="1"/>
          </p:cNvPicPr>
          <p:nvPr/>
        </p:nvPicPr>
        <p:blipFill>
          <a:blip r:embed="rId3"/>
          <a:stretch>
            <a:fillRect/>
          </a:stretch>
        </p:blipFill>
        <p:spPr>
          <a:xfrm>
            <a:off x="848360" y="1179830"/>
            <a:ext cx="6464300" cy="4808220"/>
          </a:xfrm>
          <a:prstGeom prst="rect">
            <a:avLst/>
          </a:prstGeom>
        </p:spPr>
      </p:pic>
      <p:sp>
        <p:nvSpPr>
          <p:cNvPr id="10" name="文本框 9"/>
          <p:cNvSpPr txBox="1"/>
          <p:nvPr/>
        </p:nvSpPr>
        <p:spPr>
          <a:xfrm>
            <a:off x="7677150" y="2208530"/>
            <a:ext cx="4139565" cy="244030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依次计算 1×2、2×2、……、10×2，将结果累加。</a:t>
            </a:r>
          </a:p>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第 5 轮输出：</a:t>
            </a:r>
            <a:r>
              <a:rPr lang="en-US" altLang="zh-CN" sz="2000" i="1" dirty="0">
                <a:solidFill>
                  <a:schemeClr val="tx1"/>
                </a:solidFill>
                <a:latin typeface="Consolas" panose="020B0609020204030204" charset="0"/>
                <a:cs typeface="Consolas" panose="020B0609020204030204" charset="0"/>
                <a:sym typeface="+mn-ea"/>
              </a:rPr>
              <a:t>Halfway</a:t>
            </a:r>
          </a:p>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最终输出：</a:t>
            </a:r>
            <a:r>
              <a:rPr lang="en-US" altLang="zh-CN" sz="2000" i="1" dirty="0">
                <a:solidFill>
                  <a:schemeClr val="tx1"/>
                </a:solidFill>
                <a:latin typeface="Consolas" panose="020B0609020204030204" charset="0"/>
                <a:cs typeface="Consolas" panose="020B0609020204030204" charset="0"/>
                <a:sym typeface="+mn-ea"/>
              </a:rPr>
              <a:t>Total: 110</a:t>
            </a:r>
            <a:endParaRPr lang="en-US" altLang="zh-CN" sz="2000" dirty="0">
              <a:solidFill>
                <a:schemeClr val="tx1"/>
              </a:solidFill>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a:solidFill>
                  <a:schemeClr val="accent1"/>
                </a:solidFill>
                <a:ea typeface="微软雅黑" panose="020B0503020204020204" pitchFamily="34" charset="-122"/>
                <a:cs typeface="Arial" panose="020B0604020202020204" pitchFamily="34" charset="0"/>
              </a:rPr>
              <a:t>启动调试</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14</a:t>
            </a:fld>
            <a:r>
              <a:rPr lang="zh-CN" altLang="en-US" dirty="0"/>
              <a:t> </a:t>
            </a:r>
            <a:r>
              <a:rPr lang="en-US" altLang="zh-CN" dirty="0"/>
              <a:t>&gt;</a:t>
            </a:r>
            <a:endParaRPr lang="zh-CN" altLang="en-US" dirty="0"/>
          </a:p>
        </p:txBody>
      </p:sp>
      <p:sp>
        <p:nvSpPr>
          <p:cNvPr id="5" name="文本框 4"/>
          <p:cNvSpPr txBox="1"/>
          <p:nvPr/>
        </p:nvSpPr>
        <p:spPr>
          <a:xfrm>
            <a:off x="814070" y="1052195"/>
            <a:ext cx="10365740" cy="197167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点击代码左侧的编辑器的侧栏来</a:t>
            </a:r>
            <a:r>
              <a:rPr lang="zh-CN" altLang="en-US" sz="2000" b="1" dirty="0">
                <a:solidFill>
                  <a:schemeClr val="tx1"/>
                </a:solidFill>
                <a:sym typeface="+mn-ea"/>
              </a:rPr>
              <a:t>设置断点</a:t>
            </a:r>
            <a:r>
              <a:rPr lang="zh-CN" altLang="en-US" sz="2000" dirty="0">
                <a:solidFill>
                  <a:schemeClr val="tx1"/>
                </a:solidFill>
                <a:sym typeface="+mn-ea"/>
              </a:rPr>
              <a:t>，或者使用快捷键 </a:t>
            </a:r>
            <a:r>
              <a:rPr lang="en-US" altLang="zh-CN" sz="2000" dirty="0">
                <a:solidFill>
                  <a:schemeClr val="tx1"/>
                </a:solidFill>
                <a:sym typeface="+mn-ea"/>
              </a:rPr>
              <a:t>F9；</a:t>
            </a:r>
          </a:p>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点击左侧“</a:t>
            </a:r>
            <a:r>
              <a:rPr lang="zh-CN" altLang="en-US" sz="2000" b="1" dirty="0">
                <a:solidFill>
                  <a:schemeClr val="tx1"/>
                </a:solidFill>
                <a:sym typeface="+mn-ea"/>
              </a:rPr>
              <a:t>运行和调试</a:t>
            </a:r>
            <a:r>
              <a:rPr lang="zh-CN" altLang="en-US" sz="2000" dirty="0">
                <a:solidFill>
                  <a:schemeClr val="tx1"/>
                </a:solidFill>
                <a:sym typeface="+mn-ea"/>
              </a:rPr>
              <a:t>”，或者使用快捷键 </a:t>
            </a:r>
            <a:r>
              <a:rPr lang="en-US" altLang="zh-CN" sz="2000" dirty="0">
                <a:solidFill>
                  <a:schemeClr val="tx1"/>
                </a:solidFill>
                <a:sym typeface="+mn-ea"/>
              </a:rPr>
              <a:t>F5；</a:t>
            </a:r>
          </a:p>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编译成功后，程序会在断点处暂停。此时可以</a:t>
            </a:r>
            <a:r>
              <a:rPr lang="zh-CN" altLang="en-US" sz="2000" b="1" dirty="0">
                <a:solidFill>
                  <a:schemeClr val="tx1"/>
                </a:solidFill>
                <a:sym typeface="+mn-ea"/>
              </a:rPr>
              <a:t>查看变量、单步执行、添加监视表达式</a:t>
            </a:r>
            <a:r>
              <a:rPr lang="zh-CN" altLang="en-US" sz="2000" dirty="0">
                <a:solidFill>
                  <a:schemeClr val="tx1"/>
                </a:solidFill>
                <a:sym typeface="+mn-ea"/>
              </a:rPr>
              <a:t>等。</a:t>
            </a:r>
          </a:p>
        </p:txBody>
      </p:sp>
      <p:pic>
        <p:nvPicPr>
          <p:cNvPr id="10" name="图片 9"/>
          <p:cNvPicPr>
            <a:picLocks noChangeAspect="1"/>
          </p:cNvPicPr>
          <p:nvPr/>
        </p:nvPicPr>
        <p:blipFill>
          <a:blip r:embed="rId3"/>
          <a:srcRect b="40546"/>
          <a:stretch>
            <a:fillRect/>
          </a:stretch>
        </p:blipFill>
        <p:spPr>
          <a:xfrm>
            <a:off x="1941195" y="3023870"/>
            <a:ext cx="8112125" cy="2559685"/>
          </a:xfrm>
          <a:prstGeom prst="rect">
            <a:avLst/>
          </a:prstGeom>
        </p:spPr>
      </p:pic>
      <p:cxnSp>
        <p:nvCxnSpPr>
          <p:cNvPr id="11" name="直接箭头连接符 10"/>
          <p:cNvCxnSpPr/>
          <p:nvPr/>
        </p:nvCxnSpPr>
        <p:spPr>
          <a:xfrm flipH="1" flipV="1">
            <a:off x="2979420" y="3260725"/>
            <a:ext cx="788035" cy="47307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8738870" y="3297555"/>
            <a:ext cx="702945" cy="48514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941195" y="3782695"/>
            <a:ext cx="3141980" cy="337185"/>
          </a:xfrm>
          <a:prstGeom prst="rect">
            <a:avLst/>
          </a:prstGeom>
          <a:noFill/>
        </p:spPr>
        <p:txBody>
          <a:bodyPr wrap="square" rtlCol="0">
            <a:spAutoFit/>
          </a:bodyPr>
          <a:lstStyle/>
          <a:p>
            <a:pPr algn="ctr"/>
            <a:r>
              <a:rPr lang="zh-CN" altLang="en-US"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建议统一使用左侧</a:t>
            </a:r>
            <a:r>
              <a:rPr lang="en-US" altLang="zh-CN"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a:t>
            </a:r>
            <a:r>
              <a:rPr lang="zh-CN" altLang="en-US"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运行与调试</a:t>
            </a:r>
            <a:r>
              <a:rPr lang="en-US" altLang="zh-CN"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a:t>
            </a:r>
          </a:p>
        </p:txBody>
      </p:sp>
      <p:sp>
        <p:nvSpPr>
          <p:cNvPr id="8" name="文本框 7"/>
          <p:cNvSpPr txBox="1"/>
          <p:nvPr/>
        </p:nvSpPr>
        <p:spPr>
          <a:xfrm>
            <a:off x="6583045" y="3782695"/>
            <a:ext cx="4363720" cy="337185"/>
          </a:xfrm>
          <a:prstGeom prst="rect">
            <a:avLst/>
          </a:prstGeom>
          <a:noFill/>
        </p:spPr>
        <p:txBody>
          <a:bodyPr wrap="square" rtlCol="0">
            <a:spAutoFit/>
          </a:bodyPr>
          <a:lstStyle/>
          <a:p>
            <a:pPr algn="ctr"/>
            <a:r>
              <a:rPr lang="zh-CN" sz="1600" dirty="0">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右上角的该按钮可能无法正常读取配置文件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lang="zh-CN" altLang="en-US" dirty="0">
                <a:solidFill>
                  <a:schemeClr val="accent1"/>
                </a:solidFill>
                <a:ea typeface="微软雅黑" panose="020B0503020204020204" pitchFamily="34" charset="-122"/>
                <a:cs typeface="Arial" panose="020B0604020202020204" pitchFamily="34" charset="0"/>
              </a:rPr>
              <a:t>断点</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15</a:t>
            </a:fld>
            <a:r>
              <a:rPr lang="zh-CN" altLang="en-US" dirty="0"/>
              <a:t> </a:t>
            </a:r>
            <a:r>
              <a:rPr lang="en-US" altLang="zh-CN" dirty="0"/>
              <a:t>&gt;</a:t>
            </a:r>
            <a:endParaRPr lang="zh-CN" altLang="en-US" dirty="0"/>
          </a:p>
        </p:txBody>
      </p:sp>
      <p:sp>
        <p:nvSpPr>
          <p:cNvPr id="5" name="文本框 4"/>
          <p:cNvSpPr txBox="1"/>
          <p:nvPr/>
        </p:nvSpPr>
        <p:spPr>
          <a:xfrm>
            <a:off x="814070" y="1257300"/>
            <a:ext cx="9853930" cy="165290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含义</a:t>
            </a:r>
            <a:r>
              <a:rPr lang="zh-CN" altLang="en-US" sz="2000" dirty="0">
                <a:solidFill>
                  <a:schemeClr val="tx1"/>
                </a:solidFill>
                <a:sym typeface="+mn-ea"/>
              </a:rPr>
              <a:t>：每次</a:t>
            </a:r>
            <a:r>
              <a:rPr lang="zh-CN" altLang="en-US" sz="2000" b="1" dirty="0">
                <a:solidFill>
                  <a:schemeClr val="tx1"/>
                </a:solidFill>
                <a:sym typeface="+mn-ea"/>
              </a:rPr>
              <a:t>执行到指定行时暂停</a:t>
            </a:r>
            <a:r>
              <a:rPr lang="zh-CN" altLang="en-US" sz="2000" dirty="0">
                <a:solidFill>
                  <a:schemeClr val="tx1"/>
                </a:solidFill>
                <a:sym typeface="+mn-ea"/>
              </a:rPr>
              <a:t>。</a:t>
            </a:r>
          </a:p>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在左侧“断点”面板可以看到所有断点，可</a:t>
            </a:r>
            <a:r>
              <a:rPr lang="zh-CN" altLang="en-US" sz="2000" b="1" dirty="0">
                <a:solidFill>
                  <a:schemeClr val="tx1"/>
                </a:solidFill>
                <a:sym typeface="+mn-ea"/>
              </a:rPr>
              <a:t>激活/禁用、删除断点</a:t>
            </a:r>
            <a:r>
              <a:rPr lang="zh-CN" altLang="en-US" sz="2000" dirty="0">
                <a:solidFill>
                  <a:schemeClr val="tx1"/>
                </a:solidFill>
                <a:sym typeface="+mn-ea"/>
              </a:rPr>
              <a:t>等。也可以在编辑器中右键断点，进行相关操作。</a:t>
            </a:r>
          </a:p>
        </p:txBody>
      </p:sp>
      <p:pic>
        <p:nvPicPr>
          <p:cNvPr id="4" name="图片 3" descr="1792057620055"/>
          <p:cNvPicPr>
            <a:picLocks noChangeAspect="1"/>
          </p:cNvPicPr>
          <p:nvPr/>
        </p:nvPicPr>
        <p:blipFill>
          <a:blip r:embed="rId3"/>
          <a:stretch>
            <a:fillRect/>
          </a:stretch>
        </p:blipFill>
        <p:spPr>
          <a:xfrm>
            <a:off x="1847215" y="3290570"/>
            <a:ext cx="3375025" cy="1706245"/>
          </a:xfrm>
          <a:prstGeom prst="rect">
            <a:avLst/>
          </a:prstGeom>
        </p:spPr>
      </p:pic>
      <p:pic>
        <p:nvPicPr>
          <p:cNvPr id="6" name="图片 5" descr="1792057642027"/>
          <p:cNvPicPr>
            <a:picLocks noChangeAspect="1"/>
          </p:cNvPicPr>
          <p:nvPr/>
        </p:nvPicPr>
        <p:blipFill>
          <a:blip r:embed="rId4"/>
          <a:stretch>
            <a:fillRect/>
          </a:stretch>
        </p:blipFill>
        <p:spPr>
          <a:xfrm>
            <a:off x="6798310" y="3303270"/>
            <a:ext cx="2854960" cy="16935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a:solidFill>
                  <a:schemeClr val="accent1"/>
                </a:solidFill>
                <a:ea typeface="微软雅黑" panose="020B0503020204020204" pitchFamily="34" charset="-122"/>
                <a:cs typeface="Arial" panose="020B0604020202020204" pitchFamily="34" charset="0"/>
              </a:rPr>
              <a:t>例子</a:t>
            </a:r>
            <a:endParaRPr lang="en-US" altLang="zh-CN">
              <a:solidFill>
                <a:schemeClr val="accent1"/>
              </a:solidFill>
              <a:ea typeface="微软雅黑" panose="020B0503020204020204" pitchFamily="34" charset="-122"/>
              <a:cs typeface="Arial" panose="020B0604020202020204" pitchFamily="34" charset="0"/>
            </a:endParaRP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16</a:t>
            </a:fld>
            <a:r>
              <a:rPr lang="zh-CN" altLang="en-US" dirty="0"/>
              <a:t> </a:t>
            </a:r>
            <a:r>
              <a:rPr lang="en-US" altLang="zh-CN" dirty="0"/>
              <a:t>&gt;</a:t>
            </a:r>
            <a:endParaRPr lang="zh-CN" altLang="en-US" dirty="0"/>
          </a:p>
        </p:txBody>
      </p:sp>
      <p:sp>
        <p:nvSpPr>
          <p:cNvPr id="5" name="文本框 4"/>
          <p:cNvSpPr txBox="1"/>
          <p:nvPr/>
        </p:nvSpPr>
        <p:spPr>
          <a:xfrm>
            <a:off x="814070" y="1174750"/>
            <a:ext cx="9356725" cy="617220"/>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sz="2000" dirty="0">
                <a:solidFill>
                  <a:schemeClr val="tx1"/>
                </a:solidFill>
                <a:sym typeface="+mn-ea"/>
              </a:rPr>
              <a:t>多次循环时如果想要</a:t>
            </a:r>
            <a:r>
              <a:rPr lang="zh-CN" sz="2000" b="1" dirty="0">
                <a:solidFill>
                  <a:schemeClr val="tx1"/>
                </a:solidFill>
                <a:sym typeface="+mn-ea"/>
              </a:rPr>
              <a:t>查看循环结束时的结果</a:t>
            </a:r>
            <a:r>
              <a:rPr lang="zh-CN" sz="2000" dirty="0">
                <a:solidFill>
                  <a:schemeClr val="tx1"/>
                </a:solidFill>
                <a:sym typeface="+mn-ea"/>
              </a:rPr>
              <a:t>，可以</a:t>
            </a:r>
            <a:r>
              <a:rPr lang="zh-CN" sz="2000" b="1" dirty="0">
                <a:solidFill>
                  <a:schemeClr val="tx1"/>
                </a:solidFill>
                <a:sym typeface="+mn-ea"/>
              </a:rPr>
              <a:t>在循环体后打断点</a:t>
            </a:r>
            <a:r>
              <a:rPr lang="zh-CN" sz="2000" dirty="0">
                <a:solidFill>
                  <a:schemeClr val="tx1"/>
                </a:solidFill>
                <a:sym typeface="+mn-ea"/>
              </a:rPr>
              <a:t>，无需多次点击</a:t>
            </a:r>
            <a:r>
              <a:rPr lang="en-US" altLang="zh-CN" sz="2000" dirty="0">
                <a:solidFill>
                  <a:schemeClr val="tx1"/>
                </a:solidFill>
                <a:sym typeface="+mn-ea"/>
              </a:rPr>
              <a:t>“</a:t>
            </a:r>
            <a:r>
              <a:rPr lang="zh-CN" altLang="en-US" sz="2000" dirty="0">
                <a:solidFill>
                  <a:schemeClr val="tx1"/>
                </a:solidFill>
                <a:sym typeface="+mn-ea"/>
              </a:rPr>
              <a:t>单步调试</a:t>
            </a:r>
            <a:r>
              <a:rPr lang="en-US" altLang="zh-CN" sz="2000" dirty="0">
                <a:solidFill>
                  <a:schemeClr val="tx1"/>
                </a:solidFill>
                <a:sym typeface="+mn-ea"/>
              </a:rPr>
              <a:t>”</a:t>
            </a:r>
          </a:p>
        </p:txBody>
      </p:sp>
      <p:grpSp>
        <p:nvGrpSpPr>
          <p:cNvPr id="9" name="组合 8"/>
          <p:cNvGrpSpPr/>
          <p:nvPr/>
        </p:nvGrpSpPr>
        <p:grpSpPr>
          <a:xfrm>
            <a:off x="2816860" y="2517140"/>
            <a:ext cx="6260465" cy="2788920"/>
            <a:chOff x="4779" y="3506"/>
            <a:chExt cx="9370" cy="4260"/>
          </a:xfrm>
        </p:grpSpPr>
        <p:pic>
          <p:nvPicPr>
            <p:cNvPr id="6" name="图片 5"/>
            <p:cNvPicPr>
              <a:picLocks noChangeAspect="1"/>
            </p:cNvPicPr>
            <p:nvPr/>
          </p:nvPicPr>
          <p:blipFill>
            <a:blip r:embed="rId3"/>
            <a:stretch>
              <a:fillRect/>
            </a:stretch>
          </p:blipFill>
          <p:spPr>
            <a:xfrm>
              <a:off x="4779" y="3506"/>
              <a:ext cx="9371" cy="4260"/>
            </a:xfrm>
            <a:prstGeom prst="rect">
              <a:avLst/>
            </a:prstGeom>
          </p:spPr>
        </p:pic>
        <p:sp>
          <p:nvSpPr>
            <p:cNvPr id="10" name="圆角矩形 9"/>
            <p:cNvSpPr/>
            <p:nvPr/>
          </p:nvSpPr>
          <p:spPr>
            <a:xfrm>
              <a:off x="4869" y="6566"/>
              <a:ext cx="7507" cy="46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6446" y="4219"/>
              <a:ext cx="4321" cy="347"/>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p:cNvCxnSpPr>
              <a:stCxn id="7" idx="2"/>
              <a:endCxn id="10" idx="0"/>
            </p:cNvCxnSpPr>
            <p:nvPr/>
          </p:nvCxnSpPr>
          <p:spPr>
            <a:xfrm>
              <a:off x="8607" y="4566"/>
              <a:ext cx="16" cy="2000"/>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a:solidFill>
                  <a:schemeClr val="accent1"/>
                </a:solidFill>
                <a:ea typeface="微软雅黑" panose="020B0503020204020204" pitchFamily="34" charset="-122"/>
                <a:cs typeface="Arial" panose="020B0604020202020204" pitchFamily="34" charset="0"/>
              </a:rPr>
              <a:t>调试工具栏</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17</a:t>
            </a:fld>
            <a:r>
              <a:rPr lang="zh-CN" altLang="en-US" dirty="0"/>
              <a:t> </a:t>
            </a:r>
            <a:r>
              <a:rPr lang="en-US" altLang="zh-CN" dirty="0"/>
              <a:t>&gt;</a:t>
            </a:r>
            <a:endParaRPr lang="zh-CN" altLang="en-US" dirty="0"/>
          </a:p>
        </p:txBody>
      </p:sp>
      <p:sp>
        <p:nvSpPr>
          <p:cNvPr id="5" name="文本框 4"/>
          <p:cNvSpPr txBox="1"/>
          <p:nvPr/>
        </p:nvSpPr>
        <p:spPr>
          <a:xfrm>
            <a:off x="814070" y="1052195"/>
            <a:ext cx="10365740" cy="197167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启动后，界面上方出现调试工具栏：</a:t>
            </a:r>
          </a:p>
        </p:txBody>
      </p:sp>
      <p:cxnSp>
        <p:nvCxnSpPr>
          <p:cNvPr id="11" name="直接箭头连接符 10"/>
          <p:cNvCxnSpPr/>
          <p:nvPr/>
        </p:nvCxnSpPr>
        <p:spPr>
          <a:xfrm flipH="1" flipV="1">
            <a:off x="2979420" y="3260725"/>
            <a:ext cx="788035" cy="47307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8738870" y="3297555"/>
            <a:ext cx="702945" cy="48514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4" name="图片 3" descr="1792056119390"/>
          <p:cNvPicPr>
            <a:picLocks noChangeAspect="1"/>
          </p:cNvPicPr>
          <p:nvPr/>
        </p:nvPicPr>
        <p:blipFill>
          <a:blip r:embed="rId3"/>
          <a:stretch>
            <a:fillRect/>
          </a:stretch>
        </p:blipFill>
        <p:spPr>
          <a:xfrm>
            <a:off x="5426710" y="1122045"/>
            <a:ext cx="1979930" cy="457835"/>
          </a:xfrm>
          <a:prstGeom prst="rect">
            <a:avLst/>
          </a:prstGeom>
        </p:spPr>
      </p:pic>
      <p:graphicFrame>
        <p:nvGraphicFramePr>
          <p:cNvPr id="6" name="表格 5"/>
          <p:cNvGraphicFramePr/>
          <p:nvPr/>
        </p:nvGraphicFramePr>
        <p:xfrm>
          <a:off x="1376045" y="2165350"/>
          <a:ext cx="9439910" cy="3242938"/>
        </p:xfrm>
        <a:graphic>
          <a:graphicData uri="http://schemas.openxmlformats.org/drawingml/2006/table">
            <a:tbl>
              <a:tblPr firstRow="1" bandRow="1">
                <a:tableStyleId>{5C22544A-7EE6-4342-B048-85BDC9FD1C3A}</a:tableStyleId>
              </a:tblPr>
              <a:tblGrid>
                <a:gridCol w="1647190">
                  <a:extLst>
                    <a:ext uri="{9D8B030D-6E8A-4147-A177-3AD203B41FA5}">
                      <a16:colId xmlns:a16="http://schemas.microsoft.com/office/drawing/2014/main" val="20000"/>
                    </a:ext>
                  </a:extLst>
                </a:gridCol>
                <a:gridCol w="2035810">
                  <a:extLst>
                    <a:ext uri="{9D8B030D-6E8A-4147-A177-3AD203B41FA5}">
                      <a16:colId xmlns:a16="http://schemas.microsoft.com/office/drawing/2014/main" val="20001"/>
                    </a:ext>
                  </a:extLst>
                </a:gridCol>
                <a:gridCol w="5756910">
                  <a:extLst>
                    <a:ext uri="{9D8B030D-6E8A-4147-A177-3AD203B41FA5}">
                      <a16:colId xmlns:a16="http://schemas.microsoft.com/office/drawing/2014/main" val="20002"/>
                    </a:ext>
                  </a:extLst>
                </a:gridCol>
              </a:tblGrid>
              <a:tr h="381000">
                <a:tc>
                  <a:txBody>
                    <a:bodyPr/>
                    <a:lstStyle/>
                    <a:p>
                      <a:pPr marL="0" indent="0" latinLnBrk="0"/>
                      <a:r>
                        <a:rPr lang="zh-CN" altLang="en-US" sz="2000" b="1" i="0">
                          <a:solidFill>
                            <a:schemeClr val="bg1"/>
                          </a:solidFill>
                          <a:latin typeface="微软雅黑" panose="020B0503020204020204" pitchFamily="34" charset="-122"/>
                          <a:ea typeface="微软雅黑" panose="020B0503020204020204" pitchFamily="34" charset="-122"/>
                        </a:rPr>
                        <a:t>操作</a:t>
                      </a:r>
                    </a:p>
                  </a:txBody>
                  <a:tcPr marL="124142" marR="124142" marT="57467" marB="57467" anchor="ctr"/>
                </a:tc>
                <a:tc>
                  <a:txBody>
                    <a:bodyPr/>
                    <a:lstStyle/>
                    <a:p>
                      <a:pPr marL="0" indent="0" latinLnBrk="0"/>
                      <a:r>
                        <a:rPr lang="zh-CN" altLang="en-US" sz="2000" b="1" i="0">
                          <a:solidFill>
                            <a:schemeClr val="bg1"/>
                          </a:solidFill>
                          <a:latin typeface="微软雅黑" panose="020B0503020204020204" pitchFamily="34" charset="-122"/>
                          <a:ea typeface="微软雅黑" panose="020B0503020204020204" pitchFamily="34" charset="-122"/>
                        </a:rPr>
                        <a:t>快捷键</a:t>
                      </a:r>
                    </a:p>
                  </a:txBody>
                  <a:tcPr marL="124142" marR="124142" marT="57467" marB="57467" anchor="ctr"/>
                </a:tc>
                <a:tc>
                  <a:txBody>
                    <a:bodyPr/>
                    <a:lstStyle/>
                    <a:p>
                      <a:pPr marL="0" indent="0" latinLnBrk="0"/>
                      <a:r>
                        <a:rPr lang="zh-CN" altLang="en-US" sz="2000" b="1" i="0">
                          <a:solidFill>
                            <a:schemeClr val="bg1"/>
                          </a:solidFill>
                          <a:latin typeface="微软雅黑" panose="020B0503020204020204" pitchFamily="34" charset="-122"/>
                          <a:ea typeface="微软雅黑" panose="020B0503020204020204" pitchFamily="34" charset="-122"/>
                        </a:rPr>
                        <a:t>含义</a:t>
                      </a:r>
                    </a:p>
                  </a:txBody>
                  <a:tcPr marL="124142" marR="124142" marT="57467" marB="57467" anchor="ctr"/>
                </a:tc>
                <a:extLst>
                  <a:ext uri="{0D108BD9-81ED-4DB2-BD59-A6C34878D82A}">
                    <a16:rowId xmlns:a16="http://schemas.microsoft.com/office/drawing/2014/main" val="10000"/>
                  </a:ext>
                </a:extLst>
              </a:tr>
              <a:tr h="652780">
                <a:tc>
                  <a:txBody>
                    <a:bodyPr/>
                    <a:lstStyle/>
                    <a:p>
                      <a:pPr marL="0" indent="0" latinLnBrk="0"/>
                      <a:r>
                        <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继续</a:t>
                      </a:r>
                      <a:r>
                        <a:rPr lang="en-US" altLang="zh-CN"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暂停</a:t>
                      </a:r>
                    </a:p>
                  </a:txBody>
                  <a:tcPr marL="124142" marR="124142" marT="57467" marB="57467" anchor="ctr"/>
                </a:tc>
                <a:tc>
                  <a:txBody>
                    <a:bodyPr/>
                    <a:lstStyle/>
                    <a:p>
                      <a:pPr marL="0" indent="0" latinLnBrk="0"/>
                      <a:r>
                        <a:rPr lang="en-US" altLang="zh-CN" sz="2000" b="0" i="0">
                          <a:solidFill>
                            <a:srgbClr val="333333"/>
                          </a:solidFill>
                          <a:latin typeface="微软雅黑" panose="020B0503020204020204" pitchFamily="34" charset="-122"/>
                          <a:ea typeface="微软雅黑" panose="020B0503020204020204" pitchFamily="34" charset="-122"/>
                        </a:rPr>
                        <a:t>F5</a:t>
                      </a:r>
                    </a:p>
                  </a:txBody>
                  <a:tcPr marL="124142" marR="124142" marT="57467" marB="57467" anchor="ctr"/>
                </a:tc>
                <a:tc>
                  <a:txBody>
                    <a:bodyPr/>
                    <a:lstStyle/>
                    <a:p>
                      <a:pPr marL="0" indent="0" latinLnBrk="0"/>
                      <a:r>
                        <a:rPr lang="zh-CN" altLang="en-US" sz="2000" b="0" i="0">
                          <a:solidFill>
                            <a:srgbClr val="000000"/>
                          </a:solidFill>
                          <a:latin typeface="微软雅黑" panose="020B0503020204020204" pitchFamily="34" charset="-122"/>
                          <a:ea typeface="微软雅黑" panose="020B0503020204020204" pitchFamily="34" charset="-122"/>
                        </a:rPr>
                        <a:t>继续</a:t>
                      </a:r>
                      <a:r>
                        <a:rPr lang="zh-CN" altLang="en-US" sz="2000" b="0" i="0">
                          <a:solidFill>
                            <a:srgbClr val="333333"/>
                          </a:solidFill>
                          <a:latin typeface="微软雅黑" panose="020B0503020204020204" pitchFamily="34" charset="-122"/>
                          <a:ea typeface="微软雅黑" panose="020B0503020204020204" pitchFamily="34" charset="-122"/>
                        </a:rPr>
                        <a:t>：继续运行，直到下一个断点或程序结束；</a:t>
                      </a:r>
                      <a:r>
                        <a:rPr lang="zh-CN" altLang="en-US" sz="2000" b="0" i="0">
                          <a:solidFill>
                            <a:srgbClr val="000000"/>
                          </a:solidFill>
                          <a:latin typeface="微软雅黑" panose="020B0503020204020204" pitchFamily="34" charset="-122"/>
                          <a:ea typeface="微软雅黑" panose="020B0503020204020204" pitchFamily="34" charset="-122"/>
                        </a:rPr>
                        <a:t>暂停</a:t>
                      </a:r>
                      <a:r>
                        <a:rPr lang="zh-CN" altLang="en-US" sz="2000" b="0" i="0">
                          <a:solidFill>
                            <a:srgbClr val="333333"/>
                          </a:solidFill>
                          <a:latin typeface="微软雅黑" panose="020B0503020204020204" pitchFamily="34" charset="-122"/>
                          <a:ea typeface="微软雅黑" panose="020B0503020204020204" pitchFamily="34" charset="-122"/>
                        </a:rPr>
                        <a:t>：暂停当前运行</a:t>
                      </a:r>
                    </a:p>
                  </a:txBody>
                  <a:tcPr marL="124142" marR="124142" marT="57467" marB="57467" anchor="ctr"/>
                </a:tc>
                <a:extLst>
                  <a:ext uri="{0D108BD9-81ED-4DB2-BD59-A6C34878D82A}">
                    <a16:rowId xmlns:a16="http://schemas.microsoft.com/office/drawing/2014/main" val="10001"/>
                  </a:ext>
                </a:extLst>
              </a:tr>
              <a:tr h="381000">
                <a:tc>
                  <a:txBody>
                    <a:bodyPr/>
                    <a:lstStyle/>
                    <a:p>
                      <a:pPr marL="0" indent="0" latinLnBrk="0"/>
                      <a:r>
                        <a:rPr lang="zh-CN" altLang="en-US" sz="2000" b="0" i="0">
                          <a:solidFill>
                            <a:srgbClr val="000000"/>
                          </a:solidFill>
                          <a:latin typeface="微软雅黑" panose="020B0503020204020204" pitchFamily="34" charset="-122"/>
                          <a:ea typeface="微软雅黑" panose="020B0503020204020204" pitchFamily="34" charset="-122"/>
                        </a:rPr>
                        <a:t>跳过</a:t>
                      </a:r>
                    </a:p>
                  </a:txBody>
                  <a:tcPr marL="124142" marR="124142" marT="57467" marB="57467" anchor="ctr"/>
                </a:tc>
                <a:tc>
                  <a:txBody>
                    <a:bodyPr/>
                    <a:lstStyle/>
                    <a:p>
                      <a:pPr marL="0" indent="0" latinLnBrk="0"/>
                      <a:r>
                        <a:rPr lang="en-US" altLang="zh-CN" sz="2000" b="0" i="0">
                          <a:solidFill>
                            <a:srgbClr val="333333"/>
                          </a:solidFill>
                          <a:latin typeface="微软雅黑" panose="020B0503020204020204" pitchFamily="34" charset="-122"/>
                          <a:ea typeface="微软雅黑" panose="020B0503020204020204" pitchFamily="34" charset="-122"/>
                        </a:rPr>
                        <a:t>F10</a:t>
                      </a:r>
                    </a:p>
                  </a:txBody>
                  <a:tcPr marL="124142" marR="124142" marT="57467" marB="57467" anchor="ctr"/>
                </a:tc>
                <a:tc>
                  <a:txBody>
                    <a:bodyPr/>
                    <a:lstStyle/>
                    <a:p>
                      <a:pPr marL="0" indent="0" latinLnBrk="0"/>
                      <a:r>
                        <a:rPr lang="zh-CN" altLang="en-US" sz="2000" b="0" i="0">
                          <a:solidFill>
                            <a:srgbClr val="333333"/>
                          </a:solidFill>
                          <a:latin typeface="微软雅黑" panose="020B0503020204020204" pitchFamily="34" charset="-122"/>
                          <a:ea typeface="微软雅黑" panose="020B0503020204020204" pitchFamily="34" charset="-122"/>
                        </a:rPr>
                        <a:t>执行当前行，遇到函数调用时</a:t>
                      </a:r>
                      <a:r>
                        <a:rPr lang="zh-CN" altLang="en-US" sz="2000" b="1" i="0">
                          <a:solidFill>
                            <a:srgbClr val="333333"/>
                          </a:solidFill>
                          <a:latin typeface="微软雅黑" panose="020B0503020204020204" pitchFamily="34" charset="-122"/>
                          <a:ea typeface="微软雅黑" panose="020B0503020204020204" pitchFamily="34" charset="-122"/>
                        </a:rPr>
                        <a:t>不进入函数内部</a:t>
                      </a:r>
                    </a:p>
                  </a:txBody>
                  <a:tcPr marL="124142" marR="124142" marT="57467" marB="57467" anchor="ctr"/>
                </a:tc>
                <a:extLst>
                  <a:ext uri="{0D108BD9-81ED-4DB2-BD59-A6C34878D82A}">
                    <a16:rowId xmlns:a16="http://schemas.microsoft.com/office/drawing/2014/main" val="10002"/>
                  </a:ext>
                </a:extLst>
              </a:tr>
              <a:tr h="381000">
                <a:tc>
                  <a:txBody>
                    <a:bodyPr/>
                    <a:lstStyle/>
                    <a:p>
                      <a:pPr marL="0" indent="0" latinLnBrk="0"/>
                      <a:r>
                        <a:rPr lang="zh-CN" altLang="en-US" sz="2000" b="0" i="0">
                          <a:solidFill>
                            <a:srgbClr val="000000"/>
                          </a:solidFill>
                          <a:latin typeface="微软雅黑" panose="020B0503020204020204" pitchFamily="34" charset="-122"/>
                          <a:ea typeface="微软雅黑" panose="020B0503020204020204" pitchFamily="34" charset="-122"/>
                        </a:rPr>
                        <a:t>单步进入</a:t>
                      </a:r>
                    </a:p>
                  </a:txBody>
                  <a:tcPr marL="124142" marR="124142" marT="57467" marB="57467" anchor="ctr"/>
                </a:tc>
                <a:tc>
                  <a:txBody>
                    <a:bodyPr/>
                    <a:lstStyle/>
                    <a:p>
                      <a:pPr marL="0" indent="0" latinLnBrk="0"/>
                      <a:r>
                        <a:rPr lang="en-US" altLang="zh-CN" sz="2000" b="0" i="0">
                          <a:solidFill>
                            <a:srgbClr val="333333"/>
                          </a:solidFill>
                          <a:latin typeface="微软雅黑" panose="020B0503020204020204" pitchFamily="34" charset="-122"/>
                          <a:ea typeface="微软雅黑" panose="020B0503020204020204" pitchFamily="34" charset="-122"/>
                        </a:rPr>
                        <a:t>F11</a:t>
                      </a:r>
                    </a:p>
                  </a:txBody>
                  <a:tcPr marL="124142" marR="124142" marT="57467" marB="57467" anchor="ctr"/>
                </a:tc>
                <a:tc>
                  <a:txBody>
                    <a:bodyPr/>
                    <a:lstStyle/>
                    <a:p>
                      <a:pPr marL="0" indent="0" latinLnBrk="0"/>
                      <a:r>
                        <a:rPr lang="zh-CN" altLang="en-US" sz="2000" b="0" i="0">
                          <a:solidFill>
                            <a:srgbClr val="333333"/>
                          </a:solidFill>
                          <a:latin typeface="微软雅黑" panose="020B0503020204020204" pitchFamily="34" charset="-122"/>
                          <a:ea typeface="微软雅黑" panose="020B0503020204020204" pitchFamily="34" charset="-122"/>
                        </a:rPr>
                        <a:t>遇到函数调用时，</a:t>
                      </a:r>
                      <a:r>
                        <a:rPr lang="zh-CN" altLang="en-US" sz="2000" b="1" i="0">
                          <a:solidFill>
                            <a:srgbClr val="333333"/>
                          </a:solidFill>
                          <a:latin typeface="微软雅黑" panose="020B0503020204020204" pitchFamily="34" charset="-122"/>
                          <a:ea typeface="微软雅黑" panose="020B0503020204020204" pitchFamily="34" charset="-122"/>
                        </a:rPr>
                        <a:t>进入该函数</a:t>
                      </a:r>
                    </a:p>
                  </a:txBody>
                  <a:tcPr marL="124142" marR="124142" marT="57467" marB="57467" anchor="ctr"/>
                </a:tc>
                <a:extLst>
                  <a:ext uri="{0D108BD9-81ED-4DB2-BD59-A6C34878D82A}">
                    <a16:rowId xmlns:a16="http://schemas.microsoft.com/office/drawing/2014/main" val="10003"/>
                  </a:ext>
                </a:extLst>
              </a:tr>
              <a:tr h="381000">
                <a:tc>
                  <a:txBody>
                    <a:bodyPr/>
                    <a:lstStyle/>
                    <a:p>
                      <a:pPr marL="0" indent="0" latinLnBrk="0"/>
                      <a:r>
                        <a:rPr lang="zh-CN" altLang="en-US" sz="2000" b="0" i="0">
                          <a:solidFill>
                            <a:srgbClr val="000000"/>
                          </a:solidFill>
                          <a:latin typeface="微软雅黑" panose="020B0503020204020204" pitchFamily="34" charset="-122"/>
                          <a:ea typeface="微软雅黑" panose="020B0503020204020204" pitchFamily="34" charset="-122"/>
                        </a:rPr>
                        <a:t>单步跳出</a:t>
                      </a:r>
                    </a:p>
                  </a:txBody>
                  <a:tcPr marL="124142" marR="124142" marT="57467" marB="57467" anchor="ctr"/>
                </a:tc>
                <a:tc>
                  <a:txBody>
                    <a:bodyPr/>
                    <a:lstStyle/>
                    <a:p>
                      <a:pPr marL="0" indent="0" latinLnBrk="0"/>
                      <a:r>
                        <a:rPr lang="en-US" altLang="zh-CN" sz="2000" b="0" i="0">
                          <a:solidFill>
                            <a:srgbClr val="333333"/>
                          </a:solidFill>
                          <a:latin typeface="微软雅黑" panose="020B0503020204020204" pitchFamily="34" charset="-122"/>
                          <a:ea typeface="微软雅黑" panose="020B0503020204020204" pitchFamily="34" charset="-122"/>
                        </a:rPr>
                        <a:t>Shift+F11</a:t>
                      </a:r>
                    </a:p>
                  </a:txBody>
                  <a:tcPr marL="124142" marR="124142" marT="57467" marB="57467" anchor="ctr"/>
                </a:tc>
                <a:tc>
                  <a:txBody>
                    <a:bodyPr/>
                    <a:lstStyle/>
                    <a:p>
                      <a:pPr marL="0" indent="0" latinLnBrk="0"/>
                      <a:r>
                        <a:rPr lang="zh-CN" altLang="en-US" sz="2000" b="0" i="0">
                          <a:solidFill>
                            <a:srgbClr val="333333"/>
                          </a:solidFill>
                          <a:latin typeface="微软雅黑" panose="020B0503020204020204" pitchFamily="34" charset="-122"/>
                          <a:ea typeface="微软雅黑" panose="020B0503020204020204" pitchFamily="34" charset="-122"/>
                        </a:rPr>
                        <a:t>执行当前函数的剩余部分，返回调用处</a:t>
                      </a:r>
                    </a:p>
                  </a:txBody>
                  <a:tcPr marL="124142" marR="124142" marT="57467" marB="57467" anchor="ctr"/>
                </a:tc>
                <a:extLst>
                  <a:ext uri="{0D108BD9-81ED-4DB2-BD59-A6C34878D82A}">
                    <a16:rowId xmlns:a16="http://schemas.microsoft.com/office/drawing/2014/main" val="10004"/>
                  </a:ext>
                </a:extLst>
              </a:tr>
              <a:tr h="381000">
                <a:tc>
                  <a:txBody>
                    <a:bodyPr/>
                    <a:lstStyle/>
                    <a:p>
                      <a:pPr marL="0" indent="0" latinLnBrk="0"/>
                      <a:r>
                        <a:rPr lang="zh-CN" altLang="en-US" sz="2000" b="0" i="0">
                          <a:solidFill>
                            <a:srgbClr val="000000"/>
                          </a:solidFill>
                          <a:latin typeface="微软雅黑" panose="020B0503020204020204" pitchFamily="34" charset="-122"/>
                          <a:ea typeface="微软雅黑" panose="020B0503020204020204" pitchFamily="34" charset="-122"/>
                        </a:rPr>
                        <a:t>重新启动</a:t>
                      </a:r>
                    </a:p>
                  </a:txBody>
                  <a:tcPr marL="124142" marR="124142" marT="57467" marB="57467" anchor="ctr"/>
                </a:tc>
                <a:tc>
                  <a:txBody>
                    <a:bodyPr/>
                    <a:lstStyle/>
                    <a:p>
                      <a:pPr marL="0" indent="0" latinLnBrk="0"/>
                      <a:r>
                        <a:rPr lang="en-US" altLang="zh-CN" sz="2000" b="0" i="0">
                          <a:solidFill>
                            <a:srgbClr val="333333"/>
                          </a:solidFill>
                          <a:latin typeface="微软雅黑" panose="020B0503020204020204" pitchFamily="34" charset="-122"/>
                          <a:ea typeface="微软雅黑" panose="020B0503020204020204" pitchFamily="34" charset="-122"/>
                        </a:rPr>
                        <a:t>Ctrl+Shift+F5</a:t>
                      </a:r>
                    </a:p>
                  </a:txBody>
                  <a:tcPr marL="124142" marR="124142" marT="57467" marB="57467" anchor="ctr"/>
                </a:tc>
                <a:tc>
                  <a:txBody>
                    <a:bodyPr/>
                    <a:lstStyle/>
                    <a:p>
                      <a:pPr marL="0" indent="0" latinLnBrk="0"/>
                      <a:r>
                        <a:rPr lang="zh-CN" altLang="en-US" sz="2000" b="0" i="0">
                          <a:solidFill>
                            <a:srgbClr val="333333"/>
                          </a:solidFill>
                          <a:latin typeface="微软雅黑" panose="020B0503020204020204" pitchFamily="34" charset="-122"/>
                          <a:ea typeface="微软雅黑" panose="020B0503020204020204" pitchFamily="34" charset="-122"/>
                        </a:rPr>
                        <a:t>终止当前调试，使用当前运行配置重新开始调试</a:t>
                      </a:r>
                    </a:p>
                  </a:txBody>
                  <a:tcPr marL="124142" marR="124142" marT="57467" marB="57467" anchor="ctr"/>
                </a:tc>
                <a:extLst>
                  <a:ext uri="{0D108BD9-81ED-4DB2-BD59-A6C34878D82A}">
                    <a16:rowId xmlns:a16="http://schemas.microsoft.com/office/drawing/2014/main" val="10005"/>
                  </a:ext>
                </a:extLst>
              </a:tr>
              <a:tr h="381000">
                <a:tc>
                  <a:txBody>
                    <a:bodyPr/>
                    <a:lstStyle/>
                    <a:p>
                      <a:pPr marL="0" indent="0" latinLnBrk="0"/>
                      <a:r>
                        <a:rPr lang="zh-CN" altLang="en-US" sz="2000" b="0" i="0">
                          <a:solidFill>
                            <a:srgbClr val="000000"/>
                          </a:solidFill>
                          <a:latin typeface="微软雅黑" panose="020B0503020204020204" pitchFamily="34" charset="-122"/>
                          <a:ea typeface="微软雅黑" panose="020B0503020204020204" pitchFamily="34" charset="-122"/>
                        </a:rPr>
                        <a:t>停止</a:t>
                      </a:r>
                    </a:p>
                  </a:txBody>
                  <a:tcPr marL="124142" marR="124142" marT="57467" marB="57467" anchor="ctr"/>
                </a:tc>
                <a:tc>
                  <a:txBody>
                    <a:bodyPr/>
                    <a:lstStyle/>
                    <a:p>
                      <a:pPr marL="0" indent="0" latinLnBrk="0"/>
                      <a:r>
                        <a:rPr lang="en-US" altLang="zh-CN" sz="2000" b="0" i="0">
                          <a:solidFill>
                            <a:srgbClr val="333333"/>
                          </a:solidFill>
                          <a:latin typeface="微软雅黑" panose="020B0503020204020204" pitchFamily="34" charset="-122"/>
                          <a:ea typeface="微软雅黑" panose="020B0503020204020204" pitchFamily="34" charset="-122"/>
                        </a:rPr>
                        <a:t>Shift+F5</a:t>
                      </a:r>
                    </a:p>
                  </a:txBody>
                  <a:tcPr marL="124142" marR="124142" marT="57467" marB="57467" anchor="ctr"/>
                </a:tc>
                <a:tc>
                  <a:txBody>
                    <a:bodyPr/>
                    <a:lstStyle/>
                    <a:p>
                      <a:pPr marL="0" indent="0" latinLnBrk="0"/>
                      <a:r>
                        <a:rPr lang="zh-CN" altLang="en-US" sz="2000" b="0" i="0">
                          <a:solidFill>
                            <a:srgbClr val="333333"/>
                          </a:solidFill>
                          <a:latin typeface="微软雅黑" panose="020B0503020204020204" pitchFamily="34" charset="-122"/>
                          <a:ea typeface="微软雅黑" panose="020B0503020204020204" pitchFamily="34" charset="-122"/>
                        </a:rPr>
                        <a:t>结束调试</a:t>
                      </a:r>
                    </a:p>
                  </a:txBody>
                  <a:tcPr marL="124142" marR="124142" marT="57467" marB="57467"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a:solidFill>
                  <a:schemeClr val="accent1"/>
                </a:solidFill>
                <a:ea typeface="微软雅黑" panose="020B0503020204020204" pitchFamily="34" charset="-122"/>
                <a:cs typeface="Arial" panose="020B0604020202020204" pitchFamily="34" charset="0"/>
              </a:rPr>
              <a:t>等待输入</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18</a:t>
            </a:fld>
            <a:r>
              <a:rPr lang="zh-CN" altLang="en-US" dirty="0"/>
              <a:t> </a:t>
            </a:r>
            <a:r>
              <a:rPr lang="en-US" altLang="zh-CN" dirty="0"/>
              <a:t>&gt;</a:t>
            </a:r>
            <a:endParaRPr lang="zh-CN" altLang="en-US" dirty="0"/>
          </a:p>
        </p:txBody>
      </p:sp>
      <p:sp>
        <p:nvSpPr>
          <p:cNvPr id="5" name="文本框 4"/>
          <p:cNvSpPr txBox="1"/>
          <p:nvPr/>
        </p:nvSpPr>
        <p:spPr>
          <a:xfrm>
            <a:off x="814070" y="1052195"/>
            <a:ext cx="10365740" cy="240220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程序</a:t>
            </a:r>
            <a:r>
              <a:rPr lang="en-US" altLang="zh-CN" sz="2000" b="1" dirty="0">
                <a:solidFill>
                  <a:schemeClr val="tx1"/>
                </a:solidFill>
                <a:sym typeface="+mn-ea"/>
              </a:rPr>
              <a:t>“</a:t>
            </a:r>
            <a:r>
              <a:rPr lang="zh-CN" altLang="en-US" sz="2000" b="1" dirty="0">
                <a:solidFill>
                  <a:schemeClr val="tx1"/>
                </a:solidFill>
                <a:sym typeface="+mn-ea"/>
              </a:rPr>
              <a:t>卡住</a:t>
            </a:r>
            <a:r>
              <a:rPr lang="en-US" altLang="zh-CN" sz="2000" b="1" dirty="0">
                <a:solidFill>
                  <a:schemeClr val="tx1"/>
                </a:solidFill>
                <a:sym typeface="+mn-ea"/>
              </a:rPr>
              <a:t>”</a:t>
            </a:r>
            <a:r>
              <a:rPr lang="zh-CN" altLang="en-US" sz="2000" dirty="0">
                <a:solidFill>
                  <a:schemeClr val="tx1"/>
                </a:solidFill>
                <a:sym typeface="+mn-ea"/>
              </a:rPr>
              <a:t>：显示程序在运行，单步调试按钮变灰，侧边栏没有任何变量。</a:t>
            </a:r>
          </a:p>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原因</a:t>
            </a:r>
            <a:r>
              <a:rPr lang="zh-CN" altLang="en-US" sz="2000" dirty="0">
                <a:solidFill>
                  <a:schemeClr val="tx1"/>
                </a:solidFill>
                <a:sym typeface="+mn-ea"/>
              </a:rPr>
              <a:t>：可能是程序在</a:t>
            </a:r>
            <a:r>
              <a:rPr lang="zh-CN" altLang="en-US" sz="2000" b="1" dirty="0">
                <a:solidFill>
                  <a:schemeClr val="tx1"/>
                </a:solidFill>
                <a:sym typeface="+mn-ea"/>
              </a:rPr>
              <a:t>等待输入</a:t>
            </a:r>
            <a:r>
              <a:rPr lang="zh-CN" altLang="en-US" sz="2000" dirty="0">
                <a:solidFill>
                  <a:schemeClr val="tx1"/>
                </a:solidFill>
                <a:sym typeface="+mn-ea"/>
              </a:rPr>
              <a:t>。</a:t>
            </a:r>
          </a:p>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解决</a:t>
            </a:r>
            <a:r>
              <a:rPr lang="zh-CN" altLang="en-US" sz="2000" dirty="0">
                <a:solidFill>
                  <a:schemeClr val="tx1"/>
                </a:solidFill>
                <a:sym typeface="+mn-ea"/>
              </a:rPr>
              <a:t>：检查断点之前</a:t>
            </a:r>
            <a:r>
              <a:rPr lang="zh-CN" altLang="en-US" sz="2000" b="1" dirty="0">
                <a:solidFill>
                  <a:schemeClr val="tx1"/>
                </a:solidFill>
                <a:sym typeface="+mn-ea"/>
              </a:rPr>
              <a:t>是否有 </a:t>
            </a:r>
            <a:r>
              <a:rPr lang="en-US" altLang="zh-CN" sz="2000" b="1" dirty="0">
                <a:solidFill>
                  <a:schemeClr val="tx1"/>
                </a:solidFill>
                <a:sym typeface="+mn-ea"/>
              </a:rPr>
              <a:t>cin </a:t>
            </a:r>
            <a:r>
              <a:rPr lang="zh-CN" altLang="en-US" sz="2000" b="1" dirty="0">
                <a:solidFill>
                  <a:schemeClr val="tx1"/>
                </a:solidFill>
                <a:sym typeface="+mn-ea"/>
              </a:rPr>
              <a:t>等语句</a:t>
            </a:r>
            <a:r>
              <a:rPr lang="zh-CN" altLang="en-US" sz="2000" dirty="0">
                <a:solidFill>
                  <a:schemeClr val="tx1"/>
                </a:solidFill>
                <a:sym typeface="+mn-ea"/>
              </a:rPr>
              <a:t>，若有，则按照要求，在</a:t>
            </a:r>
            <a:r>
              <a:rPr lang="en-US" altLang="zh-CN" sz="2000" dirty="0">
                <a:solidFill>
                  <a:schemeClr val="tx1"/>
                </a:solidFill>
                <a:sym typeface="+mn-ea"/>
              </a:rPr>
              <a:t> VSCode </a:t>
            </a:r>
            <a:r>
              <a:rPr lang="zh-CN" altLang="en-US" sz="2000" dirty="0">
                <a:solidFill>
                  <a:schemeClr val="tx1"/>
                </a:solidFill>
                <a:sym typeface="+mn-ea"/>
              </a:rPr>
              <a:t>终端</a:t>
            </a:r>
            <a:r>
              <a:rPr lang="zh-CN" altLang="en-US" sz="2000" b="1" dirty="0">
                <a:solidFill>
                  <a:schemeClr val="tx1"/>
                </a:solidFill>
                <a:sym typeface="+mn-ea"/>
              </a:rPr>
              <a:t>提供输入并回车</a:t>
            </a:r>
            <a:r>
              <a:rPr lang="zh-CN" altLang="en-US" sz="2000" dirty="0">
                <a:solidFill>
                  <a:schemeClr val="tx1"/>
                </a:solidFill>
                <a:sym typeface="+mn-ea"/>
              </a:rPr>
              <a:t>（</a:t>
            </a:r>
            <a:r>
              <a:rPr lang="en-US" altLang="zh-CN" sz="2000" dirty="0">
                <a:solidFill>
                  <a:schemeClr val="tx1"/>
                </a:solidFill>
                <a:sym typeface="+mn-ea"/>
              </a:rPr>
              <a:t>Mac </a:t>
            </a:r>
            <a:r>
              <a:rPr lang="zh-CN" altLang="en-US" sz="2000" dirty="0">
                <a:solidFill>
                  <a:schemeClr val="tx1"/>
                </a:solidFill>
                <a:sym typeface="+mn-ea"/>
              </a:rPr>
              <a:t>需要 </a:t>
            </a:r>
            <a:r>
              <a:rPr lang="en-US" altLang="zh-CN" sz="2000" dirty="0">
                <a:solidFill>
                  <a:schemeClr val="tx1"/>
                </a:solidFill>
                <a:sym typeface="+mn-ea"/>
              </a:rPr>
              <a:t>VS</a:t>
            </a:r>
            <a:r>
              <a:rPr lang="zh-CN" altLang="en-US" sz="2000" dirty="0">
                <a:solidFill>
                  <a:schemeClr val="tx1"/>
                </a:solidFill>
                <a:sym typeface="+mn-ea"/>
              </a:rPr>
              <a:t> </a:t>
            </a:r>
            <a:r>
              <a:rPr lang="en-US" altLang="zh-CN" sz="2000" dirty="0">
                <a:solidFill>
                  <a:schemeClr val="tx1"/>
                </a:solidFill>
                <a:sym typeface="+mn-ea"/>
              </a:rPr>
              <a:t>Code</a:t>
            </a:r>
            <a:r>
              <a:rPr lang="zh-CN" altLang="en-US" sz="2000" dirty="0">
                <a:solidFill>
                  <a:schemeClr val="tx1"/>
                </a:solidFill>
                <a:sym typeface="+mn-ea"/>
              </a:rPr>
              <a:t> 安装</a:t>
            </a:r>
            <a:r>
              <a:rPr lang="en-US" altLang="zh-CN" sz="2000" dirty="0">
                <a:solidFill>
                  <a:schemeClr val="tx1"/>
                </a:solidFill>
                <a:sym typeface="+mn-ea"/>
              </a:rPr>
              <a:t> </a:t>
            </a:r>
            <a:r>
              <a:rPr lang="en-US" altLang="zh-CN" sz="2000" dirty="0" err="1">
                <a:sym typeface="+mn-ea"/>
              </a:rPr>
              <a:t>CodeLLDB</a:t>
            </a:r>
            <a:r>
              <a:rPr lang="en-US" altLang="zh-CN" sz="2000" dirty="0">
                <a:solidFill>
                  <a:schemeClr val="tx1"/>
                </a:solidFill>
                <a:sym typeface="+mn-ea"/>
              </a:rPr>
              <a:t> </a:t>
            </a:r>
            <a:r>
              <a:rPr lang="zh-CN" altLang="en-US" sz="2000" dirty="0">
                <a:solidFill>
                  <a:schemeClr val="tx1"/>
                </a:solidFill>
                <a:sym typeface="+mn-ea"/>
              </a:rPr>
              <a:t>扩展才能正常输入），使所有的 </a:t>
            </a:r>
            <a:r>
              <a:rPr lang="en-US" altLang="zh-CN" sz="2000" dirty="0">
                <a:solidFill>
                  <a:schemeClr val="tx1"/>
                </a:solidFill>
                <a:sym typeface="+mn-ea"/>
              </a:rPr>
              <a:t>cin </a:t>
            </a:r>
            <a:r>
              <a:rPr lang="zh-CN" altLang="en-US" sz="2000" dirty="0">
                <a:solidFill>
                  <a:schemeClr val="tx1"/>
                </a:solidFill>
                <a:sym typeface="+mn-ea"/>
              </a:rPr>
              <a:t>语句执行完毕，程序才会运行到断点位置，继续正常调试。</a:t>
            </a:r>
          </a:p>
        </p:txBody>
      </p:sp>
      <p:pic>
        <p:nvPicPr>
          <p:cNvPr id="4" name="图片 3"/>
          <p:cNvPicPr>
            <a:picLocks noChangeAspect="1"/>
          </p:cNvPicPr>
          <p:nvPr/>
        </p:nvPicPr>
        <p:blipFill>
          <a:blip r:embed="rId3"/>
          <a:stretch>
            <a:fillRect/>
          </a:stretch>
        </p:blipFill>
        <p:spPr>
          <a:xfrm>
            <a:off x="981075" y="3707130"/>
            <a:ext cx="2231390" cy="410210"/>
          </a:xfrm>
          <a:prstGeom prst="rect">
            <a:avLst/>
          </a:prstGeom>
        </p:spPr>
      </p:pic>
      <p:pic>
        <p:nvPicPr>
          <p:cNvPr id="6" name="图片 5"/>
          <p:cNvPicPr>
            <a:picLocks noChangeAspect="1"/>
          </p:cNvPicPr>
          <p:nvPr/>
        </p:nvPicPr>
        <p:blipFill>
          <a:blip r:embed="rId4"/>
          <a:stretch>
            <a:fillRect/>
          </a:stretch>
        </p:blipFill>
        <p:spPr>
          <a:xfrm>
            <a:off x="514985" y="4466590"/>
            <a:ext cx="3188335" cy="1917065"/>
          </a:xfrm>
          <a:prstGeom prst="rect">
            <a:avLst/>
          </a:prstGeom>
        </p:spPr>
      </p:pic>
      <p:pic>
        <p:nvPicPr>
          <p:cNvPr id="13" name="图片 12"/>
          <p:cNvPicPr>
            <a:picLocks noChangeAspect="1"/>
          </p:cNvPicPr>
          <p:nvPr/>
        </p:nvPicPr>
        <p:blipFill>
          <a:blip r:embed="rId5"/>
          <a:stretch>
            <a:fillRect/>
          </a:stretch>
        </p:blipFill>
        <p:spPr>
          <a:xfrm>
            <a:off x="3957320" y="3557270"/>
            <a:ext cx="3345815" cy="1119505"/>
          </a:xfrm>
          <a:prstGeom prst="rect">
            <a:avLst/>
          </a:prstGeom>
        </p:spPr>
      </p:pic>
      <p:pic>
        <p:nvPicPr>
          <p:cNvPr id="14" name="图片 13"/>
          <p:cNvPicPr>
            <a:picLocks noChangeAspect="1"/>
          </p:cNvPicPr>
          <p:nvPr/>
        </p:nvPicPr>
        <p:blipFill>
          <a:blip r:embed="rId6"/>
          <a:stretch>
            <a:fillRect/>
          </a:stretch>
        </p:blipFill>
        <p:spPr>
          <a:xfrm>
            <a:off x="5264150" y="4845050"/>
            <a:ext cx="4993005" cy="1538605"/>
          </a:xfrm>
          <a:prstGeom prst="rect">
            <a:avLst/>
          </a:prstGeom>
        </p:spPr>
      </p:pic>
      <p:pic>
        <p:nvPicPr>
          <p:cNvPr id="15" name="图片 14"/>
          <p:cNvPicPr>
            <a:picLocks noChangeAspect="1"/>
          </p:cNvPicPr>
          <p:nvPr/>
        </p:nvPicPr>
        <p:blipFill>
          <a:blip r:embed="rId7"/>
          <a:stretch>
            <a:fillRect/>
          </a:stretch>
        </p:blipFill>
        <p:spPr>
          <a:xfrm>
            <a:off x="7674610" y="3543935"/>
            <a:ext cx="3345180" cy="1132840"/>
          </a:xfrm>
          <a:prstGeom prst="rect">
            <a:avLst/>
          </a:prstGeom>
        </p:spPr>
      </p:pic>
      <p:cxnSp>
        <p:nvCxnSpPr>
          <p:cNvPr id="16" name="直接箭头连接符 15"/>
          <p:cNvCxnSpPr>
            <a:stCxn id="13" idx="2"/>
          </p:cNvCxnSpPr>
          <p:nvPr/>
        </p:nvCxnSpPr>
        <p:spPr>
          <a:xfrm>
            <a:off x="5630545" y="4676775"/>
            <a:ext cx="824230" cy="1452245"/>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endCxn id="15" idx="2"/>
          </p:cNvCxnSpPr>
          <p:nvPr/>
        </p:nvCxnSpPr>
        <p:spPr>
          <a:xfrm flipV="1">
            <a:off x="7317105" y="4676775"/>
            <a:ext cx="2030095" cy="1464310"/>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dirty="0">
                <a:solidFill>
                  <a:schemeClr val="accent1"/>
                </a:solidFill>
                <a:ea typeface="微软雅黑" panose="020B0503020204020204" pitchFamily="34" charset="-122"/>
                <a:cs typeface="Arial" panose="020B0604020202020204" pitchFamily="34" charset="0"/>
              </a:rPr>
              <a:t>查看变量</a:t>
            </a:r>
            <a:endParaRPr lang="en-US" altLang="zh-CN" dirty="0">
              <a:solidFill>
                <a:schemeClr val="accent1"/>
              </a:solidFill>
              <a:ea typeface="微软雅黑" panose="020B0503020204020204" pitchFamily="34" charset="-122"/>
              <a:cs typeface="Arial" panose="020B0604020202020204" pitchFamily="34" charset="0"/>
            </a:endParaRP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19</a:t>
            </a:fld>
            <a:r>
              <a:rPr lang="zh-CN" altLang="en-US" dirty="0"/>
              <a:t> </a:t>
            </a:r>
            <a:r>
              <a:rPr lang="en-US" altLang="zh-CN" dirty="0"/>
              <a:t>&gt;</a:t>
            </a:r>
            <a:endParaRPr lang="zh-CN" altLang="en-US" dirty="0"/>
          </a:p>
        </p:txBody>
      </p:sp>
      <p:sp>
        <p:nvSpPr>
          <p:cNvPr id="5" name="文本框 4"/>
          <p:cNvSpPr txBox="1"/>
          <p:nvPr/>
        </p:nvSpPr>
        <p:spPr>
          <a:xfrm>
            <a:off x="814070" y="1144270"/>
            <a:ext cx="7631430" cy="617220"/>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在左侧“变量”面板展开</a:t>
            </a:r>
            <a:r>
              <a:rPr lang="zh-CN" altLang="en-US" sz="2000" b="1" dirty="0">
                <a:solidFill>
                  <a:schemeClr val="tx1"/>
                </a:solidFill>
                <a:sym typeface="+mn-ea"/>
              </a:rPr>
              <a:t>局部变量</a:t>
            </a:r>
            <a:r>
              <a:rPr lang="en-US" altLang="zh-CN" sz="2000" b="1" dirty="0">
                <a:solidFill>
                  <a:schemeClr val="tx1"/>
                </a:solidFill>
                <a:sym typeface="+mn-ea"/>
              </a:rPr>
              <a:t> (Variable)</a:t>
            </a:r>
            <a:r>
              <a:rPr lang="zh-CN" altLang="en-US" sz="2000" dirty="0">
                <a:solidFill>
                  <a:schemeClr val="tx1"/>
                </a:solidFill>
                <a:sym typeface="+mn-ea"/>
              </a:rPr>
              <a:t>，查看当前函数内的数据。</a:t>
            </a:r>
          </a:p>
        </p:txBody>
      </p:sp>
      <p:pic>
        <p:nvPicPr>
          <p:cNvPr id="7" name="图片 6" descr="1792056275584"/>
          <p:cNvPicPr>
            <a:picLocks noChangeAspect="1"/>
          </p:cNvPicPr>
          <p:nvPr/>
        </p:nvPicPr>
        <p:blipFill>
          <a:blip r:embed="rId3"/>
          <a:srcRect r="12486"/>
          <a:stretch>
            <a:fillRect/>
          </a:stretch>
        </p:blipFill>
        <p:spPr>
          <a:xfrm>
            <a:off x="314960" y="2076450"/>
            <a:ext cx="5614035" cy="3164840"/>
          </a:xfrm>
          <a:prstGeom prst="rect">
            <a:avLst/>
          </a:prstGeom>
        </p:spPr>
      </p:pic>
      <p:pic>
        <p:nvPicPr>
          <p:cNvPr id="8" name="图片 7" descr="1792056329526"/>
          <p:cNvPicPr>
            <a:picLocks noChangeAspect="1"/>
          </p:cNvPicPr>
          <p:nvPr/>
        </p:nvPicPr>
        <p:blipFill>
          <a:blip r:embed="rId4"/>
          <a:srcRect r="13067"/>
          <a:stretch>
            <a:fillRect/>
          </a:stretch>
        </p:blipFill>
        <p:spPr>
          <a:xfrm>
            <a:off x="6203950" y="2044065"/>
            <a:ext cx="5796915" cy="3198495"/>
          </a:xfrm>
          <a:prstGeom prst="rect">
            <a:avLst/>
          </a:prstGeom>
        </p:spPr>
      </p:pic>
      <p:sp>
        <p:nvSpPr>
          <p:cNvPr id="10" name="圆角矩形 9"/>
          <p:cNvSpPr/>
          <p:nvPr/>
        </p:nvSpPr>
        <p:spPr>
          <a:xfrm>
            <a:off x="379730" y="2245995"/>
            <a:ext cx="877570" cy="100774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814070" y="5648325"/>
            <a:ext cx="10088880" cy="706755"/>
          </a:xfrm>
          <a:prstGeom prst="rect">
            <a:avLst/>
          </a:prstGeom>
          <a:noFill/>
        </p:spPr>
        <p:txBody>
          <a:bodyPr wrap="square" rtlCol="0">
            <a:spAutoFit/>
          </a:bodyPr>
          <a:lstStyle/>
          <a:p>
            <a:pPr marL="342900" indent="-342900" algn="l">
              <a:buFont typeface="Arial" panose="020B0604020202020204" pitchFamily="34" charset="0"/>
              <a:buChar char="•"/>
            </a:pPr>
            <a:r>
              <a:rPr lang="zh-CN" altLang="en-US" sz="2000" dirty="0">
                <a:latin typeface="Arial" panose="020B0604020202020204" pitchFamily="34" charset="0"/>
                <a:ea typeface="微软雅黑" panose="020B0503020204020204" pitchFamily="34" charset="-122"/>
                <a:cs typeface="+mn-ea"/>
                <a:sym typeface="Arial" panose="020B0604020202020204" pitchFamily="34" charset="0"/>
              </a:rPr>
              <a:t>在 </a:t>
            </a:r>
            <a:r>
              <a:rPr lang="en-US" altLang="zh-CN" sz="2000" dirty="0">
                <a:latin typeface="Arial" panose="020B0604020202020204" pitchFamily="34" charset="0"/>
                <a:ea typeface="微软雅黑" panose="020B0503020204020204" pitchFamily="34" charset="-122"/>
                <a:cs typeface="+mn-ea"/>
                <a:sym typeface="Arial" panose="020B0604020202020204" pitchFamily="34" charset="0"/>
              </a:rPr>
              <a:t>BP_TOTAL </a:t>
            </a:r>
            <a:r>
              <a:rPr lang="zh-CN" altLang="en-US" sz="2000" dirty="0">
                <a:latin typeface="Arial" panose="020B0604020202020204" pitchFamily="34" charset="0"/>
                <a:ea typeface="微软雅黑" panose="020B0503020204020204" pitchFamily="34" charset="-122"/>
                <a:cs typeface="+mn-ea"/>
                <a:sym typeface="Arial" panose="020B0604020202020204" pitchFamily="34" charset="0"/>
              </a:rPr>
              <a:t>暂停时，可以查看 </a:t>
            </a:r>
            <a:r>
              <a:rPr lang="en-US" altLang="zh-CN" sz="2000" dirty="0">
                <a:latin typeface="Arial" panose="020B0604020202020204" pitchFamily="34" charset="0"/>
                <a:ea typeface="微软雅黑" panose="020B0503020204020204" pitchFamily="34" charset="-122"/>
                <a:cs typeface="+mn-ea"/>
                <a:sym typeface="Arial" panose="020B0604020202020204" pitchFamily="34" charset="0"/>
              </a:rPr>
              <a:t>i、value、total。</a:t>
            </a:r>
            <a:r>
              <a:rPr lang="zh-CN" altLang="en-US" sz="2000" dirty="0">
                <a:latin typeface="Arial" panose="020B0604020202020204" pitchFamily="34" charset="0"/>
                <a:ea typeface="微软雅黑" panose="020B0503020204020204" pitchFamily="34" charset="-122"/>
                <a:cs typeface="+mn-ea"/>
                <a:sym typeface="Arial" panose="020B0604020202020204" pitchFamily="34" charset="0"/>
              </a:rPr>
              <a:t>第一轮应为 </a:t>
            </a:r>
            <a:r>
              <a:rPr lang="en-US" altLang="zh-CN" sz="2000" dirty="0">
                <a:latin typeface="Arial" panose="020B0604020202020204" pitchFamily="34" charset="0"/>
                <a:ea typeface="微软雅黑" panose="020B0503020204020204" pitchFamily="34" charset="-122"/>
                <a:cs typeface="+mn-ea"/>
                <a:sym typeface="Arial" panose="020B0604020202020204" pitchFamily="34" charset="0"/>
              </a:rPr>
              <a:t>i=1,value=2,total=0。</a:t>
            </a:r>
            <a:r>
              <a:rPr lang="zh-CN" altLang="en-US" sz="2000" dirty="0">
                <a:latin typeface="Arial" panose="020B0604020202020204" pitchFamily="34" charset="0"/>
                <a:ea typeface="微软雅黑" panose="020B0503020204020204" pitchFamily="34" charset="-122"/>
                <a:cs typeface="+mn-ea"/>
                <a:sym typeface="Arial" panose="020B0604020202020204" pitchFamily="34" charset="0"/>
              </a:rPr>
              <a:t>按 </a:t>
            </a:r>
            <a:r>
              <a:rPr lang="en-US" altLang="zh-CN" sz="2000" dirty="0">
                <a:latin typeface="Arial" panose="020B0604020202020204" pitchFamily="34" charset="0"/>
                <a:ea typeface="微软雅黑" panose="020B0503020204020204" pitchFamily="34" charset="-122"/>
                <a:cs typeface="+mn-ea"/>
                <a:sym typeface="Arial" panose="020B0604020202020204" pitchFamily="34" charset="0"/>
              </a:rPr>
              <a:t>F10 </a:t>
            </a:r>
            <a:r>
              <a:rPr lang="zh-CN" altLang="en-US" sz="2000" dirty="0">
                <a:latin typeface="Arial" panose="020B0604020202020204" pitchFamily="34" charset="0"/>
                <a:ea typeface="微软雅黑" panose="020B0503020204020204" pitchFamily="34" charset="-122"/>
                <a:cs typeface="+mn-ea"/>
                <a:sym typeface="Arial" panose="020B0604020202020204" pitchFamily="34" charset="0"/>
              </a:rPr>
              <a:t>执行累加后，</a:t>
            </a:r>
            <a:r>
              <a:rPr lang="en-US" altLang="zh-CN" sz="2000" dirty="0">
                <a:latin typeface="Arial" panose="020B0604020202020204" pitchFamily="34" charset="0"/>
                <a:ea typeface="微软雅黑" panose="020B0503020204020204" pitchFamily="34" charset="-122"/>
                <a:cs typeface="+mn-ea"/>
                <a:sym typeface="Arial" panose="020B0604020202020204" pitchFamily="34" charset="0"/>
              </a:rPr>
              <a:t>total </a:t>
            </a:r>
            <a:r>
              <a:rPr lang="zh-CN" altLang="en-US" sz="2000" dirty="0">
                <a:latin typeface="Arial" panose="020B0604020202020204" pitchFamily="34" charset="0"/>
                <a:ea typeface="微软雅黑" panose="020B0503020204020204" pitchFamily="34" charset="-122"/>
                <a:cs typeface="+mn-ea"/>
                <a:sym typeface="Arial" panose="020B0604020202020204" pitchFamily="34" charset="0"/>
              </a:rPr>
              <a:t>变成 2。</a:t>
            </a:r>
          </a:p>
        </p:txBody>
      </p:sp>
      <p:sp>
        <p:nvSpPr>
          <p:cNvPr id="14" name="圆角矩形 13"/>
          <p:cNvSpPr/>
          <p:nvPr/>
        </p:nvSpPr>
        <p:spPr>
          <a:xfrm>
            <a:off x="6232525" y="2236470"/>
            <a:ext cx="877570" cy="81915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p:cNvCxnSpPr/>
          <p:nvPr/>
        </p:nvCxnSpPr>
        <p:spPr>
          <a:xfrm flipV="1">
            <a:off x="5928995" y="3722370"/>
            <a:ext cx="3199130" cy="68897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dirty="0">
                <a:solidFill>
                  <a:schemeClr val="accent1"/>
                </a:solidFill>
                <a:ea typeface="微软雅黑" panose="020B0503020204020204" pitchFamily="34" charset="-122"/>
                <a:cs typeface="Arial" panose="020B0604020202020204" pitchFamily="34" charset="0"/>
              </a:rPr>
              <a:t>查看变量</a:t>
            </a:r>
            <a:endParaRPr lang="en-US" altLang="zh-CN" dirty="0">
              <a:solidFill>
                <a:schemeClr val="accent1"/>
              </a:solidFill>
              <a:ea typeface="微软雅黑" panose="020B0503020204020204" pitchFamily="34" charset="-122"/>
              <a:cs typeface="Arial" panose="020B0604020202020204" pitchFamily="34" charset="0"/>
            </a:endParaRP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20</a:t>
            </a:fld>
            <a:r>
              <a:rPr lang="zh-CN" altLang="en-US" dirty="0"/>
              <a:t> </a:t>
            </a:r>
            <a:r>
              <a:rPr lang="en-US" altLang="zh-CN" dirty="0"/>
              <a:t>&gt;</a:t>
            </a:r>
            <a:endParaRPr lang="zh-CN" altLang="en-US" dirty="0"/>
          </a:p>
        </p:txBody>
      </p:sp>
      <p:sp>
        <p:nvSpPr>
          <p:cNvPr id="5" name="文本框 4"/>
          <p:cNvSpPr txBox="1"/>
          <p:nvPr/>
        </p:nvSpPr>
        <p:spPr>
          <a:xfrm>
            <a:off x="814070" y="1064260"/>
            <a:ext cx="9715500" cy="617220"/>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进入 </a:t>
            </a:r>
            <a:r>
              <a:rPr lang="en-US" altLang="zh-CN" sz="2000" dirty="0">
                <a:solidFill>
                  <a:schemeClr val="tx1"/>
                </a:solidFill>
                <a:sym typeface="+mn-ea"/>
              </a:rPr>
              <a:t>multiply </a:t>
            </a:r>
            <a:r>
              <a:rPr lang="zh-CN" altLang="en-US" sz="2000" dirty="0">
                <a:solidFill>
                  <a:schemeClr val="tx1"/>
                </a:solidFill>
                <a:sym typeface="+mn-ea"/>
              </a:rPr>
              <a:t>后，局部变量变为 </a:t>
            </a:r>
            <a:r>
              <a:rPr lang="en-US" altLang="zh-CN" sz="2000" dirty="0">
                <a:solidFill>
                  <a:schemeClr val="tx1"/>
                </a:solidFill>
                <a:sym typeface="+mn-ea"/>
              </a:rPr>
              <a:t>a、b、product</a:t>
            </a:r>
            <a:r>
              <a:rPr lang="zh-CN" altLang="en-US" sz="2000" dirty="0">
                <a:solidFill>
                  <a:schemeClr val="tx1"/>
                </a:solidFill>
                <a:sym typeface="+mn-ea"/>
              </a:rPr>
              <a:t>。</a:t>
            </a:r>
          </a:p>
          <a:p>
            <a:pPr marL="342900" lvl="0" indent="-342900" algn="l" fontAlgn="auto">
              <a:lnSpc>
                <a:spcPct val="150000"/>
              </a:lnSpc>
              <a:buFont typeface="Arial" panose="020B0604020202020204" pitchFamily="34" charset="0"/>
              <a:buChar char="•"/>
            </a:pPr>
            <a:r>
              <a:rPr lang="en-US" altLang="zh-CN" sz="2000" dirty="0">
                <a:solidFill>
                  <a:schemeClr val="tx1"/>
                </a:solidFill>
                <a:sym typeface="+mn-ea"/>
              </a:rPr>
              <a:t>product </a:t>
            </a:r>
            <a:r>
              <a:rPr lang="zh-CN" altLang="en-US" sz="2000" dirty="0">
                <a:solidFill>
                  <a:schemeClr val="tx1"/>
                </a:solidFill>
                <a:sym typeface="+mn-ea"/>
              </a:rPr>
              <a:t>在赋值语句执行前尚未初始化。</a:t>
            </a:r>
          </a:p>
        </p:txBody>
      </p:sp>
      <p:grpSp>
        <p:nvGrpSpPr>
          <p:cNvPr id="6" name="组合 5"/>
          <p:cNvGrpSpPr/>
          <p:nvPr/>
        </p:nvGrpSpPr>
        <p:grpSpPr>
          <a:xfrm>
            <a:off x="497205" y="2357120"/>
            <a:ext cx="7444740" cy="3777615"/>
            <a:chOff x="698" y="3555"/>
            <a:chExt cx="13158" cy="6514"/>
          </a:xfrm>
        </p:grpSpPr>
        <p:pic>
          <p:nvPicPr>
            <p:cNvPr id="4" name="图片 3" descr="1792056400074"/>
            <p:cNvPicPr>
              <a:picLocks noChangeAspect="1"/>
            </p:cNvPicPr>
            <p:nvPr/>
          </p:nvPicPr>
          <p:blipFill>
            <a:blip r:embed="rId3"/>
            <a:stretch>
              <a:fillRect/>
            </a:stretch>
          </p:blipFill>
          <p:spPr>
            <a:xfrm>
              <a:off x="698" y="3555"/>
              <a:ext cx="13159" cy="6515"/>
            </a:xfrm>
            <a:prstGeom prst="rect">
              <a:avLst/>
            </a:prstGeom>
          </p:spPr>
        </p:pic>
        <p:sp>
          <p:nvSpPr>
            <p:cNvPr id="10" name="圆角矩形 9"/>
            <p:cNvSpPr/>
            <p:nvPr/>
          </p:nvSpPr>
          <p:spPr>
            <a:xfrm>
              <a:off x="793" y="3992"/>
              <a:ext cx="1869" cy="1407"/>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1" name="图片 10"/>
          <p:cNvPicPr>
            <a:picLocks noChangeAspect="1"/>
          </p:cNvPicPr>
          <p:nvPr/>
        </p:nvPicPr>
        <p:blipFill>
          <a:blip r:embed="rId4"/>
          <a:stretch>
            <a:fillRect/>
          </a:stretch>
        </p:blipFill>
        <p:spPr>
          <a:xfrm>
            <a:off x="8235950" y="2585720"/>
            <a:ext cx="3264535" cy="33210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21</a:t>
            </a:fld>
            <a:r>
              <a:rPr lang="zh-CN" altLang="en-US" dirty="0"/>
              <a:t> </a:t>
            </a:r>
            <a:r>
              <a:rPr lang="en-US" altLang="zh-CN" dirty="0"/>
              <a:t>&gt;</a:t>
            </a:r>
            <a:endParaRPr lang="zh-CN" altLang="en-US" dirty="0"/>
          </a:p>
        </p:txBody>
      </p:sp>
      <p:sp>
        <p:nvSpPr>
          <p:cNvPr id="8" name="文本框 28"/>
          <p:cNvSpPr txBox="1"/>
          <p:nvPr/>
        </p:nvSpPr>
        <p:spPr>
          <a:xfrm>
            <a:off x="1227455" y="1257935"/>
            <a:ext cx="4726305" cy="30460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fontAlgn="auto">
              <a:lnSpc>
                <a:spcPct val="150000"/>
              </a:lnSpc>
              <a:buFont typeface="Arial" panose="020B0604020202020204" pitchFamily="34" charset="0"/>
              <a:buChar char="•"/>
              <a:defRPr/>
            </a:pPr>
            <a:r>
              <a:rPr lang="zh-CN" altLang="en-US" sz="32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基本概念</a:t>
            </a:r>
            <a:endParaRPr lang="zh-CN" altLang="en-US" sz="3200" b="1"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endParaRPr>
          </a:p>
          <a:p>
            <a:pPr marL="342900" lvl="0" indent="-342900" fontAlgn="auto">
              <a:lnSpc>
                <a:spcPct val="150000"/>
              </a:lnSpc>
              <a:buFont typeface="Arial" panose="020B0604020202020204" pitchFamily="34" charset="0"/>
              <a:buChar char="•"/>
              <a:defRPr/>
            </a:pPr>
            <a:r>
              <a:rPr lang="zh-CN" altLang="en-US" sz="3200" b="1" dirty="0">
                <a:latin typeface="Arial" panose="020B0604020202020204" pitchFamily="34" charset="0"/>
                <a:ea typeface="微软雅黑" panose="020B0503020204020204" pitchFamily="34" charset="-122"/>
                <a:cs typeface="+mn-ea"/>
                <a:sym typeface="Arial" panose="020B0604020202020204" pitchFamily="34" charset="0"/>
              </a:rPr>
              <a:t>环境配置</a:t>
            </a:r>
            <a:endParaRPr lang="en-US" altLang="zh-CN" sz="3200" b="1" dirty="0">
              <a:latin typeface="Arial" panose="020B0604020202020204" pitchFamily="34" charset="0"/>
              <a:ea typeface="微软雅黑" panose="020B0503020204020204" pitchFamily="34" charset="-122"/>
              <a:cs typeface="+mn-ea"/>
              <a:sym typeface="Arial" panose="020B0604020202020204" pitchFamily="34" charset="0"/>
            </a:endParaRPr>
          </a:p>
          <a:p>
            <a:pPr marL="342900" indent="-342900" fontAlgn="auto">
              <a:lnSpc>
                <a:spcPct val="150000"/>
              </a:lnSpc>
              <a:buFont typeface="Arial" panose="020B0604020202020204" pitchFamily="34" charset="0"/>
              <a:buChar char="•"/>
              <a:defRPr/>
            </a:pPr>
            <a:r>
              <a:rPr lang="zh-CN" altLang="en-US" sz="32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基本方法</a:t>
            </a:r>
            <a:endParaRPr lang="en-US" altLang="zh-CN" sz="3200" b="1" dirty="0">
              <a:latin typeface="Arial" panose="020B0604020202020204" pitchFamily="34" charset="0"/>
              <a:ea typeface="微软雅黑" panose="020B0503020204020204" pitchFamily="34" charset="-122"/>
              <a:cs typeface="+mn-ea"/>
              <a:sym typeface="Arial" panose="020B0604020202020204" pitchFamily="34" charset="0"/>
            </a:endParaRPr>
          </a:p>
          <a:p>
            <a:pPr marL="342900" indent="-342900" fontAlgn="auto">
              <a:lnSpc>
                <a:spcPct val="150000"/>
              </a:lnSpc>
              <a:buFont typeface="Arial" panose="020B0604020202020204" pitchFamily="34" charset="0"/>
              <a:buChar char="•"/>
              <a:defRPr/>
            </a:pPr>
            <a:r>
              <a:rPr lang="zh-CN" altLang="en-US" sz="3200" b="1"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rPr>
              <a:t>高级功能</a:t>
            </a: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lang="zh-CN" altLang="en-US">
                <a:solidFill>
                  <a:schemeClr val="accent1"/>
                </a:solidFill>
                <a:ea typeface="微软雅黑" panose="020B0503020204020204" pitchFamily="34" charset="-122"/>
                <a:cs typeface="Arial" panose="020B0604020202020204" pitchFamily="34" charset="0"/>
              </a:rPr>
              <a:t>条件断点（</a:t>
            </a:r>
            <a:r>
              <a:rPr lang="en-US" altLang="zh-CN">
                <a:solidFill>
                  <a:schemeClr val="accent1"/>
                </a:solidFill>
                <a:ea typeface="微软雅黑" panose="020B0503020204020204" pitchFamily="34" charset="-122"/>
                <a:cs typeface="Arial" panose="020B0604020202020204" pitchFamily="34" charset="0"/>
              </a:rPr>
              <a:t>Conditional Breakpoint</a:t>
            </a:r>
            <a:r>
              <a:rPr lang="zh-CN" altLang="en-US">
                <a:solidFill>
                  <a:schemeClr val="accent1"/>
                </a:solidFill>
                <a:ea typeface="微软雅黑" panose="020B0503020204020204" pitchFamily="34" charset="-122"/>
                <a:cs typeface="Arial" panose="020B0604020202020204" pitchFamily="34" charset="0"/>
              </a:rPr>
              <a:t>）：表达式（</a:t>
            </a:r>
            <a:r>
              <a:rPr lang="en-US" altLang="zh-CN">
                <a:solidFill>
                  <a:schemeClr val="accent1"/>
                </a:solidFill>
                <a:ea typeface="微软雅黑" panose="020B0503020204020204" pitchFamily="34" charset="-122"/>
                <a:cs typeface="Arial" panose="020B0604020202020204" pitchFamily="34" charset="0"/>
              </a:rPr>
              <a:t>Expression）</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22</a:t>
            </a:fld>
            <a:r>
              <a:rPr lang="zh-CN" altLang="en-US" dirty="0"/>
              <a:t> </a:t>
            </a:r>
            <a:r>
              <a:rPr lang="en-US" altLang="zh-CN" dirty="0"/>
              <a:t>&gt;</a:t>
            </a:r>
            <a:endParaRPr lang="zh-CN" altLang="en-US" dirty="0"/>
          </a:p>
        </p:txBody>
      </p:sp>
      <p:sp>
        <p:nvSpPr>
          <p:cNvPr id="5" name="文本框 4"/>
          <p:cNvSpPr txBox="1"/>
          <p:nvPr/>
        </p:nvSpPr>
        <p:spPr>
          <a:xfrm>
            <a:off x="976629" y="956310"/>
            <a:ext cx="10634997" cy="72072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含义</a:t>
            </a:r>
            <a:r>
              <a:rPr lang="zh-CN" altLang="en-US" sz="2000" dirty="0">
                <a:solidFill>
                  <a:schemeClr val="tx1"/>
                </a:solidFill>
                <a:sym typeface="+mn-ea"/>
              </a:rPr>
              <a:t>：执行到该行且条件为真时才暂停。适合“</a:t>
            </a:r>
            <a:r>
              <a:rPr lang="zh-CN" altLang="en-US" sz="2000" b="1" dirty="0">
                <a:solidFill>
                  <a:schemeClr val="tx1"/>
                </a:solidFill>
                <a:sym typeface="+mn-ea"/>
              </a:rPr>
              <a:t>只在某个变量取特定值时停下</a:t>
            </a:r>
            <a:r>
              <a:rPr lang="zh-CN" altLang="en-US" sz="2000" dirty="0">
                <a:solidFill>
                  <a:schemeClr val="tx1"/>
                </a:solidFill>
                <a:sym typeface="+mn-ea"/>
              </a:rPr>
              <a:t>”的情况。</a:t>
            </a:r>
          </a:p>
        </p:txBody>
      </p:sp>
      <p:pic>
        <p:nvPicPr>
          <p:cNvPr id="7" name="图片 6" descr="1792058263429"/>
          <p:cNvPicPr>
            <a:picLocks noChangeAspect="1"/>
          </p:cNvPicPr>
          <p:nvPr/>
        </p:nvPicPr>
        <p:blipFill>
          <a:blip r:embed="rId3"/>
          <a:srcRect r="12369"/>
          <a:stretch>
            <a:fillRect/>
          </a:stretch>
        </p:blipFill>
        <p:spPr>
          <a:xfrm>
            <a:off x="5355590" y="1722755"/>
            <a:ext cx="6635750" cy="3810000"/>
          </a:xfrm>
          <a:prstGeom prst="rect">
            <a:avLst/>
          </a:prstGeom>
        </p:spPr>
      </p:pic>
      <p:pic>
        <p:nvPicPr>
          <p:cNvPr id="8" name="图片 7" descr="1792058410233"/>
          <p:cNvPicPr>
            <a:picLocks noChangeAspect="1"/>
          </p:cNvPicPr>
          <p:nvPr/>
        </p:nvPicPr>
        <p:blipFill>
          <a:blip r:embed="rId4"/>
          <a:stretch>
            <a:fillRect/>
          </a:stretch>
        </p:blipFill>
        <p:spPr>
          <a:xfrm>
            <a:off x="793115" y="3575685"/>
            <a:ext cx="3884295" cy="1650365"/>
          </a:xfrm>
          <a:prstGeom prst="rect">
            <a:avLst/>
          </a:prstGeom>
        </p:spPr>
      </p:pic>
      <p:sp>
        <p:nvSpPr>
          <p:cNvPr id="9" name="文本框 8"/>
          <p:cNvSpPr txBox="1"/>
          <p:nvPr/>
        </p:nvSpPr>
        <p:spPr>
          <a:xfrm>
            <a:off x="114935" y="1973580"/>
            <a:ext cx="5240655" cy="1305560"/>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dirty="0">
                <a:solidFill>
                  <a:schemeClr val="tx1"/>
                </a:solidFill>
                <a:sym typeface="+mn-ea"/>
              </a:rPr>
              <a:t>右键 </a:t>
            </a:r>
            <a:r>
              <a:rPr lang="en-US" altLang="zh-CN" dirty="0">
                <a:solidFill>
                  <a:schemeClr val="tx1"/>
                </a:solidFill>
                <a:sym typeface="+mn-ea"/>
              </a:rPr>
              <a:t>BP_TOTAL </a:t>
            </a:r>
            <a:r>
              <a:rPr lang="zh-CN" altLang="en-US" dirty="0">
                <a:solidFill>
                  <a:schemeClr val="tx1"/>
                </a:solidFill>
                <a:sym typeface="+mn-ea"/>
              </a:rPr>
              <a:t>处的断点，选择“编辑断点”</a:t>
            </a:r>
          </a:p>
          <a:p>
            <a:pPr marL="342900" lvl="0" indent="-342900" algn="l" fontAlgn="auto">
              <a:lnSpc>
                <a:spcPct val="150000"/>
              </a:lnSpc>
              <a:buFont typeface="Arial" panose="020B0604020202020204" pitchFamily="34" charset="0"/>
              <a:buChar char="•"/>
            </a:pPr>
            <a:r>
              <a:rPr lang="zh-CN" altLang="en-US" dirty="0">
                <a:solidFill>
                  <a:schemeClr val="tx1"/>
                </a:solidFill>
                <a:sym typeface="+mn-ea"/>
              </a:rPr>
              <a:t>选择“表达式 / </a:t>
            </a:r>
            <a:r>
              <a:rPr lang="en-US" altLang="zh-CN" dirty="0">
                <a:solidFill>
                  <a:schemeClr val="tx1"/>
                </a:solidFill>
                <a:sym typeface="+mn-ea"/>
              </a:rPr>
              <a:t>Expression”，</a:t>
            </a:r>
            <a:r>
              <a:rPr lang="zh-CN" altLang="en-US" dirty="0">
                <a:solidFill>
                  <a:schemeClr val="tx1"/>
                </a:solidFill>
                <a:sym typeface="+mn-ea"/>
              </a:rPr>
              <a:t>输入 </a:t>
            </a:r>
            <a:r>
              <a:rPr lang="en-US" altLang="zh-CN" dirty="0">
                <a:solidFill>
                  <a:schemeClr val="tx1"/>
                </a:solidFill>
                <a:sym typeface="+mn-ea"/>
              </a:rPr>
              <a:t>i == 5</a:t>
            </a:r>
          </a:p>
          <a:p>
            <a:pPr marL="342900" lvl="0" indent="-342900" algn="l" fontAlgn="auto">
              <a:lnSpc>
                <a:spcPct val="150000"/>
              </a:lnSpc>
              <a:buFont typeface="Arial" panose="020B0604020202020204" pitchFamily="34" charset="0"/>
              <a:buChar char="•"/>
            </a:pPr>
            <a:r>
              <a:rPr lang="zh-CN" altLang="en-US" dirty="0">
                <a:solidFill>
                  <a:schemeClr val="tx1"/>
                </a:solidFill>
                <a:sym typeface="+mn-ea"/>
              </a:rPr>
              <a:t>按回车确认，重新启动调试</a:t>
            </a:r>
          </a:p>
        </p:txBody>
      </p:sp>
      <p:sp>
        <p:nvSpPr>
          <p:cNvPr id="10" name="文本框 9"/>
          <p:cNvSpPr txBox="1"/>
          <p:nvPr/>
        </p:nvSpPr>
        <p:spPr>
          <a:xfrm>
            <a:off x="2566670" y="5805805"/>
            <a:ext cx="7059295" cy="398780"/>
          </a:xfrm>
          <a:prstGeom prst="rect">
            <a:avLst/>
          </a:prstGeom>
          <a:noFill/>
        </p:spPr>
        <p:txBody>
          <a:bodyPr wrap="square" rtlCol="0">
            <a:spAutoFit/>
          </a:bodyPr>
          <a:lstStyle/>
          <a:p>
            <a:pPr algn="l"/>
            <a:r>
              <a:rPr lang="zh-CN" altLang="en-US" sz="2000" dirty="0">
                <a:latin typeface="Arial" panose="020B0604020202020204" pitchFamily="34" charset="0"/>
                <a:ea typeface="微软雅黑" panose="020B0503020204020204" pitchFamily="34" charset="-122"/>
                <a:cs typeface="+mn-ea"/>
                <a:sym typeface="Arial" panose="020B0604020202020204" pitchFamily="34" charset="0"/>
              </a:rPr>
              <a:t>程序应在第 5 轮暂停，此时 </a:t>
            </a:r>
            <a:r>
              <a:rPr lang="en-US" altLang="zh-CN" sz="2000" dirty="0">
                <a:latin typeface="Arial" panose="020B0604020202020204" pitchFamily="34" charset="0"/>
                <a:ea typeface="微软雅黑" panose="020B0503020204020204" pitchFamily="34" charset="-122"/>
                <a:cs typeface="+mn-ea"/>
                <a:sym typeface="Arial" panose="020B0604020202020204" pitchFamily="34" charset="0"/>
              </a:rPr>
              <a:t>i = 5, value = 10, total = 20。</a:t>
            </a:r>
          </a:p>
        </p:txBody>
      </p:sp>
      <p:sp>
        <p:nvSpPr>
          <p:cNvPr id="11" name="圆角矩形 10"/>
          <p:cNvSpPr/>
          <p:nvPr/>
        </p:nvSpPr>
        <p:spPr>
          <a:xfrm>
            <a:off x="8027035" y="4231640"/>
            <a:ext cx="3469640" cy="61277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lang="zh-CN" altLang="en-US">
                <a:solidFill>
                  <a:schemeClr val="accent1"/>
                </a:solidFill>
                <a:ea typeface="微软雅黑" panose="020B0503020204020204" pitchFamily="34" charset="-122"/>
                <a:cs typeface="Arial" panose="020B0604020202020204" pitchFamily="34" charset="0"/>
              </a:rPr>
              <a:t>条件断点：命中次数（</a:t>
            </a:r>
            <a:r>
              <a:rPr lang="en-US" altLang="zh-CN">
                <a:solidFill>
                  <a:schemeClr val="accent1"/>
                </a:solidFill>
                <a:ea typeface="微软雅黑" panose="020B0503020204020204" pitchFamily="34" charset="-122"/>
                <a:cs typeface="Arial" panose="020B0604020202020204" pitchFamily="34" charset="0"/>
              </a:rPr>
              <a:t>Hit Count）</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23</a:t>
            </a:fld>
            <a:r>
              <a:rPr lang="zh-CN" altLang="en-US" dirty="0"/>
              <a:t> </a:t>
            </a:r>
            <a:r>
              <a:rPr lang="en-US" altLang="zh-CN" dirty="0"/>
              <a:t>&gt;</a:t>
            </a:r>
            <a:endParaRPr lang="zh-CN" altLang="en-US" dirty="0"/>
          </a:p>
        </p:txBody>
      </p:sp>
      <p:sp>
        <p:nvSpPr>
          <p:cNvPr id="5" name="文本框 4"/>
          <p:cNvSpPr txBox="1"/>
          <p:nvPr/>
        </p:nvSpPr>
        <p:spPr>
          <a:xfrm>
            <a:off x="976630" y="956310"/>
            <a:ext cx="9992360" cy="72072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含义</a:t>
            </a:r>
            <a:r>
              <a:rPr lang="zh-CN" altLang="en-US" sz="2000" dirty="0">
                <a:solidFill>
                  <a:schemeClr val="tx1"/>
                </a:solidFill>
                <a:sym typeface="+mn-ea"/>
              </a:rPr>
              <a:t>：根据程序</a:t>
            </a:r>
            <a:r>
              <a:rPr lang="zh-CN" altLang="en-US" sz="2000" b="1" dirty="0">
                <a:solidFill>
                  <a:schemeClr val="tx1"/>
                </a:solidFill>
                <a:sym typeface="+mn-ea"/>
              </a:rPr>
              <a:t>执行到该断点的次数</a:t>
            </a:r>
            <a:r>
              <a:rPr lang="zh-CN" altLang="en-US" sz="2000" dirty="0">
                <a:solidFill>
                  <a:schemeClr val="tx1"/>
                </a:solidFill>
                <a:sym typeface="+mn-ea"/>
              </a:rPr>
              <a:t>决定何时暂停。适合</a:t>
            </a:r>
            <a:r>
              <a:rPr lang="zh-CN" altLang="en-US" sz="2000" b="1" dirty="0">
                <a:solidFill>
                  <a:schemeClr val="tx1"/>
                </a:solidFill>
                <a:sym typeface="+mn-ea"/>
              </a:rPr>
              <a:t>循环次数很多，只想观察较靠后执行</a:t>
            </a:r>
            <a:r>
              <a:rPr lang="zh-CN" altLang="en-US" sz="2000" dirty="0">
                <a:solidFill>
                  <a:schemeClr val="tx1"/>
                </a:solidFill>
                <a:sym typeface="+mn-ea"/>
              </a:rPr>
              <a:t>的情况。</a:t>
            </a:r>
          </a:p>
        </p:txBody>
      </p:sp>
      <p:sp>
        <p:nvSpPr>
          <p:cNvPr id="9" name="文本框 8"/>
          <p:cNvSpPr txBox="1"/>
          <p:nvPr/>
        </p:nvSpPr>
        <p:spPr>
          <a:xfrm>
            <a:off x="114935" y="2123440"/>
            <a:ext cx="5240655" cy="1305560"/>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dirty="0">
                <a:solidFill>
                  <a:schemeClr val="tx1"/>
                </a:solidFill>
                <a:sym typeface="+mn-ea"/>
              </a:rPr>
              <a:t>右键 </a:t>
            </a:r>
            <a:r>
              <a:rPr lang="en-US" altLang="zh-CN" dirty="0">
                <a:solidFill>
                  <a:schemeClr val="tx1"/>
                </a:solidFill>
                <a:sym typeface="+mn-ea"/>
              </a:rPr>
              <a:t>BP_TOTAL </a:t>
            </a:r>
            <a:r>
              <a:rPr lang="zh-CN" altLang="en-US" dirty="0">
                <a:solidFill>
                  <a:schemeClr val="tx1"/>
                </a:solidFill>
                <a:sym typeface="+mn-ea"/>
              </a:rPr>
              <a:t>处的断点，选择“编辑断点”</a:t>
            </a:r>
          </a:p>
          <a:p>
            <a:pPr marL="342900" lvl="0" indent="-342900" algn="l" fontAlgn="auto">
              <a:lnSpc>
                <a:spcPct val="150000"/>
              </a:lnSpc>
              <a:buFont typeface="Arial" panose="020B0604020202020204" pitchFamily="34" charset="0"/>
              <a:buChar char="•"/>
            </a:pPr>
            <a:r>
              <a:rPr lang="zh-CN" altLang="en-US" dirty="0">
                <a:solidFill>
                  <a:schemeClr val="tx1"/>
                </a:solidFill>
                <a:sym typeface="+mn-ea"/>
              </a:rPr>
              <a:t>选择“命中次数 / </a:t>
            </a:r>
            <a:r>
              <a:rPr lang="en-US" altLang="zh-CN" dirty="0">
                <a:solidFill>
                  <a:schemeClr val="tx1"/>
                </a:solidFill>
                <a:sym typeface="+mn-ea"/>
              </a:rPr>
              <a:t>Hit Count”，</a:t>
            </a:r>
            <a:r>
              <a:rPr lang="zh-CN" altLang="en-US" dirty="0">
                <a:solidFill>
                  <a:schemeClr val="tx1"/>
                </a:solidFill>
                <a:sym typeface="+mn-ea"/>
              </a:rPr>
              <a:t>输入 </a:t>
            </a:r>
            <a:r>
              <a:rPr lang="en-US" altLang="zh-CN" dirty="0">
                <a:solidFill>
                  <a:schemeClr val="tx1"/>
                </a:solidFill>
                <a:sym typeface="+mn-ea"/>
              </a:rPr>
              <a:t>7</a:t>
            </a:r>
          </a:p>
          <a:p>
            <a:pPr marL="342900" lvl="0" indent="-342900" algn="l" fontAlgn="auto">
              <a:lnSpc>
                <a:spcPct val="150000"/>
              </a:lnSpc>
              <a:buFont typeface="Arial" panose="020B0604020202020204" pitchFamily="34" charset="0"/>
              <a:buChar char="•"/>
            </a:pPr>
            <a:r>
              <a:rPr lang="zh-CN" altLang="en-US" dirty="0">
                <a:solidFill>
                  <a:schemeClr val="tx1"/>
                </a:solidFill>
                <a:sym typeface="+mn-ea"/>
              </a:rPr>
              <a:t>重新启动，观察第 7 次到达该行时的状态</a:t>
            </a:r>
          </a:p>
        </p:txBody>
      </p:sp>
      <p:sp>
        <p:nvSpPr>
          <p:cNvPr id="10" name="文本框 9"/>
          <p:cNvSpPr txBox="1"/>
          <p:nvPr/>
        </p:nvSpPr>
        <p:spPr>
          <a:xfrm>
            <a:off x="2099310" y="5805805"/>
            <a:ext cx="7993380" cy="398780"/>
          </a:xfrm>
          <a:prstGeom prst="rect">
            <a:avLst/>
          </a:prstGeom>
          <a:noFill/>
        </p:spPr>
        <p:txBody>
          <a:bodyPr wrap="square" rtlCol="0">
            <a:spAutoFit/>
          </a:bodyPr>
          <a:lstStyle/>
          <a:p>
            <a:pPr algn="l"/>
            <a:r>
              <a:rPr lang="zh-CN" altLang="en-US" sz="2000" dirty="0">
                <a:latin typeface="Arial" panose="020B0604020202020204" pitchFamily="34" charset="0"/>
                <a:ea typeface="微软雅黑" panose="020B0503020204020204" pitchFamily="34" charset="-122"/>
                <a:cs typeface="+mn-ea"/>
                <a:sym typeface="Arial" panose="020B0604020202020204" pitchFamily="34" charset="0"/>
              </a:rPr>
              <a:t>命中次数是“断点所在行目前已被经过了多少次”。</a:t>
            </a:r>
          </a:p>
        </p:txBody>
      </p:sp>
      <p:pic>
        <p:nvPicPr>
          <p:cNvPr id="12" name="图片 11" descr="1792058388401"/>
          <p:cNvPicPr>
            <a:picLocks noChangeAspect="1"/>
          </p:cNvPicPr>
          <p:nvPr/>
        </p:nvPicPr>
        <p:blipFill>
          <a:blip r:embed="rId3"/>
          <a:stretch>
            <a:fillRect/>
          </a:stretch>
        </p:blipFill>
        <p:spPr>
          <a:xfrm>
            <a:off x="878205" y="3644265"/>
            <a:ext cx="3819525" cy="1733550"/>
          </a:xfrm>
          <a:prstGeom prst="rect">
            <a:avLst/>
          </a:prstGeom>
        </p:spPr>
      </p:pic>
      <p:pic>
        <p:nvPicPr>
          <p:cNvPr id="13" name="图片 12" descr="1792063034782"/>
          <p:cNvPicPr>
            <a:picLocks noChangeAspect="1"/>
          </p:cNvPicPr>
          <p:nvPr/>
        </p:nvPicPr>
        <p:blipFill>
          <a:blip r:embed="rId4"/>
          <a:srcRect r="12593"/>
          <a:stretch>
            <a:fillRect/>
          </a:stretch>
        </p:blipFill>
        <p:spPr>
          <a:xfrm>
            <a:off x="5321300" y="1772285"/>
            <a:ext cx="6593840" cy="3800475"/>
          </a:xfrm>
          <a:prstGeom prst="rect">
            <a:avLst/>
          </a:prstGeom>
        </p:spPr>
      </p:pic>
      <p:sp>
        <p:nvSpPr>
          <p:cNvPr id="11" name="圆角矩形 10"/>
          <p:cNvSpPr/>
          <p:nvPr/>
        </p:nvSpPr>
        <p:spPr>
          <a:xfrm>
            <a:off x="8004175" y="4288790"/>
            <a:ext cx="3469640" cy="61277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a:cs typeface="Arial" panose="020B0604020202020204" pitchFamily="34" charset="0"/>
                <a:sym typeface="+mn-ea"/>
              </a:rPr>
              <a:t>条件断点：</a:t>
            </a:r>
            <a:r>
              <a:rPr lang="zh-CN" altLang="en-US">
                <a:solidFill>
                  <a:schemeClr val="accent1"/>
                </a:solidFill>
                <a:ea typeface="微软雅黑" panose="020B0503020204020204" pitchFamily="34" charset="-122"/>
                <a:cs typeface="Arial" panose="020B0604020202020204" pitchFamily="34" charset="0"/>
              </a:rPr>
              <a:t>触发式断点（</a:t>
            </a:r>
            <a:r>
              <a:rPr lang="en-US" altLang="zh-CN">
                <a:solidFill>
                  <a:schemeClr val="accent1"/>
                </a:solidFill>
                <a:ea typeface="微软雅黑" panose="020B0503020204020204" pitchFamily="34" charset="-122"/>
                <a:cs typeface="Arial" panose="020B0604020202020204" pitchFamily="34" charset="0"/>
              </a:rPr>
              <a:t>Triggered Breakpoint）</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24</a:t>
            </a:fld>
            <a:r>
              <a:rPr lang="zh-CN" altLang="en-US" dirty="0"/>
              <a:t> </a:t>
            </a:r>
            <a:r>
              <a:rPr lang="en-US" altLang="zh-CN" dirty="0"/>
              <a:t>&gt;</a:t>
            </a:r>
            <a:endParaRPr lang="zh-CN" altLang="en-US" dirty="0"/>
          </a:p>
        </p:txBody>
      </p:sp>
      <p:sp>
        <p:nvSpPr>
          <p:cNvPr id="5" name="文本框 4"/>
          <p:cNvSpPr txBox="1"/>
          <p:nvPr/>
        </p:nvSpPr>
        <p:spPr>
          <a:xfrm>
            <a:off x="1209675" y="1193800"/>
            <a:ext cx="9796780" cy="960120"/>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含义</a:t>
            </a:r>
            <a:r>
              <a:rPr lang="zh-CN" altLang="en-US" sz="2000" dirty="0">
                <a:solidFill>
                  <a:schemeClr val="tx1"/>
                </a:solidFill>
                <a:sym typeface="+mn-ea"/>
              </a:rPr>
              <a:t>：一个断点先</a:t>
            </a:r>
            <a:r>
              <a:rPr lang="zh-CN" altLang="en-US" sz="2000" b="1" dirty="0">
                <a:solidFill>
                  <a:schemeClr val="tx1"/>
                </a:solidFill>
                <a:sym typeface="+mn-ea"/>
              </a:rPr>
              <a:t>被另一个断点触发，再开始生效（</a:t>
            </a:r>
            <a:r>
              <a:rPr lang="en-US" altLang="zh-CN" sz="2000" b="1" dirty="0">
                <a:solidFill>
                  <a:schemeClr val="tx1"/>
                </a:solidFill>
                <a:sym typeface="+mn-ea"/>
              </a:rPr>
              <a:t>Wait for breakpoint</a:t>
            </a:r>
            <a:r>
              <a:rPr lang="zh-CN" altLang="en-US" sz="2000" b="1" dirty="0">
                <a:solidFill>
                  <a:schemeClr val="tx1"/>
                </a:solidFill>
                <a:sym typeface="+mn-ea"/>
              </a:rPr>
              <a:t>）</a:t>
            </a:r>
            <a:r>
              <a:rPr lang="zh-CN" altLang="en-US" sz="2000" dirty="0">
                <a:solidFill>
                  <a:schemeClr val="tx1"/>
                </a:solidFill>
                <a:sym typeface="+mn-ea"/>
              </a:rPr>
              <a:t>。适合“</a:t>
            </a:r>
            <a:r>
              <a:rPr lang="zh-CN" altLang="en-US" sz="2000" b="1" dirty="0">
                <a:solidFill>
                  <a:schemeClr val="tx1"/>
                </a:solidFill>
                <a:sym typeface="+mn-ea"/>
              </a:rPr>
              <a:t>程序经过某个阶段后，才开始观察后续过程</a:t>
            </a:r>
            <a:r>
              <a:rPr lang="zh-CN" altLang="en-US" sz="2000" dirty="0">
                <a:solidFill>
                  <a:schemeClr val="tx1"/>
                </a:solidFill>
                <a:sym typeface="+mn-ea"/>
              </a:rPr>
              <a:t>”。</a:t>
            </a:r>
          </a:p>
          <a:p>
            <a:pPr marL="342900" lvl="0" indent="-342900" algn="l" fontAlgn="auto">
              <a:lnSpc>
                <a:spcPct val="150000"/>
              </a:lnSpc>
              <a:buFont typeface="Arial" panose="020B0604020202020204" pitchFamily="34" charset="0"/>
              <a:buChar char="•"/>
            </a:pPr>
            <a:endParaRPr lang="en-US" altLang="zh-CN" sz="2000" dirty="0">
              <a:solidFill>
                <a:schemeClr val="tx1"/>
              </a:solidFill>
              <a:sym typeface="+mn-ea"/>
            </a:endParaRPr>
          </a:p>
          <a:p>
            <a:pPr marL="342900" lvl="0" indent="-342900" algn="l" fontAlgn="auto">
              <a:lnSpc>
                <a:spcPct val="150000"/>
              </a:lnSpc>
              <a:buFont typeface="Arial" panose="020B0604020202020204" pitchFamily="34" charset="0"/>
              <a:buChar char="•"/>
            </a:pPr>
            <a:endParaRPr lang="en-US" altLang="zh-CN" sz="2000" dirty="0">
              <a:solidFill>
                <a:schemeClr val="tx1"/>
              </a:solidFill>
              <a:sym typeface="+mn-ea"/>
            </a:endParaRPr>
          </a:p>
        </p:txBody>
      </p:sp>
      <p:sp>
        <p:nvSpPr>
          <p:cNvPr id="9" name="文本框 8"/>
          <p:cNvSpPr txBox="1"/>
          <p:nvPr/>
        </p:nvSpPr>
        <p:spPr>
          <a:xfrm>
            <a:off x="6648450" y="2247900"/>
            <a:ext cx="4657725" cy="3386455"/>
          </a:xfrm>
          <a:prstGeom prst="rect">
            <a:avLst/>
          </a:prstGeom>
          <a:noFill/>
        </p:spPr>
        <p:txBody>
          <a:bodyPr wrap="square" rtlCol="0">
            <a:noAutofit/>
          </a:bodyPr>
          <a:lstStyle/>
          <a:p>
            <a:pPr marL="342900" lvl="0" indent="-342900" algn="l" fontAlgn="auto">
              <a:lnSpc>
                <a:spcPct val="150000"/>
              </a:lnSpc>
              <a:buFont typeface="+mj-lt"/>
              <a:buAutoNum type="arabicPeriod"/>
            </a:pPr>
            <a:r>
              <a:rPr lang="zh-CN" altLang="en-US" dirty="0">
                <a:solidFill>
                  <a:schemeClr val="tx1"/>
                </a:solidFill>
                <a:sym typeface="+mn-ea"/>
              </a:rPr>
              <a:t>在 </a:t>
            </a:r>
            <a:r>
              <a:rPr lang="en-US" altLang="zh-CN" b="1" dirty="0">
                <a:solidFill>
                  <a:schemeClr val="tx1"/>
                </a:solidFill>
                <a:sym typeface="+mn-ea"/>
              </a:rPr>
              <a:t>BP_HALF </a:t>
            </a:r>
            <a:r>
              <a:rPr lang="zh-CN" altLang="en-US" b="1" dirty="0">
                <a:solidFill>
                  <a:schemeClr val="tx1"/>
                </a:solidFill>
                <a:sym typeface="+mn-ea"/>
              </a:rPr>
              <a:t>行设置普通断点 </a:t>
            </a:r>
            <a:r>
              <a:rPr lang="en-US" altLang="zh-CN" b="1" dirty="0">
                <a:solidFill>
                  <a:schemeClr val="tx1"/>
                </a:solidFill>
                <a:sym typeface="+mn-ea"/>
              </a:rPr>
              <a:t>A</a:t>
            </a:r>
            <a:r>
              <a:rPr lang="en-US" altLang="zh-CN" dirty="0">
                <a:solidFill>
                  <a:schemeClr val="tx1"/>
                </a:solidFill>
                <a:sym typeface="+mn-ea"/>
              </a:rPr>
              <a:t>，</a:t>
            </a:r>
            <a:r>
              <a:rPr lang="zh-CN" altLang="en-US" dirty="0">
                <a:solidFill>
                  <a:schemeClr val="tx1"/>
                </a:solidFill>
                <a:sym typeface="+mn-ea"/>
              </a:rPr>
              <a:t>这行只在 </a:t>
            </a:r>
            <a:r>
              <a:rPr lang="en-US" altLang="zh-CN" dirty="0">
                <a:solidFill>
                  <a:schemeClr val="tx1"/>
                </a:solidFill>
                <a:sym typeface="+mn-ea"/>
              </a:rPr>
              <a:t>i=5 </a:t>
            </a:r>
            <a:r>
              <a:rPr lang="zh-CN" altLang="en-US" dirty="0">
                <a:solidFill>
                  <a:schemeClr val="tx1"/>
                </a:solidFill>
                <a:sym typeface="+mn-ea"/>
              </a:rPr>
              <a:t>时执行。</a:t>
            </a:r>
          </a:p>
          <a:p>
            <a:pPr marL="342900" lvl="0" indent="-342900" algn="l" fontAlgn="auto">
              <a:lnSpc>
                <a:spcPct val="150000"/>
              </a:lnSpc>
              <a:buFont typeface="+mj-lt"/>
              <a:buAutoNum type="arabicPeriod"/>
            </a:pPr>
            <a:r>
              <a:rPr lang="zh-CN" altLang="en-US" dirty="0">
                <a:solidFill>
                  <a:schemeClr val="tx1"/>
                </a:solidFill>
                <a:sym typeface="+mn-ea"/>
              </a:rPr>
              <a:t>在 </a:t>
            </a:r>
            <a:r>
              <a:rPr lang="en-US" altLang="zh-CN" b="1" dirty="0">
                <a:solidFill>
                  <a:schemeClr val="tx1"/>
                </a:solidFill>
                <a:sym typeface="+mn-ea"/>
              </a:rPr>
              <a:t>BP_TOTAL </a:t>
            </a:r>
            <a:r>
              <a:rPr lang="zh-CN" altLang="en-US" b="1" dirty="0">
                <a:solidFill>
                  <a:schemeClr val="tx1"/>
                </a:solidFill>
                <a:sym typeface="+mn-ea"/>
              </a:rPr>
              <a:t>行设置断点 </a:t>
            </a:r>
            <a:r>
              <a:rPr lang="en-US" altLang="zh-CN" b="1" dirty="0">
                <a:solidFill>
                  <a:schemeClr val="tx1"/>
                </a:solidFill>
                <a:sym typeface="+mn-ea"/>
              </a:rPr>
              <a:t>B</a:t>
            </a:r>
            <a:r>
              <a:rPr lang="en-US" altLang="zh-CN" dirty="0">
                <a:solidFill>
                  <a:schemeClr val="tx1"/>
                </a:solidFill>
                <a:sym typeface="+mn-ea"/>
              </a:rPr>
              <a:t>。</a:t>
            </a:r>
          </a:p>
          <a:p>
            <a:pPr marL="342900" lvl="0" indent="-342900" algn="l" fontAlgn="auto">
              <a:lnSpc>
                <a:spcPct val="150000"/>
              </a:lnSpc>
              <a:buFont typeface="+mj-lt"/>
              <a:buAutoNum type="arabicPeriod"/>
            </a:pPr>
            <a:r>
              <a:rPr lang="zh-CN" altLang="en-US" dirty="0">
                <a:solidFill>
                  <a:schemeClr val="tx1"/>
                </a:solidFill>
                <a:sym typeface="+mn-ea"/>
              </a:rPr>
              <a:t>右键编辑 </a:t>
            </a:r>
            <a:r>
              <a:rPr lang="en-US" altLang="zh-CN" dirty="0">
                <a:solidFill>
                  <a:schemeClr val="tx1"/>
                </a:solidFill>
                <a:sym typeface="+mn-ea"/>
              </a:rPr>
              <a:t>B，</a:t>
            </a:r>
            <a:r>
              <a:rPr lang="zh-CN" altLang="en-US" dirty="0">
                <a:solidFill>
                  <a:schemeClr val="tx1"/>
                </a:solidFill>
                <a:sym typeface="+mn-ea"/>
              </a:rPr>
              <a:t>选择</a:t>
            </a:r>
            <a:r>
              <a:rPr lang="zh-CN" altLang="en-US" b="1" dirty="0">
                <a:solidFill>
                  <a:schemeClr val="tx1"/>
                </a:solidFill>
                <a:sym typeface="+mn-ea"/>
              </a:rPr>
              <a:t>“等待断点 / </a:t>
            </a:r>
            <a:r>
              <a:rPr lang="en-US" altLang="zh-CN" b="1" dirty="0">
                <a:solidFill>
                  <a:schemeClr val="tx1"/>
                </a:solidFill>
                <a:sym typeface="+mn-ea"/>
              </a:rPr>
              <a:t>Wait for Breakpoint”，</a:t>
            </a:r>
            <a:r>
              <a:rPr lang="zh-CN" altLang="en-US" b="1" dirty="0">
                <a:solidFill>
                  <a:schemeClr val="tx1"/>
                </a:solidFill>
                <a:sym typeface="+mn-ea"/>
              </a:rPr>
              <a:t>选中 </a:t>
            </a:r>
            <a:r>
              <a:rPr lang="en-US" altLang="zh-CN" b="1" dirty="0">
                <a:solidFill>
                  <a:schemeClr val="tx1"/>
                </a:solidFill>
                <a:sym typeface="+mn-ea"/>
              </a:rPr>
              <a:t>A</a:t>
            </a:r>
            <a:r>
              <a:rPr lang="en-US" altLang="zh-CN" dirty="0">
                <a:solidFill>
                  <a:schemeClr val="tx1"/>
                </a:solidFill>
                <a:sym typeface="+mn-ea"/>
              </a:rPr>
              <a:t>。</a:t>
            </a:r>
          </a:p>
          <a:p>
            <a:pPr marL="342900" lvl="0" indent="-342900" algn="l" fontAlgn="auto">
              <a:lnSpc>
                <a:spcPct val="150000"/>
              </a:lnSpc>
              <a:buFont typeface="+mj-lt"/>
              <a:buAutoNum type="arabicPeriod"/>
            </a:pPr>
            <a:r>
              <a:rPr lang="zh-CN" altLang="en-US" dirty="0">
                <a:solidFill>
                  <a:schemeClr val="tx1"/>
                </a:solidFill>
                <a:sym typeface="+mn-ea"/>
              </a:rPr>
              <a:t>重新启动，</a:t>
            </a:r>
            <a:r>
              <a:rPr lang="zh-CN" altLang="en-US" b="1" dirty="0">
                <a:solidFill>
                  <a:schemeClr val="tx1"/>
                </a:solidFill>
                <a:sym typeface="+mn-ea"/>
              </a:rPr>
              <a:t>第 1 至 4 轮不会因 </a:t>
            </a:r>
            <a:r>
              <a:rPr lang="en-US" altLang="zh-CN" b="1" dirty="0">
                <a:solidFill>
                  <a:schemeClr val="tx1"/>
                </a:solidFill>
                <a:sym typeface="+mn-ea"/>
              </a:rPr>
              <a:t>B </a:t>
            </a:r>
            <a:r>
              <a:rPr lang="zh-CN" altLang="en-US" b="1" dirty="0">
                <a:solidFill>
                  <a:schemeClr val="tx1"/>
                </a:solidFill>
                <a:sym typeface="+mn-ea"/>
              </a:rPr>
              <a:t>暂停</a:t>
            </a:r>
            <a:r>
              <a:rPr lang="zh-CN" altLang="en-US" dirty="0">
                <a:solidFill>
                  <a:schemeClr val="tx1"/>
                </a:solidFill>
                <a:sym typeface="+mn-ea"/>
              </a:rPr>
              <a:t>；</a:t>
            </a:r>
          </a:p>
          <a:p>
            <a:pPr marL="342900" lvl="0" indent="-342900" algn="l" fontAlgn="auto">
              <a:lnSpc>
                <a:spcPct val="150000"/>
              </a:lnSpc>
              <a:buFont typeface="+mj-lt"/>
              <a:buAutoNum type="arabicPeriod"/>
            </a:pPr>
            <a:r>
              <a:rPr lang="zh-CN" altLang="en-US" dirty="0">
                <a:solidFill>
                  <a:schemeClr val="tx1"/>
                </a:solidFill>
                <a:sym typeface="+mn-ea"/>
              </a:rPr>
              <a:t>第 5 轮</a:t>
            </a:r>
            <a:r>
              <a:rPr lang="zh-CN" altLang="en-US" b="1" dirty="0">
                <a:solidFill>
                  <a:schemeClr val="tx1"/>
                </a:solidFill>
                <a:sym typeface="+mn-ea"/>
              </a:rPr>
              <a:t>先在 </a:t>
            </a:r>
            <a:r>
              <a:rPr lang="en-US" altLang="zh-CN" b="1" dirty="0">
                <a:solidFill>
                  <a:schemeClr val="tx1"/>
                </a:solidFill>
                <a:sym typeface="+mn-ea"/>
              </a:rPr>
              <a:t>A </a:t>
            </a:r>
            <a:r>
              <a:rPr lang="zh-CN" altLang="en-US" b="1" dirty="0">
                <a:solidFill>
                  <a:schemeClr val="tx1"/>
                </a:solidFill>
                <a:sym typeface="+mn-ea"/>
              </a:rPr>
              <a:t>暂停</a:t>
            </a:r>
            <a:r>
              <a:rPr lang="zh-CN" altLang="en-US" dirty="0">
                <a:solidFill>
                  <a:schemeClr val="tx1"/>
                </a:solidFill>
                <a:sym typeface="+mn-ea"/>
              </a:rPr>
              <a:t>，继续运行到 </a:t>
            </a:r>
            <a:r>
              <a:rPr lang="en-US" altLang="zh-CN" dirty="0">
                <a:solidFill>
                  <a:schemeClr val="tx1"/>
                </a:solidFill>
                <a:sym typeface="+mn-ea"/>
              </a:rPr>
              <a:t>B </a:t>
            </a:r>
            <a:r>
              <a:rPr lang="zh-CN" altLang="en-US" dirty="0">
                <a:solidFill>
                  <a:schemeClr val="tx1"/>
                </a:solidFill>
                <a:sym typeface="+mn-ea"/>
              </a:rPr>
              <a:t>时，</a:t>
            </a:r>
            <a:r>
              <a:rPr lang="en-US" altLang="zh-CN" b="1" dirty="0">
                <a:solidFill>
                  <a:schemeClr val="tx1"/>
                </a:solidFill>
                <a:sym typeface="+mn-ea"/>
              </a:rPr>
              <a:t>B </a:t>
            </a:r>
            <a:r>
              <a:rPr lang="zh-CN" altLang="en-US" b="1" dirty="0">
                <a:solidFill>
                  <a:schemeClr val="tx1"/>
                </a:solidFill>
                <a:sym typeface="+mn-ea"/>
              </a:rPr>
              <a:t>才生效暂停</a:t>
            </a:r>
            <a:r>
              <a:rPr lang="zh-CN" altLang="en-US" dirty="0">
                <a:solidFill>
                  <a:schemeClr val="tx1"/>
                </a:solidFill>
                <a:sym typeface="+mn-ea"/>
              </a:rPr>
              <a:t>。</a:t>
            </a:r>
          </a:p>
        </p:txBody>
      </p:sp>
      <p:pic>
        <p:nvPicPr>
          <p:cNvPr id="8" name="图片 7" descr="1792063866262"/>
          <p:cNvPicPr>
            <a:picLocks noChangeAspect="1"/>
          </p:cNvPicPr>
          <p:nvPr/>
        </p:nvPicPr>
        <p:blipFill>
          <a:blip r:embed="rId3"/>
          <a:stretch>
            <a:fillRect/>
          </a:stretch>
        </p:blipFill>
        <p:spPr>
          <a:xfrm>
            <a:off x="1057275" y="2925445"/>
            <a:ext cx="5328285" cy="1732280"/>
          </a:xfrm>
          <a:prstGeom prst="rect">
            <a:avLst/>
          </a:prstGeom>
        </p:spPr>
      </p:pic>
      <p:sp>
        <p:nvSpPr>
          <p:cNvPr id="11" name="圆角矩形 10"/>
          <p:cNvSpPr/>
          <p:nvPr/>
        </p:nvSpPr>
        <p:spPr>
          <a:xfrm>
            <a:off x="1180465" y="3664585"/>
            <a:ext cx="2625090" cy="37020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a:stCxn id="11" idx="0"/>
          </p:cNvCxnSpPr>
          <p:nvPr/>
        </p:nvCxnSpPr>
        <p:spPr>
          <a:xfrm flipH="1" flipV="1">
            <a:off x="1469390" y="3260725"/>
            <a:ext cx="1023620" cy="403860"/>
          </a:xfrm>
          <a:prstGeom prst="straightConnector1">
            <a:avLst/>
          </a:prstGeom>
          <a:ln w="19050">
            <a:solidFill>
              <a:srgbClr val="9A000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lang="zh-CN" altLang="en-US">
                <a:solidFill>
                  <a:schemeClr val="accent1"/>
                </a:solidFill>
                <a:ea typeface="微软雅黑" panose="020B0503020204020204" pitchFamily="34" charset="-122"/>
                <a:cs typeface="Arial" panose="020B0604020202020204" pitchFamily="34" charset="0"/>
              </a:rPr>
              <a:t>日志点（</a:t>
            </a:r>
            <a:r>
              <a:rPr lang="en-US" altLang="zh-CN">
                <a:solidFill>
                  <a:schemeClr val="accent1"/>
                </a:solidFill>
                <a:ea typeface="微软雅黑" panose="020B0503020204020204" pitchFamily="34" charset="-122"/>
                <a:cs typeface="Arial" panose="020B0604020202020204" pitchFamily="34" charset="0"/>
              </a:rPr>
              <a:t>Logpoint）</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25</a:t>
            </a:fld>
            <a:r>
              <a:rPr lang="zh-CN" altLang="en-US" dirty="0"/>
              <a:t> </a:t>
            </a:r>
            <a:r>
              <a:rPr lang="en-US" altLang="zh-CN" dirty="0"/>
              <a:t>&gt;</a:t>
            </a:r>
            <a:endParaRPr lang="zh-CN" altLang="en-US" dirty="0"/>
          </a:p>
        </p:txBody>
      </p:sp>
      <p:sp>
        <p:nvSpPr>
          <p:cNvPr id="5" name="文本框 4"/>
          <p:cNvSpPr txBox="1"/>
          <p:nvPr/>
        </p:nvSpPr>
        <p:spPr>
          <a:xfrm>
            <a:off x="976630" y="1009015"/>
            <a:ext cx="9992360" cy="72072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含义</a:t>
            </a:r>
            <a:r>
              <a:rPr lang="zh-CN" altLang="en-US" sz="2000" dirty="0">
                <a:solidFill>
                  <a:schemeClr val="tx1"/>
                </a:solidFill>
                <a:sym typeface="+mn-ea"/>
              </a:rPr>
              <a:t>：执行到指定位置时</a:t>
            </a:r>
            <a:r>
              <a:rPr lang="zh-CN" altLang="en-US" sz="2000" b="1" dirty="0">
                <a:solidFill>
                  <a:schemeClr val="tx1"/>
                </a:solidFill>
                <a:sym typeface="+mn-ea"/>
              </a:rPr>
              <a:t>输出消息，但不主动暂停程序</a:t>
            </a:r>
            <a:r>
              <a:rPr lang="zh-CN" altLang="en-US" sz="2000" dirty="0">
                <a:solidFill>
                  <a:schemeClr val="tx1"/>
                </a:solidFill>
                <a:sym typeface="+mn-ea"/>
              </a:rPr>
              <a:t>。适合</a:t>
            </a:r>
            <a:r>
              <a:rPr lang="zh-CN" altLang="en-US" sz="2000" b="1" dirty="0">
                <a:solidFill>
                  <a:schemeClr val="tx1"/>
                </a:solidFill>
                <a:sym typeface="+mn-ea"/>
              </a:rPr>
              <a:t>连续观察变量变化，无需反复操作继续/暂停</a:t>
            </a:r>
            <a:r>
              <a:rPr lang="zh-CN" altLang="en-US" sz="2000" dirty="0">
                <a:solidFill>
                  <a:schemeClr val="tx1"/>
                </a:solidFill>
                <a:sym typeface="+mn-ea"/>
              </a:rPr>
              <a:t>。</a:t>
            </a:r>
          </a:p>
        </p:txBody>
      </p:sp>
      <p:sp>
        <p:nvSpPr>
          <p:cNvPr id="9" name="文本框 8"/>
          <p:cNvSpPr txBox="1"/>
          <p:nvPr/>
        </p:nvSpPr>
        <p:spPr>
          <a:xfrm>
            <a:off x="219075" y="2054225"/>
            <a:ext cx="5240655" cy="1305560"/>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dirty="0">
                <a:solidFill>
                  <a:schemeClr val="tx1"/>
                </a:solidFill>
                <a:sym typeface="+mn-ea"/>
              </a:rPr>
              <a:t>右键 </a:t>
            </a:r>
            <a:r>
              <a:rPr lang="en-US" altLang="zh-CN" dirty="0">
                <a:solidFill>
                  <a:schemeClr val="tx1"/>
                </a:solidFill>
                <a:sym typeface="+mn-ea"/>
              </a:rPr>
              <a:t>BP_TOTAL </a:t>
            </a:r>
            <a:r>
              <a:rPr lang="zh-CN" altLang="en-US" dirty="0">
                <a:solidFill>
                  <a:schemeClr val="tx1"/>
                </a:solidFill>
                <a:sym typeface="+mn-ea"/>
              </a:rPr>
              <a:t>行号左侧，选择“添加日志点 / </a:t>
            </a:r>
            <a:r>
              <a:rPr lang="en-US" altLang="zh-CN" dirty="0">
                <a:solidFill>
                  <a:schemeClr val="tx1"/>
                </a:solidFill>
                <a:sym typeface="+mn-ea"/>
              </a:rPr>
              <a:t>Add Logpoint”，</a:t>
            </a:r>
            <a:r>
              <a:rPr lang="zh-CN" altLang="en-US" dirty="0">
                <a:solidFill>
                  <a:schemeClr val="tx1"/>
                </a:solidFill>
                <a:sym typeface="+mn-ea"/>
              </a:rPr>
              <a:t>输入：</a:t>
            </a:r>
            <a:endParaRPr lang="en-US" altLang="zh-CN" dirty="0">
              <a:solidFill>
                <a:schemeClr val="tx1"/>
              </a:solidFill>
              <a:sym typeface="+mn-ea"/>
            </a:endParaRPr>
          </a:p>
          <a:p>
            <a:pPr marL="342900" lvl="0" indent="-342900" algn="l" fontAlgn="auto">
              <a:lnSpc>
                <a:spcPct val="150000"/>
              </a:lnSpc>
              <a:buFont typeface="Arial" panose="020B0604020202020204" pitchFamily="34" charset="0"/>
              <a:buChar char="•"/>
            </a:pPr>
            <a:r>
              <a:rPr lang="en-US" altLang="zh-CN" dirty="0">
                <a:solidFill>
                  <a:schemeClr val="tx1"/>
                </a:solidFill>
                <a:sym typeface="+mn-ea"/>
              </a:rPr>
              <a:t>i={i}, value={value}, total_before={total}</a:t>
            </a:r>
          </a:p>
        </p:txBody>
      </p:sp>
      <p:sp>
        <p:nvSpPr>
          <p:cNvPr id="10" name="文本框 9"/>
          <p:cNvSpPr txBox="1"/>
          <p:nvPr/>
        </p:nvSpPr>
        <p:spPr>
          <a:xfrm>
            <a:off x="2993390" y="5645785"/>
            <a:ext cx="5773420" cy="398780"/>
          </a:xfrm>
          <a:prstGeom prst="rect">
            <a:avLst/>
          </a:prstGeom>
          <a:noFill/>
        </p:spPr>
        <p:txBody>
          <a:bodyPr wrap="square" rtlCol="0">
            <a:spAutoFit/>
          </a:bodyPr>
          <a:lstStyle/>
          <a:p>
            <a:pPr algn="l"/>
            <a:r>
              <a:rPr lang="zh-CN" altLang="en-US" sz="2000" dirty="0">
                <a:latin typeface="Arial" panose="020B0604020202020204" pitchFamily="34" charset="0"/>
                <a:ea typeface="微软雅黑" panose="020B0503020204020204" pitchFamily="34" charset="-122"/>
                <a:cs typeface="+mn-ea"/>
                <a:sym typeface="Arial" panose="020B0604020202020204" pitchFamily="34" charset="0"/>
              </a:rPr>
              <a:t>在调试控制台查看消息。</a:t>
            </a:r>
            <a:r>
              <a:rPr lang="en-US" altLang="zh-CN" sz="2000" dirty="0">
                <a:latin typeface="Arial" panose="020B0604020202020204" pitchFamily="34" charset="0"/>
                <a:ea typeface="微软雅黑" panose="020B0503020204020204" pitchFamily="34" charset="-122"/>
                <a:cs typeface="+mn-ea"/>
                <a:sym typeface="Arial" panose="020B0604020202020204" pitchFamily="34" charset="0"/>
              </a:rPr>
              <a:t>“{}”</a:t>
            </a:r>
            <a:r>
              <a:rPr lang="zh-CN" altLang="en-US" sz="2000" dirty="0">
                <a:latin typeface="Arial" panose="020B0604020202020204" pitchFamily="34" charset="0"/>
                <a:ea typeface="微软雅黑" panose="020B0503020204020204" pitchFamily="34" charset="-122"/>
                <a:cs typeface="+mn-ea"/>
                <a:sym typeface="Arial" panose="020B0604020202020204" pitchFamily="34" charset="0"/>
              </a:rPr>
              <a:t>中是要计算的表达式。</a:t>
            </a:r>
            <a:endParaRPr lang="en-US" altLang="zh-CN" sz="20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4" name="图片 3" descr="1792063292231"/>
          <p:cNvPicPr>
            <a:picLocks noChangeAspect="1"/>
          </p:cNvPicPr>
          <p:nvPr/>
        </p:nvPicPr>
        <p:blipFill>
          <a:blip r:embed="rId3"/>
          <a:stretch>
            <a:fillRect/>
          </a:stretch>
        </p:blipFill>
        <p:spPr>
          <a:xfrm>
            <a:off x="723900" y="3532505"/>
            <a:ext cx="4576445" cy="1771650"/>
          </a:xfrm>
          <a:prstGeom prst="rect">
            <a:avLst/>
          </a:prstGeom>
        </p:spPr>
      </p:pic>
      <p:pic>
        <p:nvPicPr>
          <p:cNvPr id="6" name="图片 5" descr="1792063642794"/>
          <p:cNvPicPr>
            <a:picLocks noChangeAspect="1"/>
          </p:cNvPicPr>
          <p:nvPr/>
        </p:nvPicPr>
        <p:blipFill>
          <a:blip r:embed="rId4"/>
          <a:stretch>
            <a:fillRect/>
          </a:stretch>
        </p:blipFill>
        <p:spPr>
          <a:xfrm>
            <a:off x="5656580" y="2035810"/>
            <a:ext cx="6092190" cy="3285490"/>
          </a:xfrm>
          <a:prstGeom prst="rect">
            <a:avLst/>
          </a:prstGeom>
        </p:spPr>
      </p:pic>
      <p:sp>
        <p:nvSpPr>
          <p:cNvPr id="7" name="文本框 6"/>
          <p:cNvSpPr txBox="1"/>
          <p:nvPr/>
        </p:nvSpPr>
        <p:spPr>
          <a:xfrm>
            <a:off x="3048000" y="3229610"/>
            <a:ext cx="6096000" cy="398780"/>
          </a:xfrm>
          <a:prstGeom prst="rect">
            <a:avLst/>
          </a:prstGeom>
          <a:noFill/>
        </p:spPr>
        <p:txBody>
          <a:bodyPr wrap="square" rtlCol="0" anchor="t">
            <a:spAutoFit/>
          </a:bodyPr>
          <a:lstStyle/>
          <a:p>
            <a:pPr algn="ctr"/>
            <a:r>
              <a:rPr lang="en-US" altLang="zh-CN" sz="2000" dirty="0">
                <a:latin typeface="Arial" panose="020B0604020202020204" pitchFamily="34" charset="0"/>
                <a:ea typeface="微软雅黑" panose="020B0503020204020204" pitchFamily="34" charset="-122"/>
                <a:cs typeface="+mn-ea"/>
                <a:sym typeface="Arial" panose="020B0604020202020204" pitchFamily="34" charset="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lang="zh-CN" altLang="en-US">
                <a:solidFill>
                  <a:schemeClr val="accent1"/>
                </a:solidFill>
                <a:ea typeface="微软雅黑" panose="020B0503020204020204" pitchFamily="34" charset="-122"/>
                <a:cs typeface="Arial" panose="020B0604020202020204" pitchFamily="34" charset="0"/>
              </a:rPr>
              <a:t>组合使用</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26</a:t>
            </a:fld>
            <a:r>
              <a:rPr lang="zh-CN" altLang="en-US" dirty="0"/>
              <a:t> </a:t>
            </a:r>
            <a:r>
              <a:rPr lang="en-US" altLang="zh-CN" dirty="0"/>
              <a:t>&gt;</a:t>
            </a:r>
            <a:endParaRPr lang="zh-CN" altLang="en-US" dirty="0"/>
          </a:p>
        </p:txBody>
      </p:sp>
      <p:sp>
        <p:nvSpPr>
          <p:cNvPr id="5" name="文本框 4"/>
          <p:cNvSpPr txBox="1"/>
          <p:nvPr/>
        </p:nvSpPr>
        <p:spPr>
          <a:xfrm>
            <a:off x="1415415" y="1337945"/>
            <a:ext cx="9980295" cy="720725"/>
          </a:xfrm>
          <a:prstGeom prst="rect">
            <a:avLst/>
          </a:prstGeom>
          <a:noFill/>
        </p:spPr>
        <p:txBody>
          <a:bodyPr wrap="square" rtlCol="0">
            <a:noAutofit/>
          </a:bodyPr>
          <a:lstStyle/>
          <a:p>
            <a:pPr lvl="0" indent="0" algn="l" fontAlgn="auto">
              <a:lnSpc>
                <a:spcPct val="150000"/>
              </a:lnSpc>
              <a:buFont typeface="Arial" panose="020B0604020202020204" pitchFamily="34" charset="0"/>
              <a:buNone/>
            </a:pPr>
            <a:r>
              <a:rPr lang="zh-CN" altLang="en-US" sz="2000" dirty="0">
                <a:solidFill>
                  <a:schemeClr val="tx1"/>
                </a:solidFill>
                <a:sym typeface="+mn-ea"/>
              </a:rPr>
              <a:t>以上几种断点类型可以</a:t>
            </a:r>
            <a:r>
              <a:rPr lang="zh-CN" altLang="en-US" sz="2000" b="1" dirty="0">
                <a:solidFill>
                  <a:schemeClr val="tx1"/>
                </a:solidFill>
                <a:sym typeface="+mn-ea"/>
              </a:rPr>
              <a:t>组合使用，以满足更复杂的调试需求</a:t>
            </a:r>
            <a:r>
              <a:rPr lang="zh-CN" altLang="en-US" sz="2000" dirty="0">
                <a:solidFill>
                  <a:schemeClr val="tx1"/>
                </a:solidFill>
                <a:sym typeface="+mn-ea"/>
              </a:rPr>
              <a:t>。如组合表达式和命中次数：</a:t>
            </a:r>
          </a:p>
        </p:txBody>
      </p:sp>
      <p:sp>
        <p:nvSpPr>
          <p:cNvPr id="9" name="文本框 8"/>
          <p:cNvSpPr txBox="1"/>
          <p:nvPr/>
        </p:nvSpPr>
        <p:spPr>
          <a:xfrm>
            <a:off x="2651760" y="4174490"/>
            <a:ext cx="6889115" cy="616585"/>
          </a:xfrm>
          <a:prstGeom prst="rect">
            <a:avLst/>
          </a:prstGeom>
          <a:noFill/>
        </p:spPr>
        <p:txBody>
          <a:bodyPr wrap="square" rtlCol="0">
            <a:noAutofit/>
          </a:bodyPr>
          <a:lstStyle/>
          <a:p>
            <a:pPr lvl="0" indent="0" algn="l" fontAlgn="auto">
              <a:lnSpc>
                <a:spcPct val="150000"/>
              </a:lnSpc>
              <a:buFont typeface="+mj-lt"/>
              <a:buNone/>
            </a:pPr>
            <a:r>
              <a:rPr lang="zh-CN" altLang="en-US" dirty="0">
                <a:solidFill>
                  <a:schemeClr val="tx1"/>
                </a:solidFill>
                <a:sym typeface="+mn-ea"/>
              </a:rPr>
              <a:t>如上设置时，只会在 </a:t>
            </a:r>
            <a:r>
              <a:rPr lang="en-US" altLang="zh-CN" dirty="0">
                <a:solidFill>
                  <a:schemeClr val="tx1"/>
                </a:solidFill>
                <a:sym typeface="+mn-ea"/>
              </a:rPr>
              <a:t>total &lt; 20 </a:t>
            </a:r>
            <a:r>
              <a:rPr lang="zh-CN" altLang="en-US" dirty="0">
                <a:solidFill>
                  <a:schemeClr val="tx1"/>
                </a:solidFill>
                <a:sym typeface="+mn-ea"/>
              </a:rPr>
              <a:t>且第 3 次到达 </a:t>
            </a:r>
            <a:r>
              <a:rPr lang="en-US" altLang="zh-CN" dirty="0">
                <a:solidFill>
                  <a:schemeClr val="tx1"/>
                </a:solidFill>
                <a:sym typeface="+mn-ea"/>
              </a:rPr>
              <a:t>BP_TOTAL </a:t>
            </a:r>
            <a:r>
              <a:rPr lang="zh-CN" altLang="en-US" dirty="0">
                <a:solidFill>
                  <a:schemeClr val="tx1"/>
                </a:solidFill>
                <a:sym typeface="+mn-ea"/>
              </a:rPr>
              <a:t>时暂停。</a:t>
            </a:r>
          </a:p>
        </p:txBody>
      </p:sp>
      <p:pic>
        <p:nvPicPr>
          <p:cNvPr id="4" name="图片 3" descr="1792064995896"/>
          <p:cNvPicPr>
            <a:picLocks noChangeAspect="1"/>
          </p:cNvPicPr>
          <p:nvPr/>
        </p:nvPicPr>
        <p:blipFill>
          <a:blip r:embed="rId3"/>
          <a:stretch>
            <a:fillRect/>
          </a:stretch>
        </p:blipFill>
        <p:spPr>
          <a:xfrm>
            <a:off x="3286125" y="2252345"/>
            <a:ext cx="5620385" cy="172847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lang="zh-CN" altLang="en-US">
                <a:solidFill>
                  <a:schemeClr val="accent1"/>
                </a:solidFill>
                <a:ea typeface="微软雅黑" panose="020B0503020204020204" pitchFamily="34" charset="-122"/>
                <a:cs typeface="Arial" panose="020B0604020202020204" pitchFamily="34" charset="0"/>
              </a:rPr>
              <a:t>函数断点（</a:t>
            </a:r>
            <a:r>
              <a:rPr lang="en-US" altLang="zh-CN">
                <a:solidFill>
                  <a:schemeClr val="accent1"/>
                </a:solidFill>
                <a:ea typeface="微软雅黑" panose="020B0503020204020204" pitchFamily="34" charset="-122"/>
                <a:cs typeface="Arial" panose="020B0604020202020204" pitchFamily="34" charset="0"/>
              </a:rPr>
              <a:t>Function Breakpoint</a:t>
            </a:r>
            <a:r>
              <a:rPr>
                <a:solidFill>
                  <a:schemeClr val="accent1"/>
                </a:solidFill>
                <a:ea typeface="微软雅黑" panose="020B0503020204020204" pitchFamily="34" charset="-122"/>
                <a:cs typeface="Arial" panose="020B0604020202020204" pitchFamily="34" charset="0"/>
              </a:rPr>
              <a:t>）</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27</a:t>
            </a:fld>
            <a:r>
              <a:rPr lang="zh-CN" altLang="en-US" dirty="0"/>
              <a:t> </a:t>
            </a:r>
            <a:r>
              <a:rPr lang="en-US" altLang="zh-CN" dirty="0"/>
              <a:t>&gt;</a:t>
            </a:r>
            <a:endParaRPr lang="zh-CN" altLang="en-US" dirty="0"/>
          </a:p>
        </p:txBody>
      </p:sp>
      <p:sp>
        <p:nvSpPr>
          <p:cNvPr id="5" name="文本框 4"/>
          <p:cNvSpPr txBox="1"/>
          <p:nvPr/>
        </p:nvSpPr>
        <p:spPr>
          <a:xfrm>
            <a:off x="1959610" y="963295"/>
            <a:ext cx="7633970" cy="72072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含义</a:t>
            </a:r>
            <a:r>
              <a:rPr lang="zh-CN" altLang="en-US" sz="2000" dirty="0">
                <a:solidFill>
                  <a:schemeClr val="tx1"/>
                </a:solidFill>
                <a:sym typeface="+mn-ea"/>
              </a:rPr>
              <a:t>：进入</a:t>
            </a:r>
            <a:r>
              <a:rPr lang="zh-CN" altLang="en-US" sz="2000" b="1" dirty="0">
                <a:solidFill>
                  <a:schemeClr val="tx1"/>
                </a:solidFill>
                <a:sym typeface="+mn-ea"/>
              </a:rPr>
              <a:t>指定函数时暂停</a:t>
            </a:r>
            <a:r>
              <a:rPr lang="zh-CN" altLang="en-US" sz="2000" dirty="0">
                <a:solidFill>
                  <a:schemeClr val="tx1"/>
                </a:solidFill>
                <a:sym typeface="+mn-ea"/>
              </a:rPr>
              <a:t>，不必寻找该函数的调用行号。</a:t>
            </a:r>
          </a:p>
        </p:txBody>
      </p:sp>
      <p:sp>
        <p:nvSpPr>
          <p:cNvPr id="10" name="文本框 9"/>
          <p:cNvSpPr txBox="1"/>
          <p:nvPr/>
        </p:nvSpPr>
        <p:spPr>
          <a:xfrm>
            <a:off x="1400175" y="5995670"/>
            <a:ext cx="9391650" cy="398780"/>
          </a:xfrm>
          <a:prstGeom prst="rect">
            <a:avLst/>
          </a:prstGeom>
          <a:noFill/>
        </p:spPr>
        <p:txBody>
          <a:bodyPr wrap="square" rtlCol="0">
            <a:spAutoFit/>
          </a:bodyPr>
          <a:lstStyle/>
          <a:p>
            <a:pPr algn="l"/>
            <a:r>
              <a:rPr lang="zh-CN" altLang="en-US" sz="2000" dirty="0">
                <a:latin typeface="Arial" panose="020B0604020202020204" pitchFamily="34" charset="0"/>
                <a:ea typeface="微软雅黑" panose="020B0503020204020204" pitchFamily="34" charset="-122"/>
                <a:cs typeface="+mn-ea"/>
                <a:sym typeface="Arial" panose="020B0604020202020204" pitchFamily="34" charset="0"/>
              </a:rPr>
              <a:t>选择添加函数断点，输入 </a:t>
            </a:r>
            <a:r>
              <a:rPr lang="en-US" altLang="zh-CN" sz="2000" dirty="0">
                <a:latin typeface="Arial" panose="020B0604020202020204" pitchFamily="34" charset="0"/>
                <a:ea typeface="微软雅黑" panose="020B0503020204020204" pitchFamily="34" charset="-122"/>
                <a:cs typeface="+mn-ea"/>
                <a:sym typeface="Arial" panose="020B0604020202020204" pitchFamily="34" charset="0"/>
              </a:rPr>
              <a:t>multiply，</a:t>
            </a:r>
            <a:r>
              <a:rPr lang="zh-CN" altLang="en-US" sz="2000" dirty="0">
                <a:latin typeface="Arial" panose="020B0604020202020204" pitchFamily="34" charset="0"/>
                <a:ea typeface="微软雅黑" panose="020B0503020204020204" pitchFamily="34" charset="-122"/>
                <a:cs typeface="+mn-ea"/>
                <a:sym typeface="Arial" panose="020B0604020202020204" pitchFamily="34" charset="0"/>
              </a:rPr>
              <a:t>启动调试。程序每次进入 </a:t>
            </a:r>
            <a:r>
              <a:rPr lang="en-US" altLang="zh-CN" sz="2000" dirty="0">
                <a:latin typeface="Arial" panose="020B0604020202020204" pitchFamily="34" charset="0"/>
                <a:ea typeface="微软雅黑" panose="020B0503020204020204" pitchFamily="34" charset="-122"/>
                <a:cs typeface="+mn-ea"/>
                <a:sym typeface="Arial" panose="020B0604020202020204" pitchFamily="34" charset="0"/>
              </a:rPr>
              <a:t>multiply </a:t>
            </a:r>
            <a:r>
              <a:rPr lang="zh-CN" altLang="en-US" sz="2000" dirty="0">
                <a:latin typeface="Arial" panose="020B0604020202020204" pitchFamily="34" charset="0"/>
                <a:ea typeface="微软雅黑" panose="020B0503020204020204" pitchFamily="34" charset="-122"/>
                <a:cs typeface="+mn-ea"/>
                <a:sym typeface="Arial" panose="020B0604020202020204" pitchFamily="34" charset="0"/>
              </a:rPr>
              <a:t>时都会暂停</a:t>
            </a:r>
          </a:p>
        </p:txBody>
      </p:sp>
      <p:pic>
        <p:nvPicPr>
          <p:cNvPr id="8" name="图片 7" descr="1792065105701"/>
          <p:cNvPicPr>
            <a:picLocks noChangeAspect="1"/>
          </p:cNvPicPr>
          <p:nvPr/>
        </p:nvPicPr>
        <p:blipFill>
          <a:blip r:embed="rId3"/>
          <a:stretch>
            <a:fillRect/>
          </a:stretch>
        </p:blipFill>
        <p:spPr>
          <a:xfrm>
            <a:off x="1185545" y="1649730"/>
            <a:ext cx="4278630" cy="4234180"/>
          </a:xfrm>
          <a:prstGeom prst="rect">
            <a:avLst/>
          </a:prstGeom>
        </p:spPr>
      </p:pic>
      <p:sp>
        <p:nvSpPr>
          <p:cNvPr id="13" name="圆角矩形 12"/>
          <p:cNvSpPr/>
          <p:nvPr/>
        </p:nvSpPr>
        <p:spPr>
          <a:xfrm>
            <a:off x="1296035" y="4519930"/>
            <a:ext cx="2011680" cy="29210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3677920" y="5156200"/>
            <a:ext cx="843280" cy="29210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p:cNvPicPr>
            <a:picLocks noChangeAspect="1"/>
          </p:cNvPicPr>
          <p:nvPr/>
        </p:nvPicPr>
        <p:blipFill>
          <a:blip r:embed="rId4"/>
          <a:stretch>
            <a:fillRect/>
          </a:stretch>
        </p:blipFill>
        <p:spPr>
          <a:xfrm>
            <a:off x="6380480" y="3212465"/>
            <a:ext cx="3649980" cy="1307465"/>
          </a:xfrm>
          <a:prstGeom prst="rect">
            <a:avLst/>
          </a:prstGeom>
        </p:spPr>
      </p:pic>
      <p:sp>
        <p:nvSpPr>
          <p:cNvPr id="18" name="圆角矩形 17"/>
          <p:cNvSpPr/>
          <p:nvPr/>
        </p:nvSpPr>
        <p:spPr>
          <a:xfrm>
            <a:off x="7031355" y="3884295"/>
            <a:ext cx="843280" cy="29210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箭头连接符 18"/>
          <p:cNvCxnSpPr>
            <a:stCxn id="14" idx="3"/>
            <a:endCxn id="18" idx="1"/>
          </p:cNvCxnSpPr>
          <p:nvPr/>
        </p:nvCxnSpPr>
        <p:spPr>
          <a:xfrm flipV="1">
            <a:off x="4521200" y="4030345"/>
            <a:ext cx="2510155" cy="1271905"/>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lang="zh-CN" altLang="en-US">
                <a:solidFill>
                  <a:schemeClr val="accent1"/>
                </a:solidFill>
                <a:ea typeface="微软雅黑" panose="020B0503020204020204" pitchFamily="34" charset="-122"/>
                <a:cs typeface="Arial" panose="020B0604020202020204" pitchFamily="34" charset="0"/>
              </a:rPr>
              <a:t>添加监视（</a:t>
            </a:r>
            <a:r>
              <a:rPr lang="en-US" altLang="zh-CN">
                <a:solidFill>
                  <a:schemeClr val="accent1"/>
                </a:solidFill>
                <a:ea typeface="微软雅黑" panose="020B0503020204020204" pitchFamily="34" charset="-122"/>
                <a:cs typeface="Arial" panose="020B0604020202020204" pitchFamily="34" charset="0"/>
              </a:rPr>
              <a:t>Watch</a:t>
            </a:r>
            <a:r>
              <a:rPr lang="zh-CN" altLang="en-US">
                <a:solidFill>
                  <a:schemeClr val="accent1"/>
                </a:solidFill>
                <a:ea typeface="微软雅黑" panose="020B0503020204020204" pitchFamily="34" charset="-122"/>
                <a:cs typeface="Arial" panose="020B0604020202020204" pitchFamily="34" charset="0"/>
              </a:rPr>
              <a:t>）表达式</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28</a:t>
            </a:fld>
            <a:r>
              <a:rPr lang="zh-CN" altLang="en-US" dirty="0"/>
              <a:t> </a:t>
            </a:r>
            <a:r>
              <a:rPr lang="en-US" altLang="zh-CN" dirty="0"/>
              <a:t>&gt;</a:t>
            </a:r>
            <a:endParaRPr lang="zh-CN" altLang="en-US" dirty="0"/>
          </a:p>
        </p:txBody>
      </p:sp>
      <p:sp>
        <p:nvSpPr>
          <p:cNvPr id="5" name="文本框 4"/>
          <p:cNvSpPr txBox="1"/>
          <p:nvPr/>
        </p:nvSpPr>
        <p:spPr>
          <a:xfrm>
            <a:off x="814070" y="1164590"/>
            <a:ext cx="9853930" cy="244411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右键变量，选择“</a:t>
            </a:r>
            <a:r>
              <a:rPr lang="zh-CN" altLang="en-US" sz="2000" b="1" dirty="0">
                <a:solidFill>
                  <a:schemeClr val="tx1"/>
                </a:solidFill>
                <a:sym typeface="+mn-ea"/>
              </a:rPr>
              <a:t>添加到监视</a:t>
            </a:r>
            <a:r>
              <a:rPr lang="zh-CN" altLang="en-US" sz="2000" dirty="0">
                <a:solidFill>
                  <a:schemeClr val="tx1"/>
                </a:solidFill>
                <a:sym typeface="+mn-ea"/>
              </a:rPr>
              <a:t>”，也可在“监视”面板点击加号，手动输入表达式。</a:t>
            </a:r>
          </a:p>
          <a:p>
            <a:pPr marL="800100" lvl="1" indent="-342900" algn="l" fontAlgn="auto">
              <a:lnSpc>
                <a:spcPct val="150000"/>
              </a:lnSpc>
              <a:buFont typeface="Arial" panose="020B0604020202020204" pitchFamily="34" charset="0"/>
              <a:buChar char="•"/>
            </a:pPr>
            <a:r>
              <a:rPr lang="zh-CN" altLang="en-US" sz="2000" dirty="0">
                <a:solidFill>
                  <a:schemeClr val="tx1"/>
                </a:solidFill>
                <a:sym typeface="+mn-ea"/>
              </a:rPr>
              <a:t>每次暂停，监视值会更新。</a:t>
            </a:r>
          </a:p>
          <a:p>
            <a:pPr marL="800100" lvl="1" indent="-342900" algn="l" fontAlgn="auto">
              <a:lnSpc>
                <a:spcPct val="150000"/>
              </a:lnSpc>
              <a:buFont typeface="Arial" panose="020B0604020202020204" pitchFamily="34" charset="0"/>
              <a:buChar char="•"/>
            </a:pPr>
            <a:r>
              <a:rPr lang="zh-CN" altLang="en-US" sz="2000" dirty="0">
                <a:solidFill>
                  <a:schemeClr val="tx1"/>
                </a:solidFill>
                <a:sym typeface="+mn-ea"/>
              </a:rPr>
              <a:t>表达式</a:t>
            </a:r>
            <a:r>
              <a:rPr lang="zh-CN" altLang="en-US" sz="2000" b="1" dirty="0">
                <a:solidFill>
                  <a:schemeClr val="tx1"/>
                </a:solidFill>
                <a:sym typeface="+mn-ea"/>
              </a:rPr>
              <a:t>使用 </a:t>
            </a:r>
            <a:r>
              <a:rPr lang="en-US" altLang="zh-CN" sz="2000" b="1" dirty="0">
                <a:solidFill>
                  <a:schemeClr val="tx1"/>
                </a:solidFill>
                <a:sym typeface="+mn-ea"/>
              </a:rPr>
              <a:t>C++ </a:t>
            </a:r>
            <a:r>
              <a:rPr lang="zh-CN" altLang="en-US" sz="2000" b="1" dirty="0">
                <a:solidFill>
                  <a:schemeClr val="tx1"/>
                </a:solidFill>
                <a:sym typeface="+mn-ea"/>
              </a:rPr>
              <a:t>语法</a:t>
            </a:r>
            <a:r>
              <a:rPr lang="zh-CN" altLang="en-US" sz="2000" dirty="0">
                <a:solidFill>
                  <a:schemeClr val="tx1"/>
                </a:solidFill>
                <a:sym typeface="+mn-ea"/>
              </a:rPr>
              <a:t>，可用于监视关注的变量或计算结果。</a:t>
            </a:r>
          </a:p>
          <a:p>
            <a:pPr marL="800100" lvl="1" indent="-342900" algn="l" fontAlgn="auto">
              <a:lnSpc>
                <a:spcPct val="150000"/>
              </a:lnSpc>
              <a:buFont typeface="Arial" panose="020B0604020202020204" pitchFamily="34" charset="0"/>
              <a:buChar char="•"/>
            </a:pPr>
            <a:r>
              <a:rPr lang="zh-CN" altLang="en-US" sz="2000" dirty="0">
                <a:solidFill>
                  <a:schemeClr val="tx1"/>
                </a:solidFill>
                <a:sym typeface="+mn-ea"/>
              </a:rPr>
              <a:t>变量</a:t>
            </a:r>
            <a:r>
              <a:rPr lang="zh-CN" altLang="en-US" sz="2000" b="1" dirty="0">
                <a:solidFill>
                  <a:schemeClr val="tx1"/>
                </a:solidFill>
                <a:sym typeface="+mn-ea"/>
              </a:rPr>
              <a:t>离开作用域后，监视会显示不可用</a:t>
            </a:r>
          </a:p>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观察表达式应</a:t>
            </a:r>
            <a:r>
              <a:rPr lang="zh-CN" altLang="en-US" sz="2000" b="1" dirty="0">
                <a:solidFill>
                  <a:schemeClr val="tx1"/>
                </a:solidFill>
                <a:sym typeface="+mn-ea"/>
              </a:rPr>
              <a:t>避免修改程序状态</a:t>
            </a:r>
            <a:r>
              <a:rPr lang="zh-CN" altLang="en-US" sz="2000" dirty="0">
                <a:solidFill>
                  <a:schemeClr val="tx1"/>
                </a:solidFill>
                <a:sym typeface="+mn-ea"/>
              </a:rPr>
              <a:t>，避免输入 </a:t>
            </a:r>
            <a:r>
              <a:rPr lang="en-US" altLang="zh-CN" sz="2000" dirty="0">
                <a:solidFill>
                  <a:schemeClr val="tx1"/>
                </a:solidFill>
                <a:sym typeface="+mn-ea"/>
              </a:rPr>
              <a:t>i++ </a:t>
            </a:r>
            <a:r>
              <a:rPr lang="zh-CN" altLang="en-US" sz="2000" dirty="0">
                <a:solidFill>
                  <a:schemeClr val="tx1"/>
                </a:solidFill>
                <a:sym typeface="+mn-ea"/>
              </a:rPr>
              <a:t>这类会改变变量值的表达式。</a:t>
            </a:r>
          </a:p>
        </p:txBody>
      </p:sp>
      <p:pic>
        <p:nvPicPr>
          <p:cNvPr id="8" name="图片 7"/>
          <p:cNvPicPr>
            <a:picLocks noChangeAspect="1"/>
          </p:cNvPicPr>
          <p:nvPr/>
        </p:nvPicPr>
        <p:blipFill>
          <a:blip r:embed="rId3"/>
          <a:stretch>
            <a:fillRect/>
          </a:stretch>
        </p:blipFill>
        <p:spPr>
          <a:xfrm>
            <a:off x="2174240" y="3757930"/>
            <a:ext cx="2978785" cy="2636520"/>
          </a:xfrm>
          <a:prstGeom prst="rect">
            <a:avLst/>
          </a:prstGeom>
        </p:spPr>
      </p:pic>
      <p:pic>
        <p:nvPicPr>
          <p:cNvPr id="9" name="图片 8"/>
          <p:cNvPicPr>
            <a:picLocks noChangeAspect="1"/>
          </p:cNvPicPr>
          <p:nvPr/>
        </p:nvPicPr>
        <p:blipFill>
          <a:blip r:embed="rId4"/>
          <a:stretch>
            <a:fillRect/>
          </a:stretch>
        </p:blipFill>
        <p:spPr>
          <a:xfrm>
            <a:off x="6660515" y="4411345"/>
            <a:ext cx="2978785" cy="132905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lang="zh-CN" altLang="en-US" dirty="0">
                <a:solidFill>
                  <a:schemeClr val="accent1"/>
                </a:solidFill>
                <a:ea typeface="微软雅黑" panose="020B0503020204020204" pitchFamily="34" charset="-122"/>
                <a:cs typeface="Arial" panose="020B0604020202020204" pitchFamily="34" charset="0"/>
              </a:rPr>
              <a:t>监视的作用范围</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29</a:t>
            </a:fld>
            <a:r>
              <a:rPr lang="zh-CN" altLang="en-US" dirty="0"/>
              <a:t> </a:t>
            </a:r>
            <a:r>
              <a:rPr lang="en-US" altLang="zh-CN" dirty="0"/>
              <a:t>&gt;</a:t>
            </a:r>
            <a:endParaRPr lang="zh-CN" altLang="en-US" dirty="0"/>
          </a:p>
        </p:txBody>
      </p:sp>
      <p:sp>
        <p:nvSpPr>
          <p:cNvPr id="5" name="文本框 4"/>
          <p:cNvSpPr txBox="1"/>
          <p:nvPr/>
        </p:nvSpPr>
        <p:spPr>
          <a:xfrm>
            <a:off x="814070" y="1104265"/>
            <a:ext cx="10062845" cy="146621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在 </a:t>
            </a:r>
            <a:r>
              <a:rPr lang="en-US" altLang="zh-CN" sz="2000" dirty="0">
                <a:solidFill>
                  <a:schemeClr val="tx1"/>
                </a:solidFill>
                <a:latin typeface="Consolas" panose="020B0609020204030204" charset="0"/>
                <a:cs typeface="Consolas" panose="020B0609020204030204" charset="0"/>
                <a:sym typeface="+mn-ea"/>
              </a:rPr>
              <a:t>main</a:t>
            </a:r>
            <a:r>
              <a:rPr lang="en-US" altLang="zh-CN" sz="2000" dirty="0">
                <a:solidFill>
                  <a:schemeClr val="tx1"/>
                </a:solidFill>
                <a:sym typeface="+mn-ea"/>
              </a:rPr>
              <a:t> </a:t>
            </a:r>
            <a:r>
              <a:rPr lang="zh-CN" altLang="en-US" sz="2000" dirty="0">
                <a:solidFill>
                  <a:schemeClr val="tx1"/>
                </a:solidFill>
                <a:sym typeface="+mn-ea"/>
              </a:rPr>
              <a:t>中监视 </a:t>
            </a:r>
            <a:r>
              <a:rPr lang="en-US" altLang="zh-CN" sz="2000" dirty="0">
                <a:solidFill>
                  <a:schemeClr val="tx1"/>
                </a:solidFill>
                <a:latin typeface="Consolas" panose="020B0609020204030204" charset="0"/>
                <a:cs typeface="Consolas" panose="020B0609020204030204" charset="0"/>
                <a:sym typeface="+mn-ea"/>
              </a:rPr>
              <a:t>a</a:t>
            </a:r>
            <a:r>
              <a:rPr lang="en-US" altLang="zh-CN" sz="2000" dirty="0">
                <a:solidFill>
                  <a:schemeClr val="tx1"/>
                </a:solidFill>
                <a:sym typeface="+mn-ea"/>
              </a:rPr>
              <a:t>，</a:t>
            </a:r>
            <a:r>
              <a:rPr lang="zh-CN" altLang="en-US" sz="2000" dirty="0">
                <a:solidFill>
                  <a:schemeClr val="tx1"/>
                </a:solidFill>
                <a:sym typeface="+mn-ea"/>
              </a:rPr>
              <a:t>默认会显示不可用，因为 </a:t>
            </a:r>
            <a:r>
              <a:rPr lang="en-US" altLang="zh-CN" sz="2000" dirty="0">
                <a:solidFill>
                  <a:schemeClr val="tx1"/>
                </a:solidFill>
                <a:latin typeface="Consolas" panose="020B0609020204030204" charset="0"/>
                <a:cs typeface="Consolas" panose="020B0609020204030204" charset="0"/>
                <a:sym typeface="+mn-ea"/>
              </a:rPr>
              <a:t>a</a:t>
            </a:r>
            <a:r>
              <a:rPr lang="en-US" altLang="zh-CN" sz="2000" dirty="0">
                <a:solidFill>
                  <a:schemeClr val="tx1"/>
                </a:solidFill>
                <a:sym typeface="+mn-ea"/>
              </a:rPr>
              <a:t> </a:t>
            </a:r>
            <a:r>
              <a:rPr lang="zh-CN" altLang="en-US" sz="2000" dirty="0">
                <a:solidFill>
                  <a:schemeClr val="tx1"/>
                </a:solidFill>
                <a:sym typeface="+mn-ea"/>
              </a:rPr>
              <a:t>是 </a:t>
            </a:r>
            <a:r>
              <a:rPr lang="en-US" altLang="zh-CN" sz="2000" dirty="0">
                <a:solidFill>
                  <a:schemeClr val="tx1"/>
                </a:solidFill>
                <a:latin typeface="Consolas" panose="020B0609020204030204" charset="0"/>
                <a:cs typeface="Consolas" panose="020B0609020204030204" charset="0"/>
                <a:sym typeface="+mn-ea"/>
              </a:rPr>
              <a:t>multiply</a:t>
            </a:r>
            <a:r>
              <a:rPr lang="en-US" altLang="zh-CN" sz="2000" dirty="0">
                <a:solidFill>
                  <a:schemeClr val="tx1"/>
                </a:solidFill>
                <a:sym typeface="+mn-ea"/>
              </a:rPr>
              <a:t> </a:t>
            </a:r>
            <a:r>
              <a:rPr lang="zh-CN" altLang="en-US" sz="2000" dirty="0">
                <a:solidFill>
                  <a:schemeClr val="tx1"/>
                </a:solidFill>
                <a:sym typeface="+mn-ea"/>
              </a:rPr>
              <a:t>的局部变量。</a:t>
            </a:r>
          </a:p>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进入 </a:t>
            </a:r>
            <a:r>
              <a:rPr lang="en-US" altLang="zh-CN" sz="2000" dirty="0">
                <a:solidFill>
                  <a:schemeClr val="tx1"/>
                </a:solidFill>
                <a:latin typeface="Consolas" panose="020B0609020204030204" charset="0"/>
                <a:cs typeface="Consolas" panose="020B0609020204030204" charset="0"/>
                <a:sym typeface="+mn-ea"/>
              </a:rPr>
              <a:t>multiply</a:t>
            </a:r>
            <a:r>
              <a:rPr lang="en-US" altLang="zh-CN" sz="2000" dirty="0">
                <a:solidFill>
                  <a:schemeClr val="tx1"/>
                </a:solidFill>
                <a:sym typeface="+mn-ea"/>
              </a:rPr>
              <a:t> </a:t>
            </a:r>
            <a:r>
              <a:rPr lang="zh-CN" altLang="en-US" sz="2000" dirty="0">
                <a:solidFill>
                  <a:schemeClr val="tx1"/>
                </a:solidFill>
                <a:sym typeface="+mn-ea"/>
              </a:rPr>
              <a:t>后，默认情况下 </a:t>
            </a:r>
            <a:r>
              <a:rPr lang="en-US" altLang="zh-CN" sz="2000" dirty="0">
                <a:solidFill>
                  <a:schemeClr val="tx1"/>
                </a:solidFill>
                <a:latin typeface="Consolas" panose="020B0609020204030204" charset="0"/>
                <a:cs typeface="Consolas" panose="020B0609020204030204" charset="0"/>
                <a:sym typeface="+mn-ea"/>
              </a:rPr>
              <a:t>main</a:t>
            </a:r>
            <a:r>
              <a:rPr lang="en-US" altLang="zh-CN" sz="2000" dirty="0">
                <a:solidFill>
                  <a:schemeClr val="tx1"/>
                </a:solidFill>
                <a:sym typeface="+mn-ea"/>
              </a:rPr>
              <a:t> </a:t>
            </a:r>
            <a:r>
              <a:rPr lang="zh-CN" altLang="en-US" sz="2000" dirty="0">
                <a:solidFill>
                  <a:schemeClr val="tx1"/>
                </a:solidFill>
                <a:sym typeface="+mn-ea"/>
              </a:rPr>
              <a:t>的 </a:t>
            </a:r>
            <a:r>
              <a:rPr lang="en-US" altLang="zh-CN" sz="2000" dirty="0">
                <a:solidFill>
                  <a:schemeClr val="tx1"/>
                </a:solidFill>
                <a:latin typeface="Consolas" panose="020B0609020204030204" charset="0"/>
                <a:cs typeface="Consolas" panose="020B0609020204030204" charset="0"/>
                <a:sym typeface="+mn-ea"/>
              </a:rPr>
              <a:t>i</a:t>
            </a:r>
            <a:r>
              <a:rPr lang="en-US" altLang="zh-CN" sz="2000" dirty="0">
                <a:solidFill>
                  <a:schemeClr val="tx1"/>
                </a:solidFill>
                <a:sym typeface="+mn-ea"/>
              </a:rPr>
              <a:t> </a:t>
            </a:r>
            <a:r>
              <a:rPr lang="zh-CN" altLang="en-US" sz="2000" dirty="0">
                <a:solidFill>
                  <a:schemeClr val="tx1"/>
                </a:solidFill>
                <a:sym typeface="+mn-ea"/>
              </a:rPr>
              <a:t>和 </a:t>
            </a:r>
            <a:r>
              <a:rPr lang="en-US" altLang="zh-CN" sz="2000" dirty="0">
                <a:solidFill>
                  <a:schemeClr val="tx1"/>
                </a:solidFill>
                <a:latin typeface="Consolas" panose="020B0609020204030204" charset="0"/>
                <a:cs typeface="Consolas" panose="020B0609020204030204" charset="0"/>
                <a:sym typeface="+mn-ea"/>
              </a:rPr>
              <a:t>total </a:t>
            </a:r>
            <a:r>
              <a:rPr lang="zh-CN" altLang="en-US" sz="2000" dirty="0">
                <a:solidFill>
                  <a:schemeClr val="tx1"/>
                </a:solidFill>
                <a:sym typeface="+mn-ea"/>
              </a:rPr>
              <a:t>不可用，而 </a:t>
            </a:r>
            <a:r>
              <a:rPr lang="en-US" altLang="zh-CN" sz="2000" dirty="0">
                <a:solidFill>
                  <a:schemeClr val="tx1"/>
                </a:solidFill>
                <a:latin typeface="Consolas" panose="020B0609020204030204" charset="0"/>
                <a:cs typeface="Consolas" panose="020B0609020204030204" charset="0"/>
                <a:sym typeface="+mn-ea"/>
              </a:rPr>
              <a:t>multiply </a:t>
            </a:r>
            <a:r>
              <a:rPr lang="zh-CN" altLang="en-US" sz="2000" dirty="0">
                <a:solidFill>
                  <a:schemeClr val="tx1"/>
                </a:solidFill>
                <a:sym typeface="+mn-ea"/>
              </a:rPr>
              <a:t>的 </a:t>
            </a:r>
            <a:r>
              <a:rPr lang="en-US" altLang="zh-CN" sz="2000" dirty="0">
                <a:solidFill>
                  <a:schemeClr val="tx1"/>
                </a:solidFill>
                <a:latin typeface="Consolas" panose="020B0609020204030204" charset="0"/>
                <a:cs typeface="Consolas" panose="020B0609020204030204" charset="0"/>
                <a:sym typeface="+mn-ea"/>
              </a:rPr>
              <a:t>a、b、product</a:t>
            </a:r>
            <a:r>
              <a:rPr lang="en-US" altLang="zh-CN" sz="2000" dirty="0">
                <a:solidFill>
                  <a:schemeClr val="tx1"/>
                </a:solidFill>
                <a:sym typeface="+mn-ea"/>
              </a:rPr>
              <a:t> </a:t>
            </a:r>
            <a:r>
              <a:rPr lang="zh-CN" altLang="en-US" sz="2000" dirty="0">
                <a:solidFill>
                  <a:schemeClr val="tx1"/>
                </a:solidFill>
                <a:sym typeface="+mn-ea"/>
              </a:rPr>
              <a:t>可用。</a:t>
            </a:r>
          </a:p>
        </p:txBody>
      </p:sp>
      <p:pic>
        <p:nvPicPr>
          <p:cNvPr id="4" name="图片 3" descr="1792056997458"/>
          <p:cNvPicPr>
            <a:picLocks noChangeAspect="1"/>
          </p:cNvPicPr>
          <p:nvPr/>
        </p:nvPicPr>
        <p:blipFill>
          <a:blip r:embed="rId3"/>
          <a:srcRect r="19498"/>
          <a:stretch>
            <a:fillRect/>
          </a:stretch>
        </p:blipFill>
        <p:spPr>
          <a:xfrm>
            <a:off x="443230" y="2813685"/>
            <a:ext cx="5372100" cy="3354070"/>
          </a:xfrm>
          <a:prstGeom prst="rect">
            <a:avLst/>
          </a:prstGeom>
        </p:spPr>
      </p:pic>
      <p:sp>
        <p:nvSpPr>
          <p:cNvPr id="10" name="圆角矩形 9"/>
          <p:cNvSpPr/>
          <p:nvPr/>
        </p:nvSpPr>
        <p:spPr>
          <a:xfrm>
            <a:off x="613410" y="4241165"/>
            <a:ext cx="2134235" cy="61785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1792056974577"/>
          <p:cNvPicPr>
            <a:picLocks noChangeAspect="1"/>
          </p:cNvPicPr>
          <p:nvPr/>
        </p:nvPicPr>
        <p:blipFill>
          <a:blip r:embed="rId4"/>
          <a:srcRect r="19139"/>
          <a:stretch>
            <a:fillRect/>
          </a:stretch>
        </p:blipFill>
        <p:spPr>
          <a:xfrm>
            <a:off x="6056630" y="2805430"/>
            <a:ext cx="5622290" cy="3354070"/>
          </a:xfrm>
          <a:prstGeom prst="rect">
            <a:avLst/>
          </a:prstGeom>
        </p:spPr>
      </p:pic>
      <p:sp>
        <p:nvSpPr>
          <p:cNvPr id="7" name="圆角矩形 6"/>
          <p:cNvSpPr/>
          <p:nvPr/>
        </p:nvSpPr>
        <p:spPr>
          <a:xfrm>
            <a:off x="6247765" y="4260215"/>
            <a:ext cx="2233295" cy="61785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lang="zh-CN" altLang="en-US">
                <a:solidFill>
                  <a:schemeClr val="accent1"/>
                </a:solidFill>
                <a:ea typeface="微软雅黑" panose="020B0503020204020204" pitchFamily="34" charset="-122"/>
                <a:cs typeface="Arial" panose="020B0604020202020204" pitchFamily="34" charset="0"/>
              </a:rPr>
              <a:t>查看调用栈（</a:t>
            </a:r>
            <a:r>
              <a:rPr lang="en-US" altLang="zh-CN">
                <a:solidFill>
                  <a:schemeClr val="accent1"/>
                </a:solidFill>
                <a:ea typeface="微软雅黑" panose="020B0503020204020204" pitchFamily="34" charset="-122"/>
                <a:cs typeface="Arial" panose="020B0604020202020204" pitchFamily="34" charset="0"/>
              </a:rPr>
              <a:t>Call Stack</a:t>
            </a:r>
            <a:r>
              <a:rPr>
                <a:solidFill>
                  <a:schemeClr val="accent1"/>
                </a:solidFill>
                <a:ea typeface="微软雅黑" panose="020B0503020204020204" pitchFamily="34" charset="-122"/>
                <a:cs typeface="Arial" panose="020B0604020202020204" pitchFamily="34" charset="0"/>
              </a:rPr>
              <a:t>）</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30</a:t>
            </a:fld>
            <a:r>
              <a:rPr lang="zh-CN" altLang="en-US" dirty="0"/>
              <a:t> </a:t>
            </a:r>
            <a:r>
              <a:rPr lang="en-US" altLang="zh-CN" dirty="0"/>
              <a:t>&gt;</a:t>
            </a:r>
            <a:endParaRPr lang="zh-CN" altLang="en-US" dirty="0"/>
          </a:p>
        </p:txBody>
      </p:sp>
      <p:sp>
        <p:nvSpPr>
          <p:cNvPr id="5" name="文本框 4"/>
          <p:cNvSpPr txBox="1"/>
          <p:nvPr/>
        </p:nvSpPr>
        <p:spPr>
          <a:xfrm>
            <a:off x="443230" y="994410"/>
            <a:ext cx="11377930" cy="1904365"/>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在 </a:t>
            </a:r>
            <a:r>
              <a:rPr lang="en-US" altLang="zh-CN" sz="2000" dirty="0">
                <a:solidFill>
                  <a:schemeClr val="tx1"/>
                </a:solidFill>
                <a:sym typeface="+mn-ea"/>
              </a:rPr>
              <a:t>multiply </a:t>
            </a:r>
            <a:r>
              <a:rPr lang="zh-CN" altLang="en-US" sz="2000" dirty="0">
                <a:solidFill>
                  <a:schemeClr val="tx1"/>
                </a:solidFill>
                <a:sym typeface="+mn-ea"/>
              </a:rPr>
              <a:t>内暂停时，“调用栈”中可以看到 </a:t>
            </a:r>
            <a:r>
              <a:rPr lang="en-US" altLang="zh-CN" sz="2000" dirty="0">
                <a:solidFill>
                  <a:schemeClr val="tx1"/>
                </a:solidFill>
                <a:sym typeface="+mn-ea"/>
              </a:rPr>
              <a:t>multiply </a:t>
            </a:r>
            <a:r>
              <a:rPr lang="zh-CN" altLang="en-US" sz="2000" dirty="0">
                <a:solidFill>
                  <a:schemeClr val="tx1"/>
                </a:solidFill>
                <a:sym typeface="+mn-ea"/>
              </a:rPr>
              <a:t>和 </a:t>
            </a:r>
            <a:r>
              <a:rPr lang="en-US" altLang="zh-CN" sz="2000" dirty="0">
                <a:solidFill>
                  <a:schemeClr val="tx1"/>
                </a:solidFill>
                <a:sym typeface="+mn-ea"/>
              </a:rPr>
              <a:t>main，</a:t>
            </a:r>
            <a:r>
              <a:rPr lang="zh-CN" altLang="en-US" sz="2000" dirty="0">
                <a:solidFill>
                  <a:schemeClr val="tx1"/>
                </a:solidFill>
                <a:sym typeface="+mn-ea"/>
              </a:rPr>
              <a:t>表示从 </a:t>
            </a:r>
            <a:r>
              <a:rPr lang="en-US" altLang="zh-CN" sz="2000" dirty="0">
                <a:solidFill>
                  <a:schemeClr val="tx1"/>
                </a:solidFill>
                <a:sym typeface="+mn-ea"/>
              </a:rPr>
              <a:t>main </a:t>
            </a:r>
            <a:r>
              <a:rPr lang="zh-CN" altLang="en-US" sz="2000" dirty="0">
                <a:solidFill>
                  <a:schemeClr val="tx1"/>
                </a:solidFill>
                <a:sym typeface="+mn-ea"/>
              </a:rPr>
              <a:t>调用了 </a:t>
            </a:r>
            <a:r>
              <a:rPr lang="en-US" altLang="zh-CN" sz="2000" dirty="0">
                <a:solidFill>
                  <a:schemeClr val="tx1"/>
                </a:solidFill>
                <a:sym typeface="+mn-ea"/>
              </a:rPr>
              <a:t>multiply。</a:t>
            </a:r>
          </a:p>
          <a:p>
            <a:pPr marL="342900" lvl="0" indent="-342900" algn="l" fontAlgn="auto">
              <a:lnSpc>
                <a:spcPct val="150000"/>
              </a:lnSpc>
              <a:buFont typeface="Arial" panose="020B0604020202020204" pitchFamily="34" charset="0"/>
              <a:buChar char="•"/>
            </a:pPr>
            <a:r>
              <a:rPr lang="zh-CN" altLang="en-US" sz="2000" b="1" dirty="0">
                <a:solidFill>
                  <a:schemeClr val="tx1"/>
                </a:solidFill>
                <a:sym typeface="+mn-ea"/>
              </a:rPr>
              <a:t>切换栈帧可以同时查看不同函数的局部变量</a:t>
            </a:r>
            <a:r>
              <a:rPr lang="zh-CN" altLang="en-US" sz="2000" dirty="0">
                <a:solidFill>
                  <a:schemeClr val="tx1"/>
                </a:solidFill>
                <a:sym typeface="+mn-ea"/>
              </a:rPr>
              <a:t>，使得在 </a:t>
            </a:r>
            <a:r>
              <a:rPr lang="en-US" altLang="zh-CN" sz="2000" dirty="0">
                <a:solidFill>
                  <a:schemeClr val="tx1"/>
                </a:solidFill>
                <a:sym typeface="+mn-ea"/>
              </a:rPr>
              <a:t>multiply </a:t>
            </a:r>
            <a:r>
              <a:rPr lang="zh-CN" altLang="en-US" sz="2000" dirty="0">
                <a:solidFill>
                  <a:schemeClr val="tx1"/>
                </a:solidFill>
                <a:sym typeface="+mn-ea"/>
              </a:rPr>
              <a:t>中也可以监视 </a:t>
            </a:r>
            <a:r>
              <a:rPr lang="en-US" altLang="zh-CN" sz="2000" dirty="0">
                <a:solidFill>
                  <a:schemeClr val="tx1"/>
                </a:solidFill>
                <a:sym typeface="+mn-ea"/>
              </a:rPr>
              <a:t>main </a:t>
            </a:r>
            <a:r>
              <a:rPr lang="zh-CN" altLang="en-US" sz="2000" dirty="0">
                <a:solidFill>
                  <a:schemeClr val="tx1"/>
                </a:solidFill>
                <a:sym typeface="+mn-ea"/>
              </a:rPr>
              <a:t>的变量。</a:t>
            </a:r>
          </a:p>
        </p:txBody>
      </p:sp>
      <p:pic>
        <p:nvPicPr>
          <p:cNvPr id="8" name="图片 7" descr="1792057184693"/>
          <p:cNvPicPr>
            <a:picLocks noChangeAspect="1"/>
          </p:cNvPicPr>
          <p:nvPr/>
        </p:nvPicPr>
        <p:blipFill>
          <a:blip r:embed="rId3"/>
          <a:srcRect r="20828"/>
          <a:stretch>
            <a:fillRect/>
          </a:stretch>
        </p:blipFill>
        <p:spPr>
          <a:xfrm>
            <a:off x="443230" y="2546350"/>
            <a:ext cx="5488305" cy="3496945"/>
          </a:xfrm>
          <a:prstGeom prst="rect">
            <a:avLst/>
          </a:prstGeom>
        </p:spPr>
      </p:pic>
      <p:pic>
        <p:nvPicPr>
          <p:cNvPr id="9" name="图片 8" descr="1792057208741"/>
          <p:cNvPicPr>
            <a:picLocks noChangeAspect="1"/>
          </p:cNvPicPr>
          <p:nvPr/>
        </p:nvPicPr>
        <p:blipFill>
          <a:blip r:embed="rId4"/>
          <a:srcRect r="20974"/>
          <a:stretch>
            <a:fillRect/>
          </a:stretch>
        </p:blipFill>
        <p:spPr>
          <a:xfrm>
            <a:off x="6095365" y="2546350"/>
            <a:ext cx="5654675" cy="3496945"/>
          </a:xfrm>
          <a:prstGeom prst="rect">
            <a:avLst/>
          </a:prstGeom>
        </p:spPr>
      </p:pic>
      <p:sp>
        <p:nvSpPr>
          <p:cNvPr id="10" name="圆角矩形 9"/>
          <p:cNvSpPr/>
          <p:nvPr/>
        </p:nvSpPr>
        <p:spPr>
          <a:xfrm>
            <a:off x="668020" y="5546090"/>
            <a:ext cx="2004060" cy="39941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6348095" y="5615940"/>
            <a:ext cx="2004060" cy="39878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08000" y="2805430"/>
            <a:ext cx="2324100" cy="1835150"/>
          </a:xfrm>
          <a:prstGeom prst="rect">
            <a:avLst/>
          </a:prstGeom>
          <a:noFill/>
          <a:ln w="127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142990" y="2805430"/>
            <a:ext cx="2413635" cy="1904365"/>
          </a:xfrm>
          <a:prstGeom prst="rect">
            <a:avLst/>
          </a:prstGeom>
          <a:noFill/>
          <a:ln w="127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42913" y="243569"/>
            <a:ext cx="11059658" cy="617518"/>
          </a:xfrm>
        </p:spPr>
        <p:txBody>
          <a:bodyPr>
            <a:normAutofit/>
          </a:bodyPr>
          <a:lstStyle/>
          <a:p>
            <a:r>
              <a:rPr lang="zh-CN" altLang="en-US">
                <a:solidFill>
                  <a:schemeClr val="accent1"/>
                </a:solidFill>
                <a:ea typeface="微软雅黑" panose="020B0503020204020204" pitchFamily="34" charset="-122"/>
                <a:cs typeface="Arial" panose="020B0604020202020204" pitchFamily="34" charset="0"/>
              </a:rPr>
              <a:t>结语</a:t>
            </a:r>
          </a:p>
        </p:txBody>
      </p:sp>
      <p:sp>
        <p:nvSpPr>
          <p:cNvPr id="2" name="灯片编号占位符 1"/>
          <p:cNvSpPr>
            <a:spLocks noGrp="1"/>
          </p:cNvSpPr>
          <p:nvPr>
            <p:ph type="sldNum" sz="quarter" idx="4"/>
          </p:nvPr>
        </p:nvSpPr>
        <p:spPr/>
        <p:txBody>
          <a:bodyPr/>
          <a:lstStyle/>
          <a:p>
            <a:r>
              <a:rPr lang="en-US" altLang="zh-CN" dirty="0"/>
              <a:t>&lt; </a:t>
            </a:r>
            <a:fld id="{A548B57D-AE10-4CF7-A9DF-59FEFA91B28E}" type="slidenum">
              <a:rPr lang="zh-CN" altLang="en-US" smtClean="0"/>
              <a:t>31</a:t>
            </a:fld>
            <a:r>
              <a:rPr lang="zh-CN" altLang="en-US" dirty="0"/>
              <a:t> </a:t>
            </a:r>
            <a:r>
              <a:rPr lang="en-US" altLang="zh-CN" dirty="0"/>
              <a:t>&gt;</a:t>
            </a:r>
            <a:endParaRPr lang="zh-CN" altLang="en-US" dirty="0"/>
          </a:p>
        </p:txBody>
      </p:sp>
      <p:sp>
        <p:nvSpPr>
          <p:cNvPr id="5" name="文本框 4"/>
          <p:cNvSpPr txBox="1"/>
          <p:nvPr/>
        </p:nvSpPr>
        <p:spPr>
          <a:xfrm>
            <a:off x="814070" y="1257300"/>
            <a:ext cx="9853930" cy="1976120"/>
          </a:xfrm>
          <a:prstGeom prst="rect">
            <a:avLst/>
          </a:prstGeom>
          <a:noFill/>
        </p:spPr>
        <p:txBody>
          <a:bodyPr wrap="square" rtlCol="0">
            <a:noAutofit/>
          </a:bodyPr>
          <a:lstStyle/>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调试能力来自</a:t>
            </a:r>
            <a:r>
              <a:rPr lang="zh-CN" altLang="en-US" sz="2000" b="1" dirty="0">
                <a:solidFill>
                  <a:schemeClr val="tx1"/>
                </a:solidFill>
                <a:sym typeface="+mn-ea"/>
              </a:rPr>
              <a:t>持续实践</a:t>
            </a:r>
            <a:r>
              <a:rPr lang="zh-CN" altLang="en-US" sz="2000" dirty="0">
                <a:solidFill>
                  <a:schemeClr val="tx1"/>
                </a:solidFill>
                <a:sym typeface="+mn-ea"/>
              </a:rPr>
              <a:t>：多设置断点、多观察变量、多尝试解释程序的每一步运行结果，才能</a:t>
            </a:r>
            <a:r>
              <a:rPr lang="zh-CN" altLang="en-US" sz="2000" b="1" dirty="0">
                <a:solidFill>
                  <a:schemeClr val="tx1"/>
                </a:solidFill>
                <a:sym typeface="+mn-ea"/>
              </a:rPr>
              <a:t>逐渐形成自己的判断经验</a:t>
            </a:r>
            <a:r>
              <a:rPr lang="zh-CN" altLang="en-US" sz="2000" dirty="0">
                <a:solidFill>
                  <a:schemeClr val="tx1"/>
                </a:solidFill>
                <a:sym typeface="+mn-ea"/>
              </a:rPr>
              <a:t>。</a:t>
            </a:r>
          </a:p>
          <a:p>
            <a:pPr marL="342900" lvl="0" indent="-342900" algn="l" fontAlgn="auto">
              <a:lnSpc>
                <a:spcPct val="150000"/>
              </a:lnSpc>
              <a:buFont typeface="Arial" panose="020B0604020202020204" pitchFamily="34" charset="0"/>
              <a:buChar char="•"/>
            </a:pPr>
            <a:r>
              <a:rPr lang="zh-CN" altLang="en-US" sz="2000" dirty="0">
                <a:solidFill>
                  <a:schemeClr val="tx1"/>
                </a:solidFill>
                <a:sym typeface="+mn-ea"/>
              </a:rPr>
              <a:t>在 </a:t>
            </a:r>
            <a:r>
              <a:rPr lang="en-US" altLang="zh-CN" sz="2000" dirty="0">
                <a:solidFill>
                  <a:schemeClr val="tx1"/>
                </a:solidFill>
                <a:sym typeface="+mn-ea"/>
              </a:rPr>
              <a:t>AI </a:t>
            </a:r>
            <a:r>
              <a:rPr lang="zh-CN" altLang="en-US" sz="2000" dirty="0">
                <a:solidFill>
                  <a:schemeClr val="tx1"/>
                </a:solidFill>
                <a:sym typeface="+mn-ea"/>
              </a:rPr>
              <a:t>可以快速生成代码的时代，“古法调试”并没有完全过时，它帮助我们</a:t>
            </a:r>
            <a:r>
              <a:rPr lang="zh-CN" altLang="en-US" sz="2000" b="1" dirty="0">
                <a:solidFill>
                  <a:schemeClr val="tx1"/>
                </a:solidFill>
                <a:sym typeface="+mn-ea"/>
              </a:rPr>
              <a:t>建立对代码执行过程的真实认识</a:t>
            </a:r>
            <a:r>
              <a:rPr lang="zh-CN" altLang="en-US" sz="2000" dirty="0">
                <a:solidFill>
                  <a:schemeClr val="tx1"/>
                </a:solidFill>
                <a:sym typeface="+mn-ea"/>
              </a:rPr>
              <a:t>，也让我们能够</a:t>
            </a:r>
            <a:r>
              <a:rPr lang="zh-CN" altLang="en-US" sz="2000" b="1" dirty="0">
                <a:solidFill>
                  <a:schemeClr val="tx1"/>
                </a:solidFill>
                <a:sym typeface="+mn-ea"/>
              </a:rPr>
              <a:t>更好地阅读和检查 </a:t>
            </a:r>
            <a:r>
              <a:rPr lang="en-US" altLang="zh-CN" sz="2000" b="1" dirty="0">
                <a:solidFill>
                  <a:schemeClr val="tx1"/>
                </a:solidFill>
                <a:sym typeface="+mn-ea"/>
              </a:rPr>
              <a:t>AI </a:t>
            </a:r>
            <a:r>
              <a:rPr lang="zh-CN" altLang="en-US" sz="2000" b="1" dirty="0">
                <a:solidFill>
                  <a:schemeClr val="tx1"/>
                </a:solidFill>
                <a:sym typeface="+mn-ea"/>
              </a:rPr>
              <a:t>生成的代码</a:t>
            </a:r>
            <a:r>
              <a:rPr lang="zh-CN" altLang="en-US" sz="2000" dirty="0">
                <a:solidFill>
                  <a:schemeClr val="tx1"/>
                </a:solidFill>
                <a:sym typeface="+mn-ea"/>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图片 68"/>
          <p:cNvPicPr>
            <a:picLocks noChangeAspect="1"/>
          </p:cNvPicPr>
          <p:nvPr/>
        </p:nvPicPr>
        <p:blipFill>
          <a:blip r:embed="rId3"/>
          <a:stretch>
            <a:fillRect/>
          </a:stretch>
        </p:blipFill>
        <p:spPr>
          <a:xfrm>
            <a:off x="0" y="0"/>
            <a:ext cx="12192000" cy="6858000"/>
          </a:xfrm>
          <a:prstGeom prst="rect">
            <a:avLst/>
          </a:prstGeom>
        </p:spPr>
      </p:pic>
      <p:sp>
        <p:nvSpPr>
          <p:cNvPr id="24" name="文本框 23"/>
          <p:cNvSpPr txBox="1"/>
          <p:nvPr/>
        </p:nvSpPr>
        <p:spPr>
          <a:xfrm>
            <a:off x="3771265" y="2038985"/>
            <a:ext cx="4377055" cy="132207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8000" b="1" spc="300"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rPr>
              <a:t>Thanks!</a:t>
            </a:r>
            <a:endParaRPr kumimoji="0" lang="zh-CN" altLang="en-US" sz="8000" b="1" i="0" u="none" strike="noStrike" kern="1200" cap="none" spc="300" normalizeH="0" baseline="0" noProof="0" dirty="0">
              <a:ln>
                <a:noFill/>
              </a:ln>
              <a:solidFill>
                <a:srgbClr val="9A000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 name="矩形 1"/>
          <p:cNvSpPr/>
          <p:nvPr/>
        </p:nvSpPr>
        <p:spPr>
          <a:xfrm>
            <a:off x="4321804" y="3582943"/>
            <a:ext cx="3276144" cy="958660"/>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2000" b="0" i="0" spc="100" baseline="0" noProof="0" dirty="0">
                <a:ln>
                  <a:noFill/>
                </a:ln>
                <a:solidFill>
                  <a:srgbClr val="FFFFFF">
                    <a:lumMod val="50000"/>
                  </a:srgb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刘景</a:t>
            </a:r>
            <a:r>
              <a:rPr kumimoji="0" lang="zh-CN" altLang="en-US" sz="2000" b="0" i="0" spc="100" baseline="0" noProof="0">
                <a:ln>
                  <a:noFill/>
                </a:ln>
                <a:solidFill>
                  <a:srgbClr val="FFFFFF">
                    <a:lumMod val="50000"/>
                  </a:srgb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文 王乐成</a:t>
            </a:r>
            <a:endParaRPr kumimoji="0" lang="en-US" altLang="zh-CN" sz="2000" b="0" i="0" spc="100" baseline="0" noProof="0" dirty="0">
              <a:ln>
                <a:noFill/>
              </a:ln>
              <a:solidFill>
                <a:srgbClr val="FFFFFF">
                  <a:lumMod val="50000"/>
                </a:srgb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2000" b="0" i="0" spc="100" baseline="0" noProof="0" dirty="0">
                <a:ln>
                  <a:noFill/>
                </a:ln>
                <a:solidFill>
                  <a:srgbClr val="FFFFFF">
                    <a:lumMod val="50000"/>
                  </a:srgb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2</a:t>
            </a:r>
            <a:r>
              <a:rPr lang="en-US" altLang="zh-CN" sz="2000" spc="100" dirty="0">
                <a:solidFill>
                  <a:srgbClr val="FFFFFF">
                    <a:lumMod val="50000"/>
                  </a:srgbClr>
                </a:solidFill>
                <a:uFillTx/>
                <a:latin typeface="Arial" panose="020B0604020202020204" pitchFamily="34" charset="0"/>
                <a:ea typeface="微软雅黑" panose="020B0503020204020204" pitchFamily="34" charset="-122"/>
                <a:cs typeface="+mn-ea"/>
                <a:sym typeface="Arial" panose="020B0604020202020204" pitchFamily="34" charset="0"/>
              </a:rPr>
              <a:t>026/10/23</a:t>
            </a:r>
            <a:endParaRPr kumimoji="0" lang="en-US" altLang="zh-CN" sz="2000" b="0" i="0" spc="100" baseline="0" noProof="0" dirty="0">
              <a:ln>
                <a:noFill/>
              </a:ln>
              <a:solidFill>
                <a:srgbClr val="FFFFFF">
                  <a:lumMod val="50000"/>
                </a:srgb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0&quot;:[21581981,21602310,20265275,50062345,21577475,21566652,3634209,50027649,50039290,50059427]}"/>
</p:tagLst>
</file>

<file path=ppt/tags/tag2.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3.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16.7,&quot;left&quot;:46.2,&quot;top&quot;:43.45,&quot;width&quot;:868.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16.7,&quot;left&quot;:46.2,&quot;top&quot;:43.45,&quot;width&quot;:868.7}"/>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16.7,&quot;left&quot;:46.2,&quot;top&quot;:43.45,&quot;width&quot;:868.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16.7,&quot;left&quot;:46.2,&quot;top&quot;:43.45,&quot;width&quot;:868.7}"/>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16.7,&quot;left&quot;:46.2,&quot;top&quot;:43.45,&quot;width&quot;:868.7}"/>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16.7,&quot;left&quot;:46.2,&quot;top&quot;:43.45,&quot;width&quot;:868.7}"/>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16.7,&quot;left&quot;:46.2,&quot;top&quot;:43.45,&quot;width&quot;:868.7}"/>
</p:tagLst>
</file>

<file path=ppt/tags/tag11.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2.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9A000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tailEnd type="triangle"/>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3512</Words>
  <Application>Microsoft Macintosh PowerPoint</Application>
  <PresentationFormat>宽屏</PresentationFormat>
  <Paragraphs>277</Paragraphs>
  <Slides>32</Slides>
  <Notes>32</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32</vt:i4>
      </vt:variant>
    </vt:vector>
  </HeadingPairs>
  <TitlesOfParts>
    <vt:vector size="38" baseType="lpstr">
      <vt:lpstr>等线</vt:lpstr>
      <vt:lpstr>微软雅黑</vt:lpstr>
      <vt:lpstr>Arial</vt:lpstr>
      <vt:lpstr>Consolas</vt:lpstr>
      <vt:lpstr>自定义设计方案</vt:lpstr>
      <vt:lpstr>1_自定义设计方案</vt:lpstr>
      <vt:lpstr>PowerPoint 演示文稿</vt:lpstr>
      <vt:lpstr>PowerPoint 演示文稿</vt:lpstr>
      <vt:lpstr>为什么需要调试</vt:lpstr>
      <vt:lpstr>相关工具与概念</vt:lpstr>
      <vt:lpstr>PowerPoint 演示文稿</vt:lpstr>
      <vt:lpstr>说明</vt:lpstr>
      <vt:lpstr>插件/拓展安装</vt:lpstr>
      <vt:lpstr>JSON 配置文件</vt:lpstr>
      <vt:lpstr>VSCode 调试配置</vt:lpstr>
      <vt:lpstr>工作区信任</vt:lpstr>
      <vt:lpstr>常规默认配置</vt:lpstr>
      <vt:lpstr>PowerPoint 演示文稿</vt:lpstr>
      <vt:lpstr>Demo.cpp</vt:lpstr>
      <vt:lpstr>启动调试</vt:lpstr>
      <vt:lpstr>断点</vt:lpstr>
      <vt:lpstr>例子</vt:lpstr>
      <vt:lpstr>调试工具栏</vt:lpstr>
      <vt:lpstr>等待输入</vt:lpstr>
      <vt:lpstr>查看变量</vt:lpstr>
      <vt:lpstr>查看变量</vt:lpstr>
      <vt:lpstr>PowerPoint 演示文稿</vt:lpstr>
      <vt:lpstr>条件断点（Conditional Breakpoint）：表达式（Expression）</vt:lpstr>
      <vt:lpstr>条件断点：命中次数（Hit Count）</vt:lpstr>
      <vt:lpstr>条件断点：触发式断点（Triggered Breakpoint）</vt:lpstr>
      <vt:lpstr>日志点（Logpoint）</vt:lpstr>
      <vt:lpstr>组合使用</vt:lpstr>
      <vt:lpstr>函数断点（Function Breakpoint）</vt:lpstr>
      <vt:lpstr>添加监视（Watch）表达式</vt:lpstr>
      <vt:lpstr>监视的作用范围</vt:lpstr>
      <vt:lpstr>查看调用栈（Call Stack）</vt:lpstr>
      <vt:lpstr>结语</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 Tianlong</dc:creator>
  <cp:lastModifiedBy>兔</cp:lastModifiedBy>
  <cp:revision>838</cp:revision>
  <dcterms:created xsi:type="dcterms:W3CDTF">2026-05-21T10:10:00Z</dcterms:created>
  <dcterms:modified xsi:type="dcterms:W3CDTF">2026-10-22T07:55:51Z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CE716D40AD1E41B8A2394B3662661844_13</vt:lpwstr>
  </property>
  <property fmtid="{D5CDD505-2E9C-101B-9397-08002B2CF9AE}" pid="3" name="KSOProductBuildVer">
    <vt:lpwstr>2052-12.1.0.29161</vt:lpwstr>
  </property>
</Properties>
</file>