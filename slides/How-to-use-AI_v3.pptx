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Hiragino Sans GB" panose="020B0300000000000000" pitchFamily="34" charset="-128"/>
      <p:regular r:id="rId18"/>
      <p:bold r:id="rId19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2192"/>
  </p:normalViewPr>
  <p:slideViewPr>
    <p:cSldViewPr snapToGrid="0">
      <p:cViewPr varScale="1">
        <p:scale>
          <a:sx n="148" d="100"/>
          <a:sy n="14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</a:t>
            </a:r>
            <a:r>
              <a:rPr dirty="0"/>
              <a:t> 1 </a:t>
            </a:r>
            <a:r>
              <a:rPr dirty="0" err="1"/>
              <a:t>页｜开场</a:t>
            </a:r>
            <a:endParaRPr dirty="0"/>
          </a:p>
          <a:p>
            <a:endParaRPr dirty="0"/>
          </a:p>
          <a:p>
            <a:r>
              <a:rPr dirty="0"/>
              <a:t>建议用时：0:20（20 </a:t>
            </a:r>
            <a:r>
              <a:rPr dirty="0" err="1"/>
              <a:t>秒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累计进度：0:00–0:20</a:t>
            </a:r>
          </a:p>
          <a:p>
            <a:endParaRPr dirty="0"/>
          </a:p>
          <a:p>
            <a:r>
              <a:rPr dirty="0" err="1"/>
              <a:t>讲述词</a:t>
            </a:r>
            <a:r>
              <a:rPr dirty="0"/>
              <a:t>：</a:t>
            </a:r>
          </a:p>
          <a:p>
            <a:r>
              <a:rPr lang="zh-CN" dirty="0"/>
              <a:t>今天</a:t>
            </a:r>
            <a:r>
              <a:rPr lang="en-US" altLang="zh-CN" dirty="0"/>
              <a:t>，</a:t>
            </a:r>
            <a:r>
              <a:rPr lang="zh-CN" altLang="en-US" dirty="0"/>
              <a:t>我们主要讲述</a:t>
            </a:r>
            <a:r>
              <a:rPr lang="en-US" altLang="zh-CN" dirty="0"/>
              <a:t>AI</a:t>
            </a:r>
            <a:r>
              <a:rPr lang="zh-CN" altLang="en-US" dirty="0"/>
              <a:t>工具的应用</a:t>
            </a:r>
            <a:r>
              <a:rPr lang="en-US" altLang="zh-CN" dirty="0"/>
              <a:t>。 </a:t>
            </a:r>
            <a:r>
              <a:rPr dirty="0" err="1"/>
              <a:t>大家大多已经用过</a:t>
            </a:r>
            <a:r>
              <a:rPr dirty="0"/>
              <a:t> </a:t>
            </a:r>
            <a:r>
              <a:rPr dirty="0" err="1"/>
              <a:t>Agent，所以今天不从零教学。我们先用一分钟</a:t>
            </a:r>
            <a:r>
              <a:rPr lang="zh-CN" altLang="en-US" dirty="0"/>
              <a:t>回顾</a:t>
            </a:r>
            <a:r>
              <a:rPr dirty="0" err="1"/>
              <a:t>模型和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的概念，</a:t>
            </a:r>
            <a:r>
              <a:rPr dirty="0" err="1"/>
              <a:t>再集中回答三个问题：Token</a:t>
            </a:r>
            <a:r>
              <a:rPr dirty="0"/>
              <a:t> </a:t>
            </a:r>
            <a:r>
              <a:rPr dirty="0" err="1"/>
              <a:t>花在哪里，记忆怎样影响回答，以及命令该不该批准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</a:t>
            </a:r>
            <a:r>
              <a:rPr dirty="0"/>
              <a:t> 2 </a:t>
            </a:r>
            <a:r>
              <a:rPr dirty="0" err="1"/>
              <a:t>页｜概念复习</a:t>
            </a:r>
            <a:endParaRPr dirty="0"/>
          </a:p>
          <a:p>
            <a:endParaRPr dirty="0"/>
          </a:p>
          <a:p>
            <a:r>
              <a:rPr dirty="0"/>
              <a:t>建议用时：0:25（25 </a:t>
            </a:r>
            <a:r>
              <a:rPr dirty="0" err="1"/>
              <a:t>秒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累计进度：0:20–0:45</a:t>
            </a:r>
          </a:p>
          <a:p>
            <a:endParaRPr dirty="0"/>
          </a:p>
          <a:p>
            <a:r>
              <a:rPr dirty="0" err="1"/>
              <a:t>讲述词</a:t>
            </a:r>
            <a:r>
              <a:rPr dirty="0"/>
              <a:t>：</a:t>
            </a:r>
          </a:p>
          <a:p>
            <a:r>
              <a:rPr lang="zh-CN" dirty="0"/>
              <a:t>我们介绍一些名词</a:t>
            </a:r>
            <a:r>
              <a:rPr lang="en-US" altLang="zh-CN" dirty="0"/>
              <a:t>：</a:t>
            </a:r>
            <a:r>
              <a:rPr dirty="0"/>
              <a:t>LLM </a:t>
            </a:r>
            <a:r>
              <a:rPr dirty="0" err="1"/>
              <a:t>负责理解、推理，并生成回答或工具调用。Harness</a:t>
            </a:r>
            <a:r>
              <a:rPr dirty="0"/>
              <a:t> </a:t>
            </a:r>
            <a:r>
              <a:rPr dirty="0" err="1"/>
              <a:t>可以理解成工作台，它把文件、终端等工具接给模型，管理上下文与执行权限。两者组合起来，在目标驱动下反复行动，就是这里说的</a:t>
            </a:r>
            <a:r>
              <a:rPr dirty="0"/>
              <a:t> </a:t>
            </a:r>
            <a:r>
              <a:rPr dirty="0" err="1"/>
              <a:t>Agent。下一页看一个更直观的例子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</a:t>
            </a:r>
            <a:r>
              <a:rPr dirty="0"/>
              <a:t> 3 </a:t>
            </a:r>
            <a:r>
              <a:rPr dirty="0" err="1"/>
              <a:t>页｜模型与工作台可分离</a:t>
            </a:r>
            <a:endParaRPr dirty="0"/>
          </a:p>
          <a:p>
            <a:endParaRPr dirty="0"/>
          </a:p>
          <a:p>
            <a:r>
              <a:rPr dirty="0"/>
              <a:t>建议用时：0:45（45 </a:t>
            </a:r>
            <a:r>
              <a:rPr dirty="0" err="1"/>
              <a:t>秒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累计进度：0:45–1:30</a:t>
            </a:r>
          </a:p>
          <a:p>
            <a:endParaRPr dirty="0"/>
          </a:p>
          <a:p>
            <a:r>
              <a:rPr dirty="0" err="1"/>
              <a:t>讲述词</a:t>
            </a:r>
            <a:r>
              <a:rPr dirty="0"/>
              <a:t>：</a:t>
            </a:r>
          </a:p>
          <a:p>
            <a:r>
              <a:rPr lang="zh-CN" altLang="en-US" dirty="0"/>
              <a:t>看</a:t>
            </a:r>
            <a:r>
              <a:rPr dirty="0" err="1"/>
              <a:t>这张表</a:t>
            </a:r>
            <a:r>
              <a:rPr lang="zh-CN" altLang="en-US" dirty="0"/>
              <a:t>。</a:t>
            </a:r>
            <a:r>
              <a:rPr dirty="0" err="1"/>
              <a:t>每一行是一种模型，每一列是一种</a:t>
            </a:r>
            <a:r>
              <a:rPr dirty="0"/>
              <a:t> </a:t>
            </a:r>
            <a:r>
              <a:rPr dirty="0" err="1"/>
              <a:t>Harness。同一行横着看，同一个模型可以放进不同工作台。沿一列看，同一工作台也能搭配不同模型。因此，使用</a:t>
            </a:r>
            <a:r>
              <a:rPr dirty="0"/>
              <a:t> </a:t>
            </a:r>
            <a:r>
              <a:rPr dirty="0" err="1"/>
              <a:t>OpenCode</a:t>
            </a:r>
            <a:r>
              <a:rPr dirty="0"/>
              <a:t> </a:t>
            </a:r>
            <a:r>
              <a:rPr dirty="0" err="1"/>
              <a:t>不等于使用某一个固定模型，选</a:t>
            </a:r>
            <a:r>
              <a:rPr dirty="0"/>
              <a:t> Agent </a:t>
            </a:r>
            <a:r>
              <a:rPr dirty="0" err="1"/>
              <a:t>时实际在选一个组合。分数也属于组合</a:t>
            </a:r>
            <a:r>
              <a:rPr lang="zh-CN" altLang="en-US" dirty="0"/>
              <a:t>。</a:t>
            </a:r>
            <a:endParaRPr dirty="0"/>
          </a:p>
          <a:p>
            <a:endParaRPr dirty="0"/>
          </a:p>
          <a:p>
            <a:r>
              <a:rPr lang="zh-CN" dirty="0"/>
              <a:t>接下来</a:t>
            </a:r>
            <a:r>
              <a:rPr lang="en-US" altLang="zh-CN" dirty="0"/>
              <a:t>，</a:t>
            </a:r>
            <a:r>
              <a:rPr lang="zh-CN" altLang="en-US" dirty="0"/>
              <a:t>我们会推荐一些常用的</a:t>
            </a:r>
            <a:r>
              <a:rPr lang="en-US" altLang="zh-CN" dirty="0"/>
              <a:t>harness</a:t>
            </a:r>
            <a:r>
              <a:rPr lang="zh-CN" altLang="en-US" dirty="0"/>
              <a:t>框架</a:t>
            </a:r>
            <a:r>
              <a:rPr lang="en-US" altLang="zh-CN" dirty="0"/>
              <a:t>。</a:t>
            </a:r>
            <a:r>
              <a:rPr lang="zh-CN" altLang="en-US" dirty="0"/>
              <a:t>大家可以根据自己的需求之后尝试使用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页｜DeepSeek Harness</a:t>
            </a:r>
          </a:p>
          <a:p>
            <a:endParaRPr/>
          </a:p>
          <a:p>
            <a:r>
              <a:t>建议用时：0:30（30 秒）</a:t>
            </a:r>
          </a:p>
          <a:p>
            <a:endParaRPr/>
          </a:p>
          <a:p>
            <a:r>
              <a:t>累计进度：1:30–2:00</a:t>
            </a:r>
          </a:p>
          <a:p>
            <a:endParaRPr/>
          </a:p>
          <a:p>
            <a:r>
              <a:t>讲述词：</a:t>
            </a:r>
          </a:p>
          <a:p>
            <a:r>
              <a:t>第一个是 DeepSeek Harness，适合中文环境里的文档和文件任务。最省事的入口是官网下载桌面版，再配置模型。屏幕上也保留了本地 Web UI 的命令，课后按官方说明操作即可，课堂不现场安装。优势是开源、插件化，能看到执行细节。注意模型 API 可能另外收费，首次只选一个练习副本目录。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页｜OpenCode</a:t>
            </a:r>
          </a:p>
          <a:p>
            <a:endParaRPr/>
          </a:p>
          <a:p>
            <a:r>
              <a:t>建议用时：0:30（30 秒）</a:t>
            </a:r>
          </a:p>
          <a:p>
            <a:endParaRPr/>
          </a:p>
          <a:p>
            <a:r>
              <a:t>累计进度：2:00–2:30</a:t>
            </a:r>
          </a:p>
          <a:p>
            <a:endParaRPr/>
          </a:p>
          <a:p>
            <a:r>
              <a:t>讲述词：</a:t>
            </a:r>
          </a:p>
          <a:p>
            <a:r>
              <a:t>第二个是 OpenCode，刚才“工作台可以换模型”的例子在这里很直观。安装桌面版或终端版后，用 connect 接入供应商，再用 models 选择模型。它适合开发任务，Plan 和 Build 分开比较清楚。代价是终端和 API Key 有一点学习成本，工具开源也不代表模型免费。访问工具网站和访问某个模型接口，是两件事。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页｜Codex</a:t>
            </a:r>
          </a:p>
          <a:p>
            <a:endParaRPr/>
          </a:p>
          <a:p>
            <a:r>
              <a:t>建议用时：0:30（30 秒）</a:t>
            </a:r>
          </a:p>
          <a:p>
            <a:endParaRPr/>
          </a:p>
          <a:p>
            <a:r>
              <a:t>累计进度：2:30–3:00</a:t>
            </a:r>
          </a:p>
          <a:p>
            <a:endParaRPr/>
          </a:p>
          <a:p>
            <a:r>
              <a:t>讲述词：</a:t>
            </a:r>
          </a:p>
          <a:p>
            <a:r>
              <a:t>第三个是 Codex，适合持续调试、运行测试和代码审查，也有桌面工作流。这份 PPT 就是协作示例。下载后登录，选项目文件夹，把目标和验收标准写清楚，先保留受限权限。它的账号、地区和额度条件需要核对官方说明。Claude Code 也很常见，这次不展开安装。三个平台任选一个先用熟就够了。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页｜日常场景</a:t>
            </a:r>
          </a:p>
          <a:p>
            <a:endParaRPr/>
          </a:p>
          <a:p>
            <a:r>
              <a:t>建议用时：0:35（35 秒）</a:t>
            </a:r>
          </a:p>
          <a:p>
            <a:endParaRPr/>
          </a:p>
          <a:p>
            <a:r>
              <a:t>累计进度：3:00–3:35</a:t>
            </a:r>
          </a:p>
          <a:p>
            <a:endParaRPr/>
          </a:p>
          <a:p>
            <a:r>
              <a:t>讲述词：</a:t>
            </a:r>
          </a:p>
          <a:p>
            <a:r>
              <a:t>除了写作业，日常还有这些任务：把课表转成日历文件，让 Agent 生成 PPT 初稿，按规则整理文件，或者做一个本地 DDL 看板。这些任务的共同点是最后会产出文件或软件，适合 Agent。只讨论数学概念或算法思路，普通对话通常已经够用。涉及科研可以从公开数据复现实验开始，但要自己核对结论和引用。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</a:t>
            </a:r>
            <a:r>
              <a:rPr dirty="0"/>
              <a:t> 8 </a:t>
            </a:r>
            <a:r>
              <a:rPr dirty="0" err="1"/>
              <a:t>页｜Token</a:t>
            </a:r>
            <a:r>
              <a:rPr dirty="0"/>
              <a:t> </a:t>
            </a:r>
            <a:r>
              <a:rPr dirty="0" err="1"/>
              <a:t>的去向</a:t>
            </a:r>
            <a:endParaRPr dirty="0"/>
          </a:p>
          <a:p>
            <a:endParaRPr dirty="0"/>
          </a:p>
          <a:p>
            <a:r>
              <a:rPr dirty="0"/>
              <a:t>建议用时：1:05（65 </a:t>
            </a:r>
            <a:r>
              <a:rPr dirty="0" err="1"/>
              <a:t>秒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累计进度：3:35–4:40</a:t>
            </a:r>
          </a:p>
          <a:p>
            <a:endParaRPr dirty="0"/>
          </a:p>
          <a:p>
            <a:r>
              <a:rPr dirty="0" err="1"/>
              <a:t>讲述词</a:t>
            </a:r>
            <a:r>
              <a:rPr dirty="0"/>
              <a:t>：</a:t>
            </a:r>
          </a:p>
          <a:p>
            <a:r>
              <a:rPr lang="zh-CN" dirty="0"/>
              <a:t>接下来</a:t>
            </a:r>
            <a:r>
              <a:rPr lang="en-US" altLang="zh-CN" dirty="0"/>
              <a:t>，</a:t>
            </a:r>
            <a:r>
              <a:rPr lang="zh-CN" altLang="en-US" dirty="0"/>
              <a:t>我们讲第一个大家很关心的问题</a:t>
            </a:r>
            <a:r>
              <a:rPr lang="en-US" altLang="zh-CN" dirty="0"/>
              <a:t>：Agent</a:t>
            </a:r>
            <a:r>
              <a:rPr lang="zh-CN" altLang="en-US" dirty="0"/>
              <a:t>的</a:t>
            </a:r>
            <a:r>
              <a:rPr lang="en-US" altLang="zh-CN" dirty="0"/>
              <a:t>Token</a:t>
            </a:r>
            <a:r>
              <a:rPr lang="zh-CN" altLang="en-US" dirty="0"/>
              <a:t>花到哪里了</a:t>
            </a:r>
            <a:r>
              <a:rPr lang="en-US" altLang="zh-CN" dirty="0"/>
              <a:t>？</a:t>
            </a:r>
          </a:p>
          <a:p>
            <a:endParaRPr lang="en-US" altLang="zh-CN" dirty="0"/>
          </a:p>
          <a:p>
            <a:r>
              <a:rPr dirty="0"/>
              <a:t>Token 是模型处理内容的计量单位，不严格等于一个汉字。看左边，每一轮输入不止你的问题，还包括系统规则、工具说明、历史消息，以及刚读到的文件和日志。右边是输出：既可能有 </a:t>
            </a:r>
            <a:r>
              <a:rPr dirty="0" err="1"/>
              <a:t>Thinking，也可能是工具调用、代码和最终回答。Agent</a:t>
            </a:r>
            <a:r>
              <a:rPr dirty="0"/>
              <a:t> </a:t>
            </a:r>
            <a:r>
              <a:rPr dirty="0" err="1"/>
              <a:t>会把工具执行结果带回来，再调用模型，所以一个任务可以累计很多轮。命令在电脑上运行十秒，并不等于消耗十秒的模型</a:t>
            </a:r>
            <a:r>
              <a:rPr dirty="0"/>
              <a:t> </a:t>
            </a:r>
            <a:r>
              <a:rPr dirty="0" err="1"/>
              <a:t>Token，返回文本被读入时才成为输入。这里按</a:t>
            </a:r>
            <a:r>
              <a:rPr dirty="0"/>
              <a:t> OpenAI </a:t>
            </a:r>
            <a:r>
              <a:rPr dirty="0" err="1"/>
              <a:t>和</a:t>
            </a:r>
            <a:r>
              <a:rPr dirty="0"/>
              <a:t> Claude </a:t>
            </a:r>
            <a:r>
              <a:rPr dirty="0" err="1"/>
              <a:t>的统计口径，Thinking</a:t>
            </a:r>
            <a:r>
              <a:rPr dirty="0"/>
              <a:t> </a:t>
            </a:r>
            <a:r>
              <a:rPr dirty="0" err="1"/>
              <a:t>已含在输出里。把它作为分项看可以，但求总量时不能再加一遍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页｜真实调用统计</a:t>
            </a:r>
          </a:p>
          <a:p>
            <a:endParaRPr/>
          </a:p>
          <a:p>
            <a:r>
              <a:t>建议用时：2:00（120 秒）</a:t>
            </a:r>
          </a:p>
          <a:p>
            <a:endParaRPr/>
          </a:p>
          <a:p>
            <a:r>
              <a:t>累计进度：4:40–6:40</a:t>
            </a:r>
          </a:p>
          <a:p>
            <a:endParaRPr/>
          </a:p>
          <a:p>
            <a:r>
              <a:t>讲述词：</a:t>
            </a:r>
          </a:p>
          <a:p>
            <a:r>
              <a:rPr lang="zh-CN"/>
              <a:t>我们用真实的数据来展示</a:t>
            </a:r>
            <a:r>
              <a:t>。表里是为这份 PPT 查资料时，日志实际记录的三次连续模型调用。第一轮准备工具并读规范，第二轮查 Claude 官方示例目录，第三轮读取具体示例和文稿文档。</a:t>
            </a:r>
          </a:p>
          <a:p>
            <a:endParaRPr/>
          </a:p>
          <a:p>
            <a:r>
              <a:t>先看输入：十二万七、十五万四、十六万四左右。这些包含此前保留的对话、指令和读入的资料，不能全理解成刚刚读了这么大的文件。三轮会重复读到部分上下文，所以输入相加是四十四万五千三百八十。</a:t>
            </a:r>
          </a:p>
          <a:p>
            <a:endParaRPr/>
          </a:p>
          <a:p>
            <a:r>
              <a:t>输出拆成两列。其他输出包括工具参数等，一共八百一十四。Thinking 一共五百四十，两者相加，总输出是一千三百五十四。Thinking 约占本例输出的百分之四十，已经计入最后的四十四万六千七百三十四，不要再加一次。</a:t>
            </a:r>
          </a:p>
          <a:p>
            <a:endParaRPr/>
          </a:p>
          <a:p>
            <a:r>
              <a:t>输入里还有二十九万九千三百九十二个缓存 Token，它们仍是输入的一部分。缓存主要改变费用和延迟，不代表这些 Token 消失。最后强调，这只是长对话中的三次调用节选，不是完成整份 PPT 的账单。累计用量也不等于某一刻的上下文长度，更不能按同一个单价直接换算费用。</a:t>
            </a:r>
          </a:p>
          <a:p>
            <a:endParaRPr/>
          </a:p>
          <a:p>
            <a:r>
              <a:t>补充说明（不逐字宣读）：</a:t>
            </a:r>
          </a:p>
          <a:p>
            <a:r>
              <a:t>原始每轮 input_tokens：127479 / 153740 / 164161。output_tokens：575 / 345 / 434。reasoning_output_tokens：293 / 204 / 43。cached_input_tokens：8960 / 132864 / 157568。本页“其他输出”按 output_tokens 减 reasoning_output_tokens 计算，不能直接等同于最终可见回答。输入占总量约 99.7%，仅为本例观察，不能推广到所有 Agent。没有逐类输入 Token 遥测，因此不编造规则、历史和文件各占多少。日志是用量记录，不是付费账单。</a:t>
            </a:r>
          </a:p>
          <a:p>
            <a:endParaRPr/>
          </a:p>
          <a:p>
            <a:r>
              <a:t>资料来源（核对日期 2026-10-20）：</a:t>
            </a:r>
          </a:p>
          <a:p>
            <a:r>
              <a:t>数据来源：本次 PPT 修订会话的 token_usage_record，2026-10-20 07:50:14.223Z、07:51:52.882Z、07:52:50.892Z。仅转录数字与动作概述，不公开思维链或会话内容。</a:t>
            </a:r>
          </a:p>
          <a:p>
            <a:r>
              <a:t>https://developers.openai.com/api/docs/guides/reasoning</a:t>
            </a:r>
          </a:p>
          <a:p>
            <a:r>
              <a:t>https://developers.openai.com/api/docs/guides/token-counting</a:t>
            </a:r>
          </a:p>
          <a:p>
            <a:r>
              <a:t>https://developers.openai.com/api/docs/guides/prompt-caching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页｜省 Token 与省费用</a:t>
            </a:r>
          </a:p>
          <a:p>
            <a:endParaRPr/>
          </a:p>
          <a:p>
            <a:r>
              <a:t>建议用时：1:15（75 秒）</a:t>
            </a:r>
          </a:p>
          <a:p>
            <a:endParaRPr/>
          </a:p>
          <a:p>
            <a:r>
              <a:t>累计进度：6:40–7:55</a:t>
            </a:r>
          </a:p>
          <a:p>
            <a:endParaRPr/>
          </a:p>
          <a:p>
            <a:r>
              <a:t>讲述词：</a:t>
            </a:r>
          </a:p>
          <a:p>
            <a:r>
              <a:t>真实例子里输入很大，最先检查的就是读入范围和重复历史。不要只说“全读完，顺便重构”。右边把失败现象、相关代码、禁止顺手做的事和验收都说清楚，让 Agent 先搜索，再读相关段落，日志也只保留有关的部分。需要压缩或开新任务时，带上简短交接摘要，不要丢掉关键约束。</a:t>
            </a:r>
          </a:p>
          <a:p>
            <a:endParaRPr/>
          </a:p>
          <a:p>
            <a:r>
              <a:t>Thinking 也要匹配难度：整理格式等简单任务可以降低推理强度，困难数学和复杂调试保留必要思考，再核对质量。别为了省 Token 省掉关键测试。</a:t>
            </a:r>
            <a:r>
              <a:rPr lang="zh-CN"/>
              <a:t>最后给大家介绍</a:t>
            </a:r>
            <a:r>
              <a:rPr lang="en-US" altLang="zh-CN"/>
              <a:t>Deepseek</a:t>
            </a:r>
            <a:r>
              <a:rPr lang="zh-CN" altLang="en-US"/>
              <a:t>的特色</a:t>
            </a:r>
            <a:r>
              <a:rPr lang="en-US" altLang="zh-CN"/>
              <a:t>：</a:t>
            </a:r>
            <a:r>
              <a:rPr lang="zh-CN" altLang="en-US"/>
              <a:t>峰谷系统</a:t>
            </a:r>
            <a:r>
              <a:rPr lang="en-US" altLang="zh-CN"/>
              <a:t>。</a:t>
            </a:r>
            <a:r>
              <a:rPr lang="zh-CN" altLang="en-US"/>
              <a:t>谷时的</a:t>
            </a:r>
            <a:r>
              <a:rPr lang="en-US" altLang="zh-CN"/>
              <a:t>token</a:t>
            </a:r>
            <a:r>
              <a:rPr lang="zh-CN" altLang="en-US"/>
              <a:t>要比峰时便宜一半</a:t>
            </a:r>
            <a:r>
              <a:rPr lang="en-US" altLang="zh-CN"/>
              <a:t>。</a:t>
            </a:r>
            <a:r>
              <a:t>“峰时学习，谷时 vibe”。这属于省费用，Token 数量不随时段自动减少，具体价格以官方当日规则为准。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页｜Memory 的来源</a:t>
            </a:r>
          </a:p>
          <a:p>
            <a:endParaRPr/>
          </a:p>
          <a:p>
            <a:r>
              <a:t>建议用时：1:05（65 秒）</a:t>
            </a:r>
          </a:p>
          <a:p>
            <a:endParaRPr/>
          </a:p>
          <a:p>
            <a:r>
              <a:t>累计进度：7:55–9:00</a:t>
            </a:r>
          </a:p>
          <a:p>
            <a:endParaRPr/>
          </a:p>
          <a:p>
            <a:r>
              <a:t>讲述词：</a:t>
            </a:r>
          </a:p>
          <a:p>
            <a:r>
              <a:t>第二个问题是记忆。先分清三个来源。第一，当前上下文，也就是这一轮还看得到的聊天、文件和工具结果，过长时可能换成摘要。第二，跨会话记忆，例如保存的个人偏好，需要时检索进来。第三，持久化指令，例如自定义设置和项目里的 AGENTS.md，它属于规则，不一定是系统自动学来的记忆。</a:t>
            </a:r>
          </a:p>
          <a:p>
            <a:endParaRPr/>
          </a:p>
          <a:p>
            <a:r>
              <a:t>常见做法是保存文本，然后在需要时放回上下文，并不是你说一句话就训练一次模型。不同产品是否自动保存、如何关闭都不同。因此，开新聊天不一定等于清空记忆，项目规则和个人设置还可能继续生效。它们读入时同样占 Token。</a:t>
            </a:r>
          </a:p>
          <a:p>
            <a:endParaRPr/>
          </a:p>
          <a:p>
            <a:r>
              <a:t>补充说明（不逐字宣读）：</a:t>
            </a:r>
          </a:p>
          <a:p>
            <a:r>
              <a:t>Codex 的本地记忆与 ChatGPT 的网页记忆分开管理，不能把某个平台的默认行为推广到所有产品。</a:t>
            </a:r>
          </a:p>
          <a:p>
            <a:endParaRPr/>
          </a:p>
          <a:p>
            <a:r>
              <a:t>资料来源（核对日期 2026-10-20）：</a:t>
            </a:r>
          </a:p>
          <a:p>
            <a:r>
              <a:t>https://developers.openai.com/codex/memories</a:t>
            </a:r>
          </a:p>
          <a:p>
            <a:r>
              <a:t>https://opencode.ai/docs/rules/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页｜数学深度受限的排查</a:t>
            </a:r>
          </a:p>
          <a:p>
            <a:endParaRPr/>
          </a:p>
          <a:p>
            <a:r>
              <a:t>建议用时：1:15（75 秒）</a:t>
            </a:r>
          </a:p>
          <a:p>
            <a:endParaRPr/>
          </a:p>
          <a:p>
            <a:r>
              <a:t>累计进度：9:00–10:15</a:t>
            </a:r>
          </a:p>
          <a:p>
            <a:endParaRPr/>
          </a:p>
          <a:p>
            <a:r>
              <a:t>讲述词：</a:t>
            </a:r>
          </a:p>
          <a:p>
            <a:r>
              <a:t>同学说，Agent 总觉得自己只该学大一内容，不愿讨论更难的问题。年级记忆确实是一种可能，但只凭现象不能认定原因。也可能是旧提示要求基础解释，或者模型误判目标、能力不足。</a:t>
            </a:r>
          </a:p>
          <a:p>
            <a:endParaRPr/>
          </a:p>
          <a:p>
            <a:r>
              <a:t>最省事的第一步是直接说明本次已有知识、目标深度和严谨要求。右边这段就可以照着改：我掌握了什么，这次要证明哪个定理，每个假设在哪里使用，缺前置知识就补充，不要仅凭年级降级。</a:t>
            </a:r>
          </a:p>
          <a:p>
            <a:endParaRPr/>
          </a:p>
          <a:p>
            <a:r>
              <a:t>如果仍然受限，再去设置里检查记忆、自定义指令和项目规则，改正不准确限制。支持关闭记忆的产品，可以关闭后开新聊对照。只开新聊不一定够。没有记忆也失败，就要检查题目和模型能力，证明过程仍需自己核对。</a:t>
            </a:r>
          </a:p>
          <a:p>
            <a:endParaRPr/>
          </a:p>
          <a:p>
            <a:r>
              <a:t>补充说明（不逐字宣读）：</a:t>
            </a:r>
          </a:p>
          <a:p>
            <a:r>
              <a:t>不要只根据模型对“你记得什么”的自述作完整审计。一般数学深度不足也不能直接称为安全策略拒绝。</a:t>
            </a:r>
          </a:p>
          <a:p>
            <a:endParaRPr/>
          </a:p>
          <a:p>
            <a:r>
              <a:t>资料来源（核对日期 2026-10-20）：</a:t>
            </a:r>
          </a:p>
          <a:p>
            <a:r>
              <a:t>https://developers.openai.com/codex/memories</a:t>
            </a:r>
          </a:p>
          <a:p>
            <a:r>
              <a:t>https://opencode.ai/docs/rules/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页｜命令是否批准</a:t>
            </a:r>
          </a:p>
          <a:p>
            <a:endParaRPr/>
          </a:p>
          <a:p>
            <a:r>
              <a:t>建议用时：1:35（95 秒）</a:t>
            </a:r>
          </a:p>
          <a:p>
            <a:endParaRPr/>
          </a:p>
          <a:p>
            <a:r>
              <a:t>累计进度：10:15–11:50</a:t>
            </a:r>
          </a:p>
          <a:p>
            <a:endParaRPr/>
          </a:p>
          <a:p>
            <a:r>
              <a:t>讲述词：</a:t>
            </a:r>
          </a:p>
          <a:p>
            <a:r>
              <a:t>第三个问题：Agent 给一条命令，我该不该批准？先看完整命令、工作目录和目标，不能只看它的解释。</a:t>
            </a:r>
          </a:p>
          <a:p>
            <a:endParaRPr/>
          </a:p>
          <a:p>
            <a:r>
              <a:t>git status 通常只是查看仓库状态，风险较低。npm install 会联网，还可能运行依赖包的安装脚本，所以不能把安装当成纯下载。rm 递归删除目录时先别批，先确认精确路径和备份，能用可恢复方式就优先用。最后这个 curl 后面接管道交给 sh，会把下载内容立刻执行，必须核对来源和脚本。这里只展示，课堂不执行。</a:t>
            </a:r>
          </a:p>
          <a:p>
            <a:endParaRPr/>
          </a:p>
          <a:p>
            <a:r>
              <a:t>再问自己几个具体问题：它会读哪些文件、改哪些文件、把内容传到哪里，失败后能不能恢复？看不懂就先拒绝或暂停，请 Agent 解释并缩小范围。测试命令也会执行项目代码，陌生项目的测试并非天然安全。</a:t>
            </a:r>
          </a:p>
          <a:p>
            <a:endParaRPr/>
          </a:p>
          <a:p>
            <a:r>
              <a:t>补充说明（不逐字宣读）：</a:t>
            </a:r>
          </a:p>
          <a:p>
            <a:r>
              <a:t>不要因为命令以 git、curl、pytest 等常见名称开头就自动批准。检查管道、重定向、拼接命令和变量展开后的目标。</a:t>
            </a:r>
          </a:p>
          <a:p>
            <a:endParaRPr/>
          </a:p>
          <a:p>
            <a:r>
              <a:t>资料来源（核对日期 2026-10-20）：</a:t>
            </a:r>
          </a:p>
          <a:p>
            <a:r>
              <a:t>https://developers.openai.com/codex/agent-approvals-security</a:t>
            </a:r>
          </a:p>
          <a:p>
            <a:r>
              <a:t>https://opencode.ai/docs/permissions/</a:t>
            </a:r>
          </a:p>
          <a:p>
            <a:r>
              <a:t>https://docs.npmjs.com/cli/using-npm/scripts/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14 页｜沙箱、审批与自动批准</a:t>
            </a:r>
          </a:p>
          <a:p>
            <a:endParaRPr/>
          </a:p>
          <a:p>
            <a:r>
              <a:t>建议用时：1:40（100 秒）</a:t>
            </a:r>
          </a:p>
          <a:p>
            <a:endParaRPr/>
          </a:p>
          <a:p>
            <a:r>
              <a:t>累计进度：11:50–13:30</a:t>
            </a:r>
          </a:p>
          <a:p>
            <a:endParaRPr/>
          </a:p>
          <a:p>
            <a:r>
              <a:t>讲述词：</a:t>
            </a:r>
          </a:p>
          <a:p>
            <a:r>
              <a:t>最后把三个容易混淆的词分开。沙箱是技术边界：哪些路径能读写，网络能不能访问，能不能提权。你在软件里打开一个文件夹，并不自动证明系统已经把其他文件隔离。</a:t>
            </a:r>
          </a:p>
          <a:p>
            <a:endParaRPr/>
          </a:p>
          <a:p>
            <a:r>
              <a:t>审批是执行前要不要问你。能只批这一次，就不要顺手选择以后都允许，尤其是范围很宽的命令。Auto-approve 则是自动处理本来需要确认的请求，各平台具体行为不同。自动批准没有给文件增加保护，沙箱里允许的危险动作仍可能发生。</a:t>
            </a:r>
          </a:p>
          <a:p>
            <a:endParaRPr/>
          </a:p>
          <a:p>
            <a:r>
              <a:t>对新手最实用的组合是：在不含秘密的练习副本里工作，保留可恢复备份，只给必要权限，先保留审批。陌生代码优先放到隔离环境，还要检查宿主目录挂载和网络，别把密钥带进去。“不要删除我的文件”只是文字要求，真正限制访问需要权限机制。Git 能帮忙恢复记录过的内容，但不能替代所有文件的备份。</a:t>
            </a:r>
          </a:p>
          <a:p>
            <a:endParaRPr/>
          </a:p>
          <a:p>
            <a:r>
              <a:t>补充说明（不逐字宣读）：</a:t>
            </a:r>
          </a:p>
          <a:p>
            <a:r>
              <a:t>平台中的 allow/ask/deny 不必然等于操作系统沙箱。自动模式的实际限制需按产品版本查阅。最小权限需要同时核对读、写、执行和联网范围。</a:t>
            </a:r>
          </a:p>
          <a:p>
            <a:endParaRPr/>
          </a:p>
          <a:p>
            <a:r>
              <a:t>资料来源（核对日期 2026-10-20）：</a:t>
            </a:r>
          </a:p>
          <a:p>
            <a:r>
              <a:t>https://developers.openai.com/codex/agent-approvals-security</a:t>
            </a:r>
          </a:p>
          <a:p>
            <a:r>
              <a:t>https://opencode.ai/docs/permissions/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15 页｜收束与课后任务</a:t>
            </a:r>
          </a:p>
          <a:p>
            <a:endParaRPr/>
          </a:p>
          <a:p>
            <a:r>
              <a:t>建议用时：1:00（60 秒）</a:t>
            </a:r>
          </a:p>
          <a:p>
            <a:endParaRPr/>
          </a:p>
          <a:p>
            <a:r>
              <a:t>累计进度：13:30–14:30</a:t>
            </a:r>
          </a:p>
          <a:p>
            <a:endParaRPr/>
          </a:p>
          <a:p>
            <a:r>
              <a:t>讲述词：</a:t>
            </a:r>
          </a:p>
          <a:p>
            <a:r>
              <a:t>最后用这张任务单把今天串起来。目标写清最终交付，材料只给相关文件或已有知识，约束写明能改什么，验收说明怎样算完成。这样既能减少无效读取和返工，也能纠正讨论深度。开发时，提示词之外还要设置实际权限。</a:t>
            </a:r>
          </a:p>
          <a:p>
            <a:endParaRPr/>
          </a:p>
          <a:p>
            <a:r>
              <a:t>课后可以在一个练习副本里修小 Bug，看一次用量统计，检查哪些记忆或规则生效，并记录一次批准或拒绝命令的理由。记住课程要求优先，不提交自己解释不了的作业，数学看推导、代码看测试、资料看原文。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8839200" y="914400"/>
            <a:ext cx="2476500" cy="2476500"/>
          </a:xfrm>
          <a:prstGeom prst="ellipse">
            <a:avLst/>
          </a:prstGeom>
          <a:solidFill>
            <a:srgbClr val="D6EF62"/>
          </a:soli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9620250" y="2381250"/>
            <a:ext cx="1714500" cy="1714500"/>
          </a:xfrm>
          <a:prstGeom prst="ellipse">
            <a:avLst/>
          </a:prstGeom>
          <a:solidFill>
            <a:srgbClr val="FFE4DB"/>
          </a:solidFill>
          <a:ln w="0">
            <a:noFill/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1352550"/>
            <a:ext cx="1428750" cy="1428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8875" y="2762250"/>
            <a:ext cx="781050" cy="7810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66750" y="1200150"/>
            <a:ext cx="723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How to Use AI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3431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用得更明白：Token、Memory 与权限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562350"/>
            <a:ext cx="638175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3867150"/>
            <a:ext cx="714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This PPT is 95% made by Codex (GPT-6.1 Sol)</a:t>
            </a:r>
          </a:p>
          <a:p>
            <a:pPr algn="l">
              <a:buNone/>
              <a:defRPr sz="15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800" b="1">
              <a:solidFill>
                <a:srgbClr val="2FB7A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and prompted by TA Jiaru Qian</a:t>
            </a:r>
          </a:p>
          <a:p>
            <a:pPr algn="l">
              <a:buNone/>
              <a:defRPr sz="15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800" b="1">
              <a:solidFill>
                <a:srgbClr val="2FB7A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8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800" b="1">
              <a:solidFill>
                <a:srgbClr val="2FB7A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75335" y="5368925"/>
            <a:ext cx="876300" cy="323850"/>
          </a:xfrm>
          <a:prstGeom prst="roundRect">
            <a:avLst>
              <a:gd name="adj" fmla="val 35294"/>
            </a:avLst>
          </a:prstGeom>
          <a:solidFill>
            <a:srgbClr val="D6EF6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0585" y="54165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用量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804035" y="5368925"/>
            <a:ext cx="876300" cy="323850"/>
          </a:xfrm>
          <a:prstGeom prst="roundRect">
            <a:avLst>
              <a:gd name="adj" fmla="val 35294"/>
            </a:avLst>
          </a:prstGeom>
          <a:solidFill>
            <a:srgbClr val="DDF4E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899285" y="54165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记忆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832735" y="5368925"/>
            <a:ext cx="876300" cy="323850"/>
          </a:xfrm>
          <a:prstGeom prst="roundRect">
            <a:avLst>
              <a:gd name="adj" fmla="val 35294"/>
            </a:avLst>
          </a:prstGeom>
          <a:solidFill>
            <a:srgbClr val="FFE4D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27985" y="54165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权限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589915" y="515810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LLM、Harness 与 Agent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000250"/>
            <a:ext cx="2971800" cy="2952750"/>
          </a:xfrm>
          <a:prstGeom prst="roundRect">
            <a:avLst>
              <a:gd name="adj" fmla="val 6452"/>
            </a:avLst>
          </a:prstGeom>
          <a:solidFill>
            <a:srgbClr val="E5E9FF"/>
          </a:solidFill>
          <a:ln w="19050">
            <a:solidFill>
              <a:srgbClr val="102231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350" y="2286000"/>
            <a:ext cx="571500" cy="571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1638300" y="22669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LLM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105150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会理解与生成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638550"/>
            <a:ext cx="2362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决定下一步做什么</a:t>
            </a:r>
          </a:p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生成回答或工具调用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610100" y="2000250"/>
            <a:ext cx="2971800" cy="2952750"/>
          </a:xfrm>
          <a:prstGeom prst="roundRect">
            <a:avLst>
              <a:gd name="adj" fmla="val 6452"/>
            </a:avLst>
          </a:prstGeom>
          <a:solidFill>
            <a:srgbClr val="FFE4DB"/>
          </a:solidFill>
          <a:ln w="19050">
            <a:solidFill>
              <a:srgbClr val="102231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5850" y="2286000"/>
            <a:ext cx="571500" cy="5715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5638800" y="22669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Harness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914900" y="3105150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提供工作台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14900" y="3638550"/>
            <a:ext cx="2362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接工具、传回执行结果</a:t>
            </a:r>
          </a:p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管理上下文与权限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610600" y="2000250"/>
            <a:ext cx="2971800" cy="2952750"/>
          </a:xfrm>
          <a:prstGeom prst="roundRect">
            <a:avLst>
              <a:gd name="adj" fmla="val 6452"/>
            </a:avLst>
          </a:prstGeom>
          <a:solidFill>
            <a:srgbClr val="DDF4EF"/>
          </a:solidFill>
          <a:ln w="19050">
            <a:solidFill>
              <a:srgbClr val="102231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6350" y="2286000"/>
            <a:ext cx="571500" cy="5715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9639300" y="22669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15400" y="3105150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围绕目标循环行动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15400" y="3638550"/>
            <a:ext cx="2362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调用工具、观察结果</a:t>
            </a:r>
          </a:p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再决定下一步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810000" y="308610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+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3086100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14350" y="33337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02+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模型与 Harness 可以分开选择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73355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对于一个具体任务的准确率</a:t>
            </a:r>
            <a:r>
              <a:rPr lang="en-US" altLang="zh-CN"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704850" y="2324100"/>
          <a:ext cx="10744200" cy="25146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模型</a:t>
                      </a:r>
                      <a:r>
                        <a:rPr lang="zh-CN"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⬇️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 / Harness</a:t>
                      </a:r>
                      <a:r>
                        <a:rPr lang="zh-CN"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➡️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Claude Code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Codex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OpenCode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GPT-5.6 Sol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E5E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71.6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69.8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71.0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DeepSeek-V4-Pro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E5E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68.7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69.5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69.0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Kimi-K3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E5E9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60.0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65.1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69.5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04850" y="510540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沿一行看：同一模型，换工作台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19850" y="510540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沿一列看：同一工作台，换模型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56578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分数属于“模型 + Harness”的组合。实际可接哪些模型，要看平台支持。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02-A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 Harness：第一次体验 Agent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991600" y="876300"/>
            <a:ext cx="2133600" cy="323850"/>
          </a:xfrm>
          <a:prstGeom prst="roundRect">
            <a:avLst>
              <a:gd name="adj" fmla="val 35294"/>
            </a:avLst>
          </a:prstGeom>
          <a:solidFill>
            <a:srgbClr val="DDF4E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86850" y="923925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国内网络优先尝试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04850" y="1809750"/>
            <a:ext cx="1123950" cy="112395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076450"/>
            <a:ext cx="1123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DS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00300" y="1790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开始方法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00300" y="2343150"/>
            <a:ext cx="4857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① </a:t>
            </a:r>
            <a:r>
              <a:rPr sz="1575" b="1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最省事：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</a:t>
            </a:r>
            <a:r>
              <a:rPr sz="157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deepseek.com</a:t>
            </a:r>
            <a:r>
              <a:rPr sz="157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/harness 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下载桌面版</a:t>
            </a:r>
            <a:endParaRPr sz="1575" b="0" dirty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② </a:t>
            </a:r>
            <a:r>
              <a:rPr sz="1575" b="1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</a:t>
            </a:r>
            <a:r>
              <a:rPr sz="1575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Web </a:t>
            </a:r>
            <a:r>
              <a:rPr sz="1575" b="1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UI：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先装</a:t>
            </a:r>
            <a:r>
              <a:rPr sz="157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Node.js，再运行</a:t>
            </a:r>
            <a:endParaRPr sz="1575" b="0" dirty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00300" y="2867025"/>
            <a:ext cx="485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③ </a:t>
            </a:r>
            <a:r>
              <a:rPr sz="1575" b="1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设置：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Models</a:t>
            </a:r>
            <a:r>
              <a:rPr sz="157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→ 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添加</a:t>
            </a:r>
            <a:r>
              <a:rPr sz="157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DeepSeek API Key</a:t>
            </a:r>
          </a:p>
          <a:p>
            <a: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④ </a:t>
            </a:r>
            <a:r>
              <a:rPr sz="1575" b="1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第一次：</a:t>
            </a:r>
            <a:r>
              <a:rPr sz="157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选择一个空练习文件夹，再描述任务</a:t>
            </a:r>
            <a:endParaRPr sz="1575" b="0" dirty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53350" y="17907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优势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753350" y="235267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53350" y="23336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15300" y="23241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开源、插件化；可处理多类文件</a:t>
            </a: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753350" y="294322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753350" y="29241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291465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能看到执行细节，也可配置审批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753350" y="353377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753350" y="3514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15300" y="35052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插件与自动化适合日常工作流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53350" y="42672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注意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53350" y="47434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开发者预览，更新快；模型 API 可能另计费。它可执行命令、访问文件——只给最小权限，先备份。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53350" y="59436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官方入口：deepseek.com/harness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02-B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OpenCode：想学“模型可替换”的代码 Agent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9105900" y="876300"/>
            <a:ext cx="2000250" cy="323850"/>
          </a:xfrm>
          <a:prstGeom prst="roundRect">
            <a:avLst>
              <a:gd name="adj" fmla="val 35294"/>
            </a:avLst>
          </a:prstGeom>
          <a:solidFill>
            <a:srgbClr val="E5E9F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201150" y="9239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可接 DeepSeek API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04850" y="1809750"/>
            <a:ext cx="1123950" cy="1123950"/>
          </a:xfrm>
          <a:prstGeom prst="ellipse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076450"/>
            <a:ext cx="1123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OC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181350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3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 dirty="0" err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适合</a:t>
            </a:r>
            <a:endParaRPr sz="1350" b="1" dirty="0">
              <a:solidFill>
                <a:srgbClr val="5B7C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3581400"/>
            <a:ext cx="1524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4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希望自由切换</a:t>
            </a:r>
            <a:r>
              <a:rPr lang="zh-CN" altLang="en-US" sz="1425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</a:t>
            </a:r>
            <a:r>
              <a:rPr sz="1425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的同学</a:t>
            </a:r>
            <a:endParaRPr sz="1425" b="0" dirty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00300" y="1790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开始方法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00300" y="23431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① 安装：</a:t>
            </a:r>
            <a:r>
              <a:rPr sz="15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桌面版，或使用 npm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00300" y="2657475"/>
            <a:ext cx="4857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 lnSpcReduction="10000"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② 接模型：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 /connect，选择 DeepSeek 并填 API Key</a:t>
            </a:r>
          </a:p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③ 选模型：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/models；需要时 /init 生成项目说明</a:t>
            </a:r>
          </a:p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④ 工作方式：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Tab 在 Plan / Build 间切换；/undo 可撤销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53350" y="17907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优势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753350" y="2352675"/>
            <a:ext cx="228600" cy="228600"/>
          </a:xfrm>
          <a:prstGeom prst="ellipse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53350" y="23336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15300" y="23241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开源；终端、桌面、IDE 多入口</a:t>
            </a: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753350" y="2943225"/>
            <a:ext cx="228600" cy="228600"/>
          </a:xfrm>
          <a:prstGeom prst="ellipse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753350" y="29241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291465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可切换 Provider 与模型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753350" y="3533775"/>
            <a:ext cx="228600" cy="228600"/>
          </a:xfrm>
          <a:prstGeom prst="ellipse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753350" y="3514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15300" y="35052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Plan / Build、撤销等开发流程清晰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53350" y="42672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注意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53350" y="47434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终端和 API Key 有学习成本；效果与所选模型有关，模型额度通常单独计算。Windows / Mac 初学者优先桌面版。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53350" y="59436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官方文档：opencode.ai/docs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02-C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Codex：完整的软件开发与电脑工作流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420100" y="876300"/>
            <a:ext cx="2705100" cy="323850"/>
          </a:xfrm>
          <a:prstGeom prst="roundRect">
            <a:avLst>
              <a:gd name="adj" fmla="val 35294"/>
            </a:avLst>
          </a:prstGeom>
          <a:solidFill>
            <a:srgbClr val="FFE4D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923925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需满足账号 / 地区 / 网络条件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04850" y="1809750"/>
            <a:ext cx="1123950" cy="1123950"/>
          </a:xfrm>
          <a:prstGeom prst="ellipse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076450"/>
            <a:ext cx="1123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8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CX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00300" y="17907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开始方法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00300" y="2343150"/>
            <a:ext cx="4857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① 桌面端：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按官方入口下载 → 登录 ChatGPT → 新建 Codex 对话</a:t>
            </a:r>
          </a:p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② 打开项目：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选择一个文件夹，先说明目标和验收标准</a:t>
            </a:r>
          </a:p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③ CLI / IDE：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按官方文档安装；在项目目录启动</a:t>
            </a:r>
          </a:p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④ 权限：</a:t>
            </a: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先用受限模式；明确哪些命令可运行、哪些文件可改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09850" y="4781550"/>
            <a:ext cx="4438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defPPr>
            <a:lvl1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1pPr>
            <a:lvl2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2pPr>
            <a:lvl3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3pPr>
            <a:lvl4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4pPr>
            <a:lvl5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5pPr>
            <a:lvl6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6pPr>
            <a:lvl7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7pPr>
            <a:lvl8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8pPr>
            <a:lvl9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9pPr>
          </a:lstStyle>
          <a:p>
            <a: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任务示例：</a:t>
            </a:r>
          </a:p>
          <a:p>
            <a: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修复这个测试失败；先定位原因，</a:t>
            </a:r>
          </a:p>
          <a:p>
            <a:pPr algn="l">
              <a:buNone/>
              <a:def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275" b="0">
                <a:solidFill>
                  <a:srgbClr val="EAF4F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给出计划，修改后运行测试并总结。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17907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优势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753350" y="235267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753350" y="23336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15300" y="23241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读取/编辑文件，运行命令与测试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753350" y="294322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53350" y="29241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15300" y="291465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适合调试、重构、代码审查和长任务</a:t>
            </a: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753350" y="3533775"/>
            <a:ext cx="228600" cy="228600"/>
          </a:xfrm>
          <a:prstGeom prst="ellipse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53350" y="3514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✓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115300" y="350520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桌面、CLI、IDE 与云端入口逐步衔接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753350" y="426720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注意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53350" y="474345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可用性、套餐和额度会变化；只按官方支持条件使用。不要为了装</a:t>
            </a:r>
            <a:r>
              <a:rPr lang="zh-CN" altLang="en-US" sz="1500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</a:t>
            </a:r>
            <a:r>
              <a:rPr lang="en-US" altLang="zh-CN" sz="1500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Codex</a:t>
            </a:r>
            <a:r>
              <a:rPr lang="zh-CN" altLang="en-US" sz="1500" b="0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</a:t>
            </a:r>
            <a:r>
              <a:rPr sz="1500" b="0" dirty="0" err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而绕过地区或账号规则</a:t>
            </a:r>
            <a:r>
              <a:rPr lang="zh-CN" altLang="en-US" dirty="0"/>
              <a:t>。</a:t>
            </a:r>
            <a:endParaRPr sz="1500" b="0" dirty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53350" y="5734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官方文档：developers.openai.com/codex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5448300"/>
            <a:ext cx="634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 dirty="0" err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补充：Claude</a:t>
            </a:r>
            <a:r>
              <a:rPr sz="1575" b="0" dirty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Code </a:t>
            </a:r>
            <a:r>
              <a:rPr sz="1575" b="0" dirty="0" err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也很常见，使用前请核对官方地区与账号政策</a:t>
            </a:r>
            <a:r>
              <a:rPr sz="1575" b="0" dirty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sz="1800" b="0" dirty="0">
              <a:solidFill>
                <a:srgbClr val="52636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日常场景与平台选择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2050" y="1943100"/>
            <a:ext cx="800100" cy="8001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47700" y="30099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日程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3524250"/>
            <a:ext cx="952500" cy="28575"/>
          </a:xfrm>
          <a:prstGeom prst="rect">
            <a:avLst/>
          </a:prstGeom>
          <a:solidFill>
            <a:srgbClr val="FF7657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3829050"/>
            <a:ext cx="1828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从课程表生成 .ics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检查日期、时区、重复规则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确认后再导入日历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9100" y="1943100"/>
            <a:ext cx="800100" cy="8001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3714750" y="30099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PPT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152900" y="3524250"/>
            <a:ext cx="952500" cy="28575"/>
          </a:xfrm>
          <a:prstGeom prst="rect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76320" y="3857625"/>
            <a:ext cx="238061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整理结构、找来源、做讲稿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生成可编辑稿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逐页检查溢出与引用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96150" y="1943100"/>
            <a:ext cx="800100" cy="8001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781800" y="30099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文件整理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19950" y="3524250"/>
            <a:ext cx="952500" cy="28575"/>
          </a:xfrm>
          <a:prstGeom prst="rect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81800" y="3829050"/>
            <a:ext cx="1828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按规则复制/重命名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先预览变更清单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保留原件、支持回滚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3200" y="1943100"/>
            <a:ext cx="800100" cy="8001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9848850" y="30099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小工具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87000" y="3524250"/>
            <a:ext cx="952500" cy="28575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696450" y="3829050"/>
            <a:ext cx="204216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学习计时器、DDL 看板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本地网页或小程序</a:t>
            </a:r>
          </a:p>
          <a:p>
            <a:pPr algn="ctr">
              <a:buNone/>
              <a:def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写验收标准再开工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4850" y="505777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 dirty="0" err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数学讨论通常用对话即可</a:t>
            </a:r>
            <a:r>
              <a:rPr sz="1575" b="0" dirty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Q1: </a:t>
            </a:r>
            <a:r>
              <a:rPr lang="zh-CN" altLang="en-US" sz="3000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怎么省 </a:t>
            </a:r>
            <a:r>
              <a:rPr sz="3000" b="1" dirty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Token？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907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每一轮输入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371725"/>
            <a:ext cx="5429250" cy="1962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系统规则与工具说明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当前问题 + 仍保留的对话历史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读取的文件、报错、搜索结果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检索到的记忆与项目指令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953250" y="17907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每一轮输出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953250" y="2371725"/>
            <a:ext cx="44767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Thinking / 推理 Token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工具名称、调用参数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生成的代码、解释、最终回答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24600" y="1781175"/>
            <a:ext cx="19050" cy="2628900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4552950"/>
            <a:ext cx="157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工具执行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14625" y="4552950"/>
            <a:ext cx="857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命令运行本身通常不计模型 Token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返回的文本在下一轮读入时，会计为输入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5619750"/>
            <a:ext cx="10858500" cy="609600"/>
          </a:xfrm>
          <a:prstGeom prst="roundRect">
            <a:avLst>
              <a:gd name="adj" fmla="val 25000"/>
            </a:avLst>
          </a:prstGeom>
          <a:solidFill>
            <a:srgbClr val="102231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5781675"/>
            <a:ext cx="1040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一次任务的总用量 = 各轮输入 Token 之和 + 各轮输出 Token 之和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3781425"/>
            <a:ext cx="4524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Thinking 已包含在输出统计中，勿重复相加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514350" y="33337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真实轨迹：为这份 PPT 查资料的 3 次调用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7145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同一个改稿任务，Agent 每次读上下文后，再决定调用什么工具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704850" y="2324100"/>
          <a:ext cx="10744200" cy="2714625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模型调用 / 下一步动作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输入（含缓存）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其他输出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Thinking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本轮总计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>
                      <a:solidFill>
                        <a:srgbClr val="DFE4E2"/>
                      </a:solidFill>
                      <a:prstDash val="soli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1022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  读取改稿规范与工具信息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127479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282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293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128054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  查询 Claude 官方示例目录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153740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141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204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154085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  读取示例和文稿编辑文档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164161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391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43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164595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合计</a:t>
                      </a:r>
                    </a:p>
                  </a:txBody>
                  <a:tcPr marL="114300" marR="114300" marT="114300" marB="114300" anchor="ctr">
                    <a:lnL w="9525">
                      <a:solidFill>
                        <a:srgbClr val="DFE4E2"/>
                      </a:solidFill>
                      <a:prstDash val="soli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DD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445380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DD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814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DD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540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DD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102231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446734</a:t>
                      </a: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FE4E2"/>
                      </a:solidFill>
                      <a:prstDash val="solid"/>
                    </a:lnR>
                    <a:lnT w="9525" cap="flat" cmpd="sng" algn="ctr">
                      <a:solidFill>
                        <a:srgbClr val="DF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E4E2"/>
                      </a:solidFill>
                      <a:prstDash val="solid"/>
                    </a:lnB>
                    <a:solidFill>
                      <a:srgbClr val="DD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04850" y="5343525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总输出 1,354 = 其他输出 814 + Thinking 540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5829300"/>
            <a:ext cx="10744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输入中的 299,392 缓存 Token 已含在 445,380 内，不要再加一次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6229350"/>
            <a:ext cx="10744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来源：本次改稿日志，2026-10-20。仅为 3 次调用的节选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28700" y="33337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省用量与省费用，分开看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省 Token：减少无关输入和无效返工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8002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容易浪费的要求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400300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“把整个项目都读完，帮我修好，</a:t>
            </a:r>
          </a:p>
          <a:p>
            <a:pPr algn="l">
              <a:buNone/>
              <a:def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顺便重构一下。”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330073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全量文件和日志挤进上下文</a:t>
            </a:r>
          </a:p>
          <a:p>
            <a:pPr algn="l">
              <a:buNone/>
              <a:def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目标模糊，反复修改与测试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790700"/>
            <a:ext cx="19050" cy="3143250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00850" y="180022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更聚焦的任务单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00850" y="2400300"/>
            <a:ext cx="4667250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修复刷新后丢数据。先搜索 localStorage，</a:t>
            </a:r>
          </a:p>
          <a:p>
            <a: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只读相关代码与测试。</a:t>
            </a:r>
          </a:p>
          <a:p>
            <a: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保持界面不变，不重构、不安装依赖。</a:t>
            </a:r>
          </a:p>
          <a:p>
            <a:pPr algn="l">
              <a:buNone/>
              <a:def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运行相关测试，只回传失败片段和结论。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5960" y="414909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387C2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387C2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387C2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适时压缩或另开任务，带上简短交接摘要。</a:t>
            </a:r>
            <a:endParaRPr sz="1725" b="0">
              <a:solidFill>
                <a:schemeClr val="accent6">
                  <a:lumMod val="75000"/>
                </a:schemeClr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650" b="0">
                <a:solidFill>
                  <a:srgbClr val="387C2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387C2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简单任务可降低推理强度，复杂数学保留必要 Thinking。</a:t>
            </a:r>
            <a:endParaRPr sz="1725" b="0">
              <a:solidFill>
                <a:schemeClr val="accent6">
                  <a:lumMod val="75000"/>
                </a:schemeClr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3570" y="5229225"/>
            <a:ext cx="720026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 dirty="0" err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或者</a:t>
            </a:r>
            <a:r>
              <a:rPr sz="2100" b="1" dirty="0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...  </a:t>
            </a:r>
            <a:r>
              <a:rPr sz="2100" b="1" dirty="0" err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峰时学习，谷时</a:t>
            </a:r>
            <a:r>
              <a:rPr lang="zh-CN" altLang="en-US" sz="2100" b="1" dirty="0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</a:t>
            </a:r>
            <a:r>
              <a:rPr sz="2100" b="1" dirty="0" err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vibe（DeepSeek，省费用</a:t>
            </a:r>
            <a:r>
              <a:rPr sz="2100" b="1" dirty="0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）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5733415"/>
            <a:ext cx="9027795" cy="72898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704850" y="6572250"/>
            <a:ext cx="1076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def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分时价格以官方当日规则为准，Token 数量不会因此减少。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Q2: Agent 的“记忆”可能来自哪里？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8288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当前上下文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29000" y="182880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本轮仍保留的聊天、文件、工具结果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对话太长时，可能用压缩摘要继续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72415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9908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跨会话记忆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99085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个人偏好、历史摘要等，在需要时检索并加入上下文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chemeClr val="accent6">
                    <a:lumMod val="75000"/>
                  </a:schemeClr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是否自动保存、是否默认开启</a:t>
            </a: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，取决于产品，个人可以调整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388620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41529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持久化指令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415290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个人设置、项目规则，例如 AGENTS.md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新建聊天后也可能继续生效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504825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3570" y="5314950"/>
            <a:ext cx="1076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35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因此：开新聊天，不一定等于“清空记忆”。记忆和指令读入时也会占用 Token。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“我是大一学生”，为什么成了数学讨论的上限？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95960" y="262953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可能的来源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321310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旧聊天 / 记忆里有年级信息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个人或项目指令要求基础解释</a:t>
            </a:r>
          </a:p>
          <a:p>
            <a:pPr algn="l">
              <a:buNone/>
              <a:def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模型误判你的目标，或能力不足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43656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排查顺序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4941570"/>
            <a:ext cx="49530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先明确本次深度，再检查记忆与指令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必要时关闭相关记忆后开新聊对照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仍受限时，换模型并验证推导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38875" y="1790700"/>
            <a:ext cx="5286375" cy="39433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5B7CFA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43675" y="2028825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一段可以直接使用的纠偏提示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43675" y="2600325"/>
            <a:ext cx="4667250" cy="2771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虽然我是大一，但本次按高阶本科水平讨论。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我已掌握线性映射、内积和特征值。</a:t>
            </a:r>
          </a:p>
          <a:p>
            <a:endParaRPr sz="1725"/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请严格陈述并证明实对称矩阵谱定理，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说明每个关键假设在哪里使用。</a:t>
            </a:r>
          </a:p>
          <a:p>
            <a:endParaRPr sz="1725"/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缺少前置知识时，请指出并补充，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不要仅因年级降低深度。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6038850"/>
            <a:ext cx="10763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在产品设置中查看、改正或删除不准确的记忆，也检查自定义指令与项目规则。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155702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问题</a:t>
            </a:r>
          </a:p>
          <a:p>
            <a: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2025" b="1">
              <a:solidFill>
                <a:srgbClr val="5B7C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23570" y="1962150"/>
            <a:ext cx="6096000" cy="380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75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agent 总是拒绝讨论更难的数学问题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Q3: Agent 给了一条命令：该点批准吗？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81175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defPPr>
            <a:lvl1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1pPr>
            <a:lvl2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2pPr>
            <a:lvl3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3pPr>
            <a:lvl4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4pPr>
            <a:lvl5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5pPr>
            <a:lvl6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6pPr>
            <a:lvl7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7pPr>
            <a:lvl8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8pPr>
            <a:lvl9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9pPr>
          </a:lstStyle>
          <a:p>
            <a: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git status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0" y="17811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通常低风险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24700" y="1781175"/>
            <a:ext cx="4343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查看当前仓库状态，仍先确认目录与完整命令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562225"/>
            <a:ext cx="107632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72415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defPPr>
            <a:lvl1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1pPr>
            <a:lvl2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2pPr>
            <a:lvl3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3pPr>
            <a:lvl4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4pPr>
            <a:lvl5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5pPr>
            <a:lvl6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6pPr>
            <a:lvl7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7pPr>
            <a:lvl8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8pPr>
            <a:lvl9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9pPr>
          </a:lstStyle>
          <a:p>
            <a: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npm install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43500" y="27241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需要核对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24700" y="2724150"/>
            <a:ext cx="4343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会联网，依赖安装脚本可能执行代码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3505200"/>
            <a:ext cx="107632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3667125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defPPr>
            <a:lvl1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1pPr>
            <a:lvl2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2pPr>
            <a:lvl3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3pPr>
            <a:lvl4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4pPr>
            <a:lvl5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5pPr>
            <a:lvl6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6pPr>
            <a:lvl7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7pPr>
            <a:lvl8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8pPr>
            <a:lvl9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9pPr>
          </a:lstStyle>
          <a:p>
            <a: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rm -rf ./data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43500" y="36671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先不批准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124700" y="3667125"/>
            <a:ext cx="4343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会递归删除目录。先列出精确目标，备份或改用可恢复方式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4448175"/>
            <a:ext cx="107632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46101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defPPr>
            <a:lvl1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1pPr>
            <a:lvl2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2pPr>
            <a:lvl3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3pPr>
            <a:lvl4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4pPr>
            <a:lvl5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5pPr>
            <a:lvl6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6pPr>
            <a:lvl7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7pPr>
            <a:lvl8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8pPr>
            <a:lvl9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lvl9pPr>
          </a:lstStyle>
          <a:p>
            <a:pPr algn="l">
              <a:buNone/>
              <a:def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875" b="1">
                <a:solidFill>
                  <a:srgbClr val="102231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curl &lt;网址&gt; | sh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43500" y="46101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1">
                <a:solidFill>
                  <a:srgbClr val="D6454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先不批准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24700" y="4610100"/>
            <a:ext cx="4343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下载后立即执行远程代码，先核对来源并检查脚本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5391150"/>
            <a:ext cx="107632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66750" y="5743575"/>
            <a:ext cx="10858500" cy="609600"/>
          </a:xfrm>
          <a:prstGeom prst="roundRect">
            <a:avLst>
              <a:gd name="adj" fmla="val 25000"/>
            </a:avLst>
          </a:prstGeom>
          <a:solidFill>
            <a:srgbClr val="102231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5350" y="5905500"/>
            <a:ext cx="1040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不理解就先拒绝或暂停：让 Agent 解释影响，并给出更小范围的替代方案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28700" y="33337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给权限前，先确认工具真正实施了什么限制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1163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沙箱、审批和 Auto-approve 管的是不同事情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8097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沙箱 / 权限隔离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29000" y="180975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技术上允许读写哪些路径、能否联网、能否提权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“只打开一个文件夹”不等于已经有强制隔离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70510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9718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审批 / Approval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97180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哪些动作执行前要问你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优先批准本次请求，慎选宽泛命令或“以后都允许”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386715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41338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Auto-approve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413385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自动处理本来需要确认的请求，具体行为依平台而定</a:t>
            </a: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自动批准不会增加隔离，也不能保证命令安全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5029200"/>
            <a:ext cx="10534650" cy="9525"/>
          </a:xfrm>
          <a:prstGeom prst="rect">
            <a:avLst/>
          </a:prstGeom>
          <a:solidFill>
            <a:srgbClr val="DFE4E2"/>
          </a:solidFill>
          <a:ln w="0">
            <a:noFill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666750" y="5524500"/>
            <a:ext cx="10858500" cy="609600"/>
          </a:xfrm>
          <a:prstGeom prst="roundRect">
            <a:avLst>
              <a:gd name="adj" fmla="val 25000"/>
            </a:avLst>
          </a:prstGeom>
          <a:solidFill>
            <a:srgbClr val="DDF4E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5686425"/>
            <a:ext cx="1040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练习目录 + 可恢复备份 + 最小权限，敏感文件与密钥留在权限范围外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Grp="1"/>
          </p:cNvSpPr>
          <p:nvPr/>
        </p:nvSpPr>
        <p:spPr>
          <a:xfrm>
            <a:off x="514350" y="3333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28700" y="33337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把省 Token、深度与权限写进任务单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685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00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一份清晰的任务单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409700"/>
            <a:ext cx="11163300" cy="1905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96215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419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3009900"/>
            <a:ext cx="2095500" cy="38100"/>
          </a:xfrm>
          <a:prstGeom prst="rect">
            <a:avLst/>
          </a:prstGeom>
          <a:solidFill>
            <a:srgbClr val="FF7657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32575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最终要交付什么？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33750" y="196215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5B7C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2419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材料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3750" y="3009900"/>
            <a:ext cx="2095500" cy="38100"/>
          </a:xfrm>
          <a:prstGeom prst="rect">
            <a:avLst/>
          </a:prstGeom>
          <a:solidFill>
            <a:srgbClr val="5B7CFA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32575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相关文件、错误样例</a:t>
            </a:r>
          </a:p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已有知识与讨论深度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19800" y="196215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19800" y="2419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约束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19800" y="3009900"/>
            <a:ext cx="2095500" cy="38100"/>
          </a:xfrm>
          <a:prstGeom prst="rect">
            <a:avLst/>
          </a:prstGeom>
          <a:solidFill>
            <a:srgbClr val="2FB7A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19800" y="32575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可改范围、是否联网</a:t>
            </a:r>
          </a:p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高风险动作先确认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05850" y="1962150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419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验收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05850" y="3009900"/>
            <a:ext cx="2095500" cy="38100"/>
          </a:xfrm>
          <a:prstGeom prst="rect">
            <a:avLst/>
          </a:prstGeom>
          <a:solidFill>
            <a:srgbClr val="10223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05850" y="32575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52636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怎样算完成？</a:t>
            </a: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7700" y="4343400"/>
            <a:ext cx="10153650" cy="15430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FE4E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45910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FB7A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示例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752600" y="4572000"/>
            <a:ext cx="87058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目标：修复 DDL 网页刷新后丢数据。材料：app.js 与失败样例。</a:t>
            </a:r>
            <a:endParaRPr sz="1650" b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约束：只处理存储逻辑，先搜索再读取相关段落，不安装依赖。</a:t>
            </a:r>
            <a:endParaRPr sz="1650" b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buNone/>
              <a:def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10223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验收：新增任务后刷新仍保留，执行相关测试并报告结果。</a:t>
            </a:r>
            <a:endParaRPr sz="1650" b="0">
              <a:solidFill>
                <a:srgbClr val="10223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33500" y="61150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buNone/>
              <a:defRPr sz="1575" b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 dirty="0" err="1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提示词说明任务边界，权限设置落实技术边界。结果仍需自己检查</a:t>
            </a:r>
            <a:r>
              <a:rPr sz="1575" b="1" dirty="0">
                <a:solidFill>
                  <a:srgbClr val="FF76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。</a:t>
            </a:r>
            <a:endParaRPr sz="1350" b="1" dirty="0">
              <a:solidFill>
                <a:srgbClr val="FF765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2193</Words>
  <Application>Microsoft Macintosh PowerPoint</Application>
  <PresentationFormat>宽屏</PresentationFormat>
  <Paragraphs>462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Aptos</vt:lpstr>
      <vt:lpstr>Menlo</vt:lpstr>
      <vt:lpstr>Hiragino Sans GB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兔</cp:lastModifiedBy>
  <cp:revision>36</cp:revision>
  <dcterms:created xsi:type="dcterms:W3CDTF">2026-10-20T15:53:30Z</dcterms:created>
  <dcterms:modified xsi:type="dcterms:W3CDTF">2026-10-22T08:07:08Z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7B9DE666743C97687A8ED76A36F1C44B_43</vt:lpwstr>
  </property>
  <property fmtid="{D5CDD505-2E9C-101B-9397-08002B2CF9AE}" pid="3" name="KSOProductBuildVer">
    <vt:lpwstr>2052-12.1.21861.21861</vt:lpwstr>
  </property>
</Properties>
</file>